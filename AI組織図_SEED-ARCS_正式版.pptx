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E9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/ ARCS グループ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AIエージェント組織図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68680" y="3749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9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五郎を統括AIとした3層のAI組織。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9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機密業務は必ず社長が最終承認する設計。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正式版　2026-06-28　作成：AI秘書 五郎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AIエージェント組織図（正式版）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961120" y="256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7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2026-06-28 確定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0" y="12070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7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並列統括（人 / AI）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080760" y="960120"/>
            <a:ext cx="0" cy="182880"/>
          </a:xfrm>
          <a:prstGeom prst="line">
            <a:avLst/>
          </a:prstGeom>
          <a:noFill/>
          <a:ln w="15875">
            <a:solidFill>
              <a:srgbClr val="C9C0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1143000"/>
            <a:ext cx="4434840" cy="0"/>
          </a:xfrm>
          <a:prstGeom prst="line">
            <a:avLst/>
          </a:prstGeom>
          <a:noFill/>
          <a:ln w="15875">
            <a:solidFill>
              <a:srgbClr val="C9C0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1143000"/>
            <a:ext cx="0" cy="182880"/>
          </a:xfrm>
          <a:prstGeom prst="line">
            <a:avLst/>
          </a:prstGeom>
          <a:noFill/>
          <a:ln w="15875">
            <a:solidFill>
              <a:srgbClr val="C9C0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1143000"/>
            <a:ext cx="0" cy="160020"/>
          </a:xfrm>
          <a:prstGeom prst="line">
            <a:avLst/>
          </a:prstGeom>
          <a:noFill/>
          <a:ln w="15875">
            <a:solidFill>
              <a:srgbClr val="C9C0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783080"/>
            <a:ext cx="0" cy="137160"/>
          </a:xfrm>
          <a:prstGeom prst="line">
            <a:avLst/>
          </a:prstGeom>
          <a:noFill/>
          <a:ln w="15875">
            <a:solidFill>
              <a:srgbClr val="C9C0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554480"/>
            <a:ext cx="2148840" cy="0"/>
          </a:xfrm>
          <a:prstGeom prst="line">
            <a:avLst/>
          </a:prstGeom>
          <a:noFill/>
          <a:ln w="12700">
            <a:solidFill>
              <a:srgbClr val="3F7A5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080760" y="1805940"/>
            <a:ext cx="0" cy="708660"/>
          </a:xfrm>
          <a:prstGeom prst="line">
            <a:avLst/>
          </a:prstGeom>
          <a:noFill/>
          <a:ln w="15875">
            <a:solidFill>
              <a:srgbClr val="C9C0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83080" y="2514600"/>
            <a:ext cx="8641080" cy="0"/>
          </a:xfrm>
          <a:prstGeom prst="line">
            <a:avLst/>
          </a:prstGeom>
          <a:noFill/>
          <a:ln w="15875">
            <a:solidFill>
              <a:srgbClr val="C9C0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2514600"/>
            <a:ext cx="0" cy="274320"/>
          </a:xfrm>
          <a:prstGeom prst="line">
            <a:avLst/>
          </a:prstGeom>
          <a:noFill/>
          <a:ln w="15875">
            <a:solidFill>
              <a:srgbClr val="C9C0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83080" y="3291840"/>
            <a:ext cx="0" cy="1837944"/>
          </a:xfrm>
          <a:prstGeom prst="line">
            <a:avLst/>
          </a:prstGeom>
          <a:noFill/>
          <a:ln w="15875">
            <a:solidFill>
              <a:srgbClr val="C9C0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514600"/>
            <a:ext cx="0" cy="274320"/>
          </a:xfrm>
          <a:prstGeom prst="line">
            <a:avLst/>
          </a:prstGeom>
          <a:noFill/>
          <a:ln w="15875">
            <a:solidFill>
              <a:srgbClr val="C9C0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3291840"/>
            <a:ext cx="0" cy="2788920"/>
          </a:xfrm>
          <a:prstGeom prst="line">
            <a:avLst/>
          </a:prstGeom>
          <a:noFill/>
          <a:ln w="15875">
            <a:solidFill>
              <a:srgbClr val="C9C0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2514600"/>
            <a:ext cx="0" cy="274320"/>
          </a:xfrm>
          <a:prstGeom prst="line">
            <a:avLst/>
          </a:prstGeom>
          <a:noFill/>
          <a:ln w="15875">
            <a:solidFill>
              <a:srgbClr val="C9C0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3291840"/>
            <a:ext cx="0" cy="1362456"/>
          </a:xfrm>
          <a:prstGeom prst="line">
            <a:avLst/>
          </a:prstGeom>
          <a:noFill/>
          <a:ln w="15875">
            <a:solidFill>
              <a:srgbClr val="C9C0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0" y="2514600"/>
            <a:ext cx="0" cy="274320"/>
          </a:xfrm>
          <a:prstGeom prst="line">
            <a:avLst/>
          </a:prstGeom>
          <a:noFill/>
          <a:ln w="15875">
            <a:solidFill>
              <a:srgbClr val="C9C0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24160" y="3291840"/>
            <a:ext cx="0" cy="1837944"/>
          </a:xfrm>
          <a:prstGeom prst="line">
            <a:avLst/>
          </a:prstGeom>
          <a:noFill/>
          <a:ln w="15875">
            <a:solidFill>
              <a:srgbClr val="C9C0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502920"/>
            <a:ext cx="2377440" cy="457200"/>
          </a:xfrm>
          <a:prstGeom prst="roundRect">
            <a:avLst>
              <a:gd name="adj" fmla="val 14000"/>
            </a:avLst>
          </a:prstGeom>
          <a:solidFill>
            <a:srgbClr val="211B16"/>
          </a:solidFill>
          <a:ln w="15875">
            <a:solidFill>
              <a:srgbClr val="211B1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502920"/>
            <a:ext cx="2377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山本 史朗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9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経営者・最終承認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892040" y="1303020"/>
            <a:ext cx="2377440" cy="502920"/>
          </a:xfrm>
          <a:prstGeom prst="roundRect">
            <a:avLst>
              <a:gd name="adj" fmla="val 12727"/>
            </a:avLst>
          </a:prstGeom>
          <a:solidFill>
            <a:srgbClr val="C0392B"/>
          </a:solidFill>
          <a:ln w="15875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1303020"/>
            <a:ext cx="2377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五郎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6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統括AI秘書・司令塔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1325880"/>
            <a:ext cx="2194560" cy="457200"/>
          </a:xfrm>
          <a:prstGeom prst="roundRect">
            <a:avLst>
              <a:gd name="adj" fmla="val 14000"/>
            </a:avLst>
          </a:prstGeom>
          <a:solidFill>
            <a:srgbClr val="574E44"/>
          </a:solidFill>
          <a:ln w="15875">
            <a:solidFill>
              <a:srgbClr val="574E4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落合 裕子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5D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統括（人）・4部署を統括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1920240"/>
            <a:ext cx="2194560" cy="384048"/>
          </a:xfrm>
          <a:prstGeom prst="roundRect">
            <a:avLst>
              <a:gd name="adj" fmla="val 16667"/>
            </a:avLst>
          </a:prstGeom>
          <a:solidFill>
            <a:srgbClr val="F8F5EF"/>
          </a:solidFill>
          <a:ln w="15875">
            <a:solidFill>
              <a:srgbClr val="574E4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1920240"/>
            <a:ext cx="21945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クララ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7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落合さん専属AI秘書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48640" y="2788920"/>
            <a:ext cx="2468880" cy="502920"/>
          </a:xfrm>
          <a:prstGeom prst="roundRect">
            <a:avLst>
              <a:gd name="adj" fmla="val 12727"/>
            </a:avLst>
          </a:prstGeom>
          <a:solidFill>
            <a:srgbClr val="B08524"/>
          </a:solidFill>
          <a:ln w="15875">
            <a:solidFill>
              <a:srgbClr val="B0852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2788920"/>
            <a:ext cx="2468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ネットショップ秘書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BF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EC事業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54380" y="3520440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F8F5EF"/>
          </a:solidFill>
          <a:ln w="15875">
            <a:solidFill>
              <a:srgbClr val="D8C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" y="3520440"/>
            <a:ext cx="2057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出荷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4380" y="3995928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F8F5EF"/>
          </a:solidFill>
          <a:ln w="15875">
            <a:solidFill>
              <a:srgbClr val="D8C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4380" y="3995928"/>
            <a:ext cx="2057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検品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4380" y="4471416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F8F5EF"/>
          </a:solidFill>
          <a:ln w="15875">
            <a:solidFill>
              <a:srgbClr val="3F7A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4380" y="4471416"/>
            <a:ext cx="2057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7A5E"/>
                </a:solidFill>
              </a:rPr>
              <a:t>● </a:t>
            </a:r>
            <a:pPr algn="ctr" indent="0" marL="0">
              <a:buNone/>
            </a:pPr>
            <a:r>
              <a:rPr lang="en-US" sz="1000" dirty="0">
                <a:solidFill>
                  <a:srgbClr val="21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発注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4380" y="4946904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F8F5EF"/>
          </a:solidFill>
          <a:ln w="15875">
            <a:solidFill>
              <a:srgbClr val="D8C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4380" y="4946904"/>
            <a:ext cx="2057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問い合わせ対応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29000" y="2788920"/>
            <a:ext cx="2468880" cy="502920"/>
          </a:xfrm>
          <a:prstGeom prst="roundRect">
            <a:avLst>
              <a:gd name="adj" fmla="val 12727"/>
            </a:avLst>
          </a:prstGeom>
          <a:solidFill>
            <a:srgbClr val="B08524"/>
          </a:solidFill>
          <a:ln w="15875">
            <a:solidFill>
              <a:srgbClr val="B0852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429000" y="2788920"/>
            <a:ext cx="2468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ペットショップ秘書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BF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店舗事業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3634740" y="3520440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F8F5EF"/>
          </a:solidFill>
          <a:ln w="15875">
            <a:solidFill>
              <a:srgbClr val="D8CF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34740" y="3520440"/>
            <a:ext cx="2057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出荷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4740" y="3995928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F8F5EF"/>
          </a:solidFill>
          <a:ln w="15875">
            <a:solidFill>
              <a:srgbClr val="D8C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4740" y="3995928"/>
            <a:ext cx="2057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納品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34740" y="4471416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F8F5EF"/>
          </a:solidFill>
          <a:ln w="15875">
            <a:solidFill>
              <a:srgbClr val="D8C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4740" y="4471416"/>
            <a:ext cx="2057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検品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34740" y="4946904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F8F5EF"/>
          </a:solidFill>
          <a:ln w="15875">
            <a:solidFill>
              <a:srgbClr val="3F7A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34740" y="4946904"/>
            <a:ext cx="2057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7A5E"/>
                </a:solidFill>
              </a:rPr>
              <a:t>● </a:t>
            </a:r>
            <a:pPr algn="ctr" indent="0" marL="0">
              <a:buNone/>
            </a:pPr>
            <a:r>
              <a:rPr lang="en-US" sz="1000" dirty="0">
                <a:solidFill>
                  <a:srgbClr val="21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発注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34740" y="5422392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F8F5EF"/>
          </a:solidFill>
          <a:ln w="15875">
            <a:solidFill>
              <a:srgbClr val="3F7A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34740" y="5422392"/>
            <a:ext cx="2057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7A5E"/>
                </a:solidFill>
              </a:rPr>
              <a:t>● </a:t>
            </a:r>
            <a:pPr algn="ctr" indent="0" marL="0">
              <a:buNone/>
            </a:pPr>
            <a:r>
              <a:rPr lang="en-US" sz="1000" dirty="0">
                <a:solidFill>
                  <a:srgbClr val="21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請求書作成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34740" y="5897880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F8F5EF"/>
          </a:solidFill>
          <a:ln w="15875">
            <a:solidFill>
              <a:srgbClr val="D8CF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34740" y="5897880"/>
            <a:ext cx="2057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問い合わせ対応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09360" y="2788920"/>
            <a:ext cx="2468880" cy="502920"/>
          </a:xfrm>
          <a:prstGeom prst="roundRect">
            <a:avLst>
              <a:gd name="adj" fmla="val 12727"/>
            </a:avLst>
          </a:prstGeom>
          <a:solidFill>
            <a:srgbClr val="B08524"/>
          </a:solidFill>
          <a:ln w="15875">
            <a:solidFill>
              <a:srgbClr val="B0852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309360" y="2788920"/>
            <a:ext cx="2468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就労支援秘書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BF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ARCS 就労支援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6515100" y="3520440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F8F5EF"/>
          </a:solidFill>
          <a:ln w="15875">
            <a:solidFill>
              <a:srgbClr val="3F7A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15100" y="3520440"/>
            <a:ext cx="2057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7A5E"/>
                </a:solidFill>
              </a:rPr>
              <a:t>● </a:t>
            </a:r>
            <a:pPr algn="ctr" indent="0" marL="0">
              <a:buNone/>
            </a:pPr>
            <a:r>
              <a:rPr lang="en-US" sz="1000" dirty="0">
                <a:solidFill>
                  <a:srgbClr val="21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請求書作成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515100" y="3995928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F8F5EF"/>
          </a:solidFill>
          <a:ln w="15875">
            <a:solidFill>
              <a:srgbClr val="D8CFB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15100" y="3995928"/>
            <a:ext cx="2057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施設必要書類作成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515100" y="4471416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F8F5EF"/>
          </a:solidFill>
          <a:ln w="15875">
            <a:solidFill>
              <a:srgbClr val="D8CFB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15100" y="4471416"/>
            <a:ext cx="2057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問い合わせ対応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189720" y="2788920"/>
            <a:ext cx="2468880" cy="502920"/>
          </a:xfrm>
          <a:prstGeom prst="roundRect">
            <a:avLst>
              <a:gd name="adj" fmla="val 12727"/>
            </a:avLst>
          </a:prstGeom>
          <a:solidFill>
            <a:srgbClr val="B08524"/>
          </a:solidFill>
          <a:ln w="15875">
            <a:solidFill>
              <a:srgbClr val="B0852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9189720" y="2788920"/>
            <a:ext cx="2468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経理総務秘書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BF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SEED・ARCS 経理総務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9395460" y="3520440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F8F5EF"/>
          </a:solidFill>
          <a:ln w="15875">
            <a:solidFill>
              <a:srgbClr val="3F7A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395460" y="3520440"/>
            <a:ext cx="2057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7A5E"/>
                </a:solidFill>
              </a:rPr>
              <a:t>● </a:t>
            </a:r>
            <a:pPr algn="ctr" indent="0" marL="0">
              <a:buNone/>
            </a:pPr>
            <a:r>
              <a:rPr lang="en-US" sz="1000" dirty="0">
                <a:solidFill>
                  <a:srgbClr val="21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給料計算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395460" y="3995928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F8F5EF"/>
          </a:solidFill>
          <a:ln w="15875">
            <a:solidFill>
              <a:srgbClr val="3F7A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395460" y="3995928"/>
            <a:ext cx="2057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7A5E"/>
                </a:solidFill>
              </a:rPr>
              <a:t>● </a:t>
            </a:r>
            <a:pPr algn="ctr" indent="0" marL="0">
              <a:buNone/>
            </a:pPr>
            <a:r>
              <a:rPr lang="en-US" sz="1000" dirty="0">
                <a:solidFill>
                  <a:srgbClr val="21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請求書作成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9395460" y="4471416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F8F5EF"/>
          </a:solidFill>
          <a:ln w="15875">
            <a:solidFill>
              <a:srgbClr val="D8CFB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395460" y="4471416"/>
            <a:ext cx="2057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書類作成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9395460" y="4946904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F8F5EF"/>
          </a:solidFill>
          <a:ln w="15875">
            <a:solidFill>
              <a:srgbClr val="D8CFB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395460" y="4946904"/>
            <a:ext cx="2057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問い合わせ対応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48640" y="6419088"/>
            <a:ext cx="237744" cy="164592"/>
          </a:xfrm>
          <a:prstGeom prst="roundRect">
            <a:avLst>
              <a:gd name="adj" fmla="val 16667"/>
            </a:avLst>
          </a:prstGeom>
          <a:solidFill>
            <a:srgbClr val="211B16"/>
          </a:solidFill>
          <a:ln w="12700">
            <a:solidFill>
              <a:srgbClr val="211B1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41248" y="634593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経営者(人)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1847088" y="6419088"/>
            <a:ext cx="237744" cy="164592"/>
          </a:xfrm>
          <a:prstGeom prst="roundRect">
            <a:avLst>
              <a:gd name="adj" fmla="val 16667"/>
            </a:avLst>
          </a:prstGeom>
          <a:solidFill>
            <a:srgbClr val="574E44"/>
          </a:solidFill>
          <a:ln w="12700">
            <a:solidFill>
              <a:srgbClr val="574E4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139696" y="634593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統括(人)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040380" y="6419088"/>
            <a:ext cx="237744" cy="164592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32988" y="634593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統括AI(五郎)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49140" y="6419088"/>
            <a:ext cx="237744" cy="164592"/>
          </a:xfrm>
          <a:prstGeom prst="roundRect">
            <a:avLst>
              <a:gd name="adj" fmla="val 16667"/>
            </a:avLst>
          </a:prstGeom>
          <a:solidFill>
            <a:srgbClr val="B08524"/>
          </a:solidFill>
          <a:ln w="12700">
            <a:solidFill>
              <a:srgbClr val="B0852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841748" y="634593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部署AI秘書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5847588" y="6419088"/>
            <a:ext cx="237744" cy="164592"/>
          </a:xfrm>
          <a:prstGeom prst="roundRect">
            <a:avLst>
              <a:gd name="adj" fmla="val 16667"/>
            </a:avLst>
          </a:prstGeom>
          <a:solidFill>
            <a:srgbClr val="F8F5EF"/>
          </a:solidFill>
          <a:ln w="12700">
            <a:solidFill>
              <a:srgbClr val="D8CFB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40196" y="634593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サブエージェント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8595360" y="63550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950" dirty="0">
                <a:solidFill>
                  <a:srgbClr val="57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 機密業務（社長が最終承認する接点）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会社の憲法 — すべてのAIが受け継ぐ想いとルール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8F5EF"/>
          </a:solidFill>
          <a:ln w="12700">
            <a:solidFill>
              <a:srgbClr val="D8CFB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45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経営理念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みんなのために、地域の雇用を創る、こんなの欲しかったを叶える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92240" y="13716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8F5EF"/>
          </a:solidFill>
          <a:ln w="12700">
            <a:solidFill>
              <a:srgbClr val="D8CFB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0" y="1645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大切な価値観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0" y="21488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何が正しいのか、スピード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8F5EF"/>
          </a:solidFill>
          <a:ln w="12700">
            <a:solidFill>
              <a:srgbClr val="D8CFB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023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行きたい方向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5262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グループ売上5億、利用者の就職先を作る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92240" y="37490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8F5EF"/>
          </a:solidFill>
          <a:ln w="12700">
            <a:solidFill>
              <a:srgbClr val="D8CFB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0" y="4023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やらないこと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45262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嘘をつかない、隠蔽しない、確認しない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この理念を、すべてのAIエージェントが受け継ぎます。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SEED / ARCS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AIエージェント組織図（正式版）</dc:title>
  <dc:subject>PptxGenJS Presentation</dc:subject>
  <dc:creator>五郎 (AI秘書)</dc:creator>
  <cp:lastModifiedBy>五郎 (AI秘書)</cp:lastModifiedBy>
  <cp:revision>1</cp:revision>
  <dcterms:created xsi:type="dcterms:W3CDTF">2026-06-28T06:03:09Z</dcterms:created>
  <dcterms:modified xsi:type="dcterms:W3CDTF">2026-06-28T06:03:09Z</dcterms:modified>
</cp:coreProperties>
</file>
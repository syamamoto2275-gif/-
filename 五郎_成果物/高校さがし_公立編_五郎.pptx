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87099-B196-3D05-D765-97B59665D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F1A230-317F-5E3B-C984-3287343CA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31F88B-25AA-5995-148B-0D157C3BC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70D27A-1B67-2A02-31DE-21FC51AB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E9DAA4-D71E-1CE3-36D8-65C61DBD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27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812E71-F99E-678B-2B28-39284ABD5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CAF594-7A29-1ABF-8197-414A7AF79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399F64-22CB-6E6D-25AB-F7641BA4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C6FCDE-CFAD-56E5-5773-16C6A1B91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CDB562-AB46-0777-40DE-90F66D27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014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C7C5D5-B5BC-DEB5-78E5-BD8D2461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5DEB79-BAF7-269E-BB49-D468720F4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B24681-2EBE-49CF-38E7-A18D5B329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D9056F-3C3D-6978-E2F9-1F9FF7E0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AAB543-3D98-6BAD-6FD2-B65803AE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656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AD8F5C-0F9F-2D9C-B44D-5A11330C2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3D3B7A-FB00-2C26-D407-763E33D6B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21EFF8-2A80-1469-A679-AE280A604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94C6AE-B454-71F4-DE67-566F37B4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AE4D44-66BD-25B3-E9E8-B0C8E2EB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544AD6-C788-78B1-1551-9B97BB8E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7668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3E7AC-C6E2-6F39-8C97-E6E88F4A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C6DBF4-70F0-7DC8-0767-AD150AFFA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EBE5FB2-8027-88DE-5DDA-A37151FED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8CCE94-57B8-5B3D-1E16-CBC46584B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07AD63-B9C7-3DF1-8247-FD80C8789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126FDC-664C-F0F8-A2C1-DF2FAC391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2DE84C2-5DB8-2F80-699A-F78B9C7C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9C8A163-7A1E-9F42-8684-AA9B0ABF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9752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259A5C-9438-72E6-7F1C-1016520E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BD24B5D-60E1-8AB1-CA21-6ACF9D81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FB3A26C-8B90-0D05-388A-EEA5A2DB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69D097E-0F41-8E9A-436F-6A4C897B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36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9B6D9DC-7198-75EC-95A1-F7A8716A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E3861D8-3394-AE29-F78F-B66F0325A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FF868C0-8C3D-4DC4-329E-E3EDFB7D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559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B53DBD-4FBE-68DE-4F2A-8F85CC0C4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1D9664-BC37-C6EF-D67A-C5FA016D8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3B150F-FBCC-911C-7A70-AD6419A16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6363FB-E407-3855-01FA-C2EF3134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87DEE4-F25C-4748-A4CF-7A5BFF5F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BE85D8-2722-B999-BECD-041E4C58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519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966C79-E3A6-3E95-D2BD-C427010CA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B4D8D6-01D9-E7CA-9C7E-16D5B9074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82B9F0-A823-D613-5047-1D20BE266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08A2F8-D65D-7AA2-DFF9-339DB827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1C2C9B-2659-4C71-7BF7-A1E44811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3A0B99-3321-CDAA-39A0-7C74E82B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12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33F5E7-5572-7ECA-486B-FEC104273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077AA0-A6E6-410F-B4F6-9F6903F1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23750F-C4A5-83F9-BB21-D6160AD4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E2A13F-1EF1-C140-A7B9-64AA305A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5AED34-55CE-B892-1A21-E12519CD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297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C69B518-7B7E-A7BC-00F7-D64D346F5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C84F2D-8FF9-77CD-0A4D-230B40BB6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23152B-8644-4E58-CB9A-132A4EA4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518A88-C2DA-4B9D-08DC-58C0684C2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88D371-F4E6-8FC9-665B-6B47700F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327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12885D3-A737-1B4B-33B8-8EC36F77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74BF8F-DAEF-F879-A232-D1493F339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8C77A4-BF23-DDE3-2E75-2138272C5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8C4EC-AA62-410E-B470-EDCDC70BD255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7D29E1-0A54-209E-A69B-8CA95C2D6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CF14E0-C9A1-4BF2-7E9B-77284F57A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6DB13-8864-4086-9C19-81E295767B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724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kou.jp/hischool/school/3391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kou.jp/hischool/school/3391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kou.jp/hischool/school/3402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kou.jp/hischool/school/3402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kou.jp/hischool/school/123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kou.jp/hischool/school/123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nkou.jp/hischool/school/52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nkou.jp/hischool/school/52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楕円 1">
            <a:extLst>
              <a:ext uri="{FF2B5EF4-FFF2-40B4-BE49-F238E27FC236}">
                <a16:creationId xmlns:a16="http://schemas.microsoft.com/office/drawing/2014/main" id="{D3C37FF8-16EE-20C4-22B5-38820E52AD4D}"/>
              </a:ext>
            </a:extLst>
          </p:cNvPr>
          <p:cNvSpPr/>
          <p:nvPr/>
        </p:nvSpPr>
        <p:spPr>
          <a:xfrm>
            <a:off x="9652000" y="-1524000"/>
            <a:ext cx="5334000" cy="5334000"/>
          </a:xfrm>
          <a:prstGeom prst="ellipse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08009290-89C6-736B-DB89-3D98ADE052B8}"/>
              </a:ext>
            </a:extLst>
          </p:cNvPr>
          <p:cNvSpPr/>
          <p:nvPr/>
        </p:nvSpPr>
        <p:spPr>
          <a:xfrm>
            <a:off x="-1778000" y="4572000"/>
            <a:ext cx="4572000" cy="4572000"/>
          </a:xfrm>
          <a:prstGeom prst="ellipse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122D65DE-CE6F-909D-8296-724AF9DE728B}"/>
              </a:ext>
            </a:extLst>
          </p:cNvPr>
          <p:cNvSpPr/>
          <p:nvPr/>
        </p:nvSpPr>
        <p:spPr>
          <a:xfrm>
            <a:off x="762000" y="812800"/>
            <a:ext cx="812800" cy="8128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60456A-9827-2E04-68E3-50A34FDDD748}"/>
              </a:ext>
            </a:extLst>
          </p:cNvPr>
          <p:cNvSpPr txBox="1"/>
          <p:nvPr/>
        </p:nvSpPr>
        <p:spPr>
          <a:xfrm>
            <a:off x="762000" y="762000"/>
            <a:ext cx="76200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600">
                <a:solidFill>
                  <a:srgbClr val="CADCFC"/>
                </a:solidFill>
                <a:latin typeface="Meiryo" panose="020B0604030504040204" pitchFamily="50" charset="-128"/>
              </a:rPr>
              <a:t>五郎レポート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EA4014-39C4-6CEB-F84F-8FCDC5C0F610}"/>
              </a:ext>
            </a:extLst>
          </p:cNvPr>
          <p:cNvSpPr txBox="1"/>
          <p:nvPr/>
        </p:nvSpPr>
        <p:spPr>
          <a:xfrm>
            <a:off x="762000" y="2133600"/>
            <a:ext cx="10922000" cy="6104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3800" b="1">
                <a:solidFill>
                  <a:srgbClr val="FFFFFF"/>
                </a:solidFill>
                <a:latin typeface="Meiryo" panose="020B0604030504040204" pitchFamily="50" charset="-128"/>
              </a:rPr>
              <a:t>紗衣の 高校さがし ＜公立編・くわしく版＞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A7DCA15-8205-04BD-ADE4-A72AF9051B89}"/>
              </a:ext>
            </a:extLst>
          </p:cNvPr>
          <p:cNvSpPr txBox="1"/>
          <p:nvPr/>
        </p:nvSpPr>
        <p:spPr>
          <a:xfrm>
            <a:off x="812800" y="3810000"/>
            <a:ext cx="109220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600">
                <a:solidFill>
                  <a:srgbClr val="CADCFC"/>
                </a:solidFill>
                <a:latin typeface="Meiryo" panose="020B0604030504040204" pitchFamily="50" charset="-128"/>
              </a:rPr>
              <a:t>公立の候補</a:t>
            </a:r>
            <a:r>
              <a:rPr kumimoji="1" lang="en-US" altLang="ja-JP" sz="1600">
                <a:solidFill>
                  <a:srgbClr val="CADCFC"/>
                </a:solidFill>
                <a:latin typeface="Meiryo" panose="020B0604030504040204" pitchFamily="50" charset="-128"/>
              </a:rPr>
              <a:t>4</a:t>
            </a:r>
            <a:r>
              <a:rPr kumimoji="1" lang="ja-JP" altLang="en-US" sz="1600">
                <a:solidFill>
                  <a:srgbClr val="CADCFC"/>
                </a:solidFill>
                <a:latin typeface="Meiryo" panose="020B0604030504040204" pitchFamily="50" charset="-128"/>
              </a:rPr>
              <a:t>校（北区から通えるエリア）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7E9CB9-2F63-A23C-B5B6-C4B7525A386D}"/>
              </a:ext>
            </a:extLst>
          </p:cNvPr>
          <p:cNvSpPr txBox="1"/>
          <p:nvPr/>
        </p:nvSpPr>
        <p:spPr>
          <a:xfrm>
            <a:off x="762000" y="5969000"/>
            <a:ext cx="10922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9DB0E8"/>
                </a:solidFill>
                <a:latin typeface="Meiryo" panose="020B0604030504040204" pitchFamily="50" charset="-128"/>
              </a:rPr>
              <a:t>作成：五郎（</a:t>
            </a:r>
            <a:r>
              <a:rPr kumimoji="1" lang="en-US" altLang="ja-JP" sz="1300">
                <a:solidFill>
                  <a:srgbClr val="9DB0E8"/>
                </a:solidFill>
                <a:latin typeface="Meiryo" panose="020B0604030504040204" pitchFamily="50" charset="-128"/>
              </a:rPr>
              <a:t>AI</a:t>
            </a:r>
            <a:r>
              <a:rPr kumimoji="1" lang="ja-JP" altLang="en-US" sz="1300">
                <a:solidFill>
                  <a:srgbClr val="9DB0E8"/>
                </a:solidFill>
                <a:latin typeface="Meiryo" panose="020B0604030504040204" pitchFamily="50" charset="-128"/>
              </a:rPr>
              <a:t>秘書）　</a:t>
            </a:r>
            <a:r>
              <a:rPr kumimoji="1" lang="en-US" altLang="ja-JP" sz="1300">
                <a:solidFill>
                  <a:srgbClr val="9DB0E8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300">
                <a:solidFill>
                  <a:srgbClr val="9DB0E8"/>
                </a:solidFill>
                <a:latin typeface="Meiryo" panose="020B0604030504040204" pitchFamily="50" charset="-128"/>
              </a:rPr>
              <a:t>年</a:t>
            </a:r>
            <a:r>
              <a:rPr kumimoji="1" lang="en-US" altLang="ja-JP" sz="1300">
                <a:solidFill>
                  <a:srgbClr val="9DB0E8"/>
                </a:solidFill>
                <a:latin typeface="Meiryo" panose="020B0604030504040204" pitchFamily="50" charset="-128"/>
              </a:rPr>
              <a:t>6</a:t>
            </a:r>
            <a:r>
              <a:rPr kumimoji="1" lang="ja-JP" altLang="en-US" sz="1300">
                <a:solidFill>
                  <a:srgbClr val="9DB0E8"/>
                </a:solidFill>
                <a:latin typeface="Meiryo" panose="020B0604030504040204" pitchFamily="50" charset="-128"/>
              </a:rPr>
              <a:t>月　自宅</a:t>
            </a:r>
            <a:r>
              <a:rPr kumimoji="1" lang="en-US" altLang="ja-JP" sz="1300">
                <a:solidFill>
                  <a:srgbClr val="9DB0E8"/>
                </a:solidFill>
                <a:latin typeface="Meiryo" panose="020B0604030504040204" pitchFamily="50" charset="-128"/>
              </a:rPr>
              <a:t>PC</a:t>
            </a:r>
            <a:r>
              <a:rPr kumimoji="1" lang="ja-JP" altLang="en-US" sz="1300">
                <a:solidFill>
                  <a:srgbClr val="9DB0E8"/>
                </a:solidFill>
                <a:latin typeface="Meiryo" panose="020B0604030504040204" pitchFamily="50" charset="-128"/>
              </a:rPr>
              <a:t>（名古屋市北区鳩岡）にて</a:t>
            </a:r>
          </a:p>
        </p:txBody>
      </p:sp>
    </p:spTree>
    <p:extLst>
      <p:ext uri="{BB962C8B-B14F-4D97-AF65-F5344CB8AC3E}">
        <p14:creationId xmlns:p14="http://schemas.microsoft.com/office/powerpoint/2010/main" val="2401725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682A8F-05A6-47C0-A85D-51E27091E831}"/>
              </a:ext>
            </a:extLst>
          </p:cNvPr>
          <p:cNvSpPr txBox="1"/>
          <p:nvPr/>
        </p:nvSpPr>
        <p:spPr>
          <a:xfrm>
            <a:off x="508000" y="381000"/>
            <a:ext cx="11176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3000" b="1">
                <a:solidFill>
                  <a:srgbClr val="1E2761"/>
                </a:solidFill>
                <a:latin typeface="Meiryo" panose="020B0604030504040204" pitchFamily="50" charset="-128"/>
              </a:rPr>
              <a:t>さがした条件（</a:t>
            </a:r>
            <a:r>
              <a:rPr kumimoji="1" lang="en-US" altLang="ja-JP" sz="3000" b="1">
                <a:solidFill>
                  <a:srgbClr val="1E2761"/>
                </a:solidFill>
                <a:latin typeface="Meiryo" panose="020B0604030504040204" pitchFamily="50" charset="-128"/>
              </a:rPr>
              <a:t>6</a:t>
            </a:r>
            <a:r>
              <a:rPr kumimoji="1" lang="ja-JP" altLang="en-US" sz="3000" b="1">
                <a:solidFill>
                  <a:srgbClr val="1E2761"/>
                </a:solidFill>
                <a:latin typeface="Meiryo" panose="020B0604030504040204" pitchFamily="50" charset="-128"/>
              </a:rPr>
              <a:t>つ ＋ エリア）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D516226-17B4-367F-FC35-5EB2AE04E870}"/>
              </a:ext>
            </a:extLst>
          </p:cNvPr>
          <p:cNvSpPr/>
          <p:nvPr/>
        </p:nvSpPr>
        <p:spPr>
          <a:xfrm>
            <a:off x="508000" y="1168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20A9D86B-B042-6D50-69B3-9381F5E2383E}"/>
              </a:ext>
            </a:extLst>
          </p:cNvPr>
          <p:cNvSpPr/>
          <p:nvPr/>
        </p:nvSpPr>
        <p:spPr>
          <a:xfrm>
            <a:off x="736600" y="1397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8F9A60-D17B-5D2A-4800-C41C630CDDE8}"/>
              </a:ext>
            </a:extLst>
          </p:cNvPr>
          <p:cNvSpPr txBox="1"/>
          <p:nvPr/>
        </p:nvSpPr>
        <p:spPr>
          <a:xfrm>
            <a:off x="736600" y="1373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1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F3AF57B-F3F6-4070-72E4-F23720692FD1}"/>
              </a:ext>
            </a:extLst>
          </p:cNvPr>
          <p:cNvSpPr txBox="1"/>
          <p:nvPr/>
        </p:nvSpPr>
        <p:spPr>
          <a:xfrm>
            <a:off x="1422400" y="1404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公立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CD2E5E-5CC9-C01F-BA88-0EE6BAB05BC6}"/>
              </a:ext>
            </a:extLst>
          </p:cNvPr>
          <p:cNvSpPr txBox="1"/>
          <p:nvPr/>
        </p:nvSpPr>
        <p:spPr>
          <a:xfrm>
            <a:off x="762000" y="2006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私立ではなく公立校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5E066F4-9A34-6FC2-DF08-DD2679813F94}"/>
              </a:ext>
            </a:extLst>
          </p:cNvPr>
          <p:cNvSpPr/>
          <p:nvPr/>
        </p:nvSpPr>
        <p:spPr>
          <a:xfrm>
            <a:off x="4318000" y="1168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53B9684F-617C-D58A-76A7-0D7BCA772B42}"/>
              </a:ext>
            </a:extLst>
          </p:cNvPr>
          <p:cNvSpPr/>
          <p:nvPr/>
        </p:nvSpPr>
        <p:spPr>
          <a:xfrm>
            <a:off x="4546600" y="1397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E7FFB30-C748-5F54-9115-A3E39ED3BA57}"/>
              </a:ext>
            </a:extLst>
          </p:cNvPr>
          <p:cNvSpPr txBox="1"/>
          <p:nvPr/>
        </p:nvSpPr>
        <p:spPr>
          <a:xfrm>
            <a:off x="4546600" y="1373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2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942947-59CD-B8CF-D12D-4DCD461A74F9}"/>
              </a:ext>
            </a:extLst>
          </p:cNvPr>
          <p:cNvSpPr txBox="1"/>
          <p:nvPr/>
        </p:nvSpPr>
        <p:spPr>
          <a:xfrm>
            <a:off x="5232400" y="1404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共学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6B8EDC-E079-9F7B-AC92-425C560D8681}"/>
              </a:ext>
            </a:extLst>
          </p:cNvPr>
          <p:cNvSpPr txBox="1"/>
          <p:nvPr/>
        </p:nvSpPr>
        <p:spPr>
          <a:xfrm>
            <a:off x="4572000" y="2006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男女いっしょに学ぶ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57AF21A-EC2F-F3B0-4FE1-0B2E6C5B7C77}"/>
              </a:ext>
            </a:extLst>
          </p:cNvPr>
          <p:cNvSpPr/>
          <p:nvPr/>
        </p:nvSpPr>
        <p:spPr>
          <a:xfrm>
            <a:off x="8128000" y="1168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3BB52447-0B7E-FE9A-F304-7C51316E35EE}"/>
              </a:ext>
            </a:extLst>
          </p:cNvPr>
          <p:cNvSpPr/>
          <p:nvPr/>
        </p:nvSpPr>
        <p:spPr>
          <a:xfrm>
            <a:off x="8356600" y="1397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5032D62-DFCC-8B30-BAAA-8B22FC9F9679}"/>
              </a:ext>
            </a:extLst>
          </p:cNvPr>
          <p:cNvSpPr txBox="1"/>
          <p:nvPr/>
        </p:nvSpPr>
        <p:spPr>
          <a:xfrm>
            <a:off x="8356600" y="1373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3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8A72EF5-942F-092A-5D96-3E027C8B0F9B}"/>
              </a:ext>
            </a:extLst>
          </p:cNvPr>
          <p:cNvSpPr txBox="1"/>
          <p:nvPr/>
        </p:nvSpPr>
        <p:spPr>
          <a:xfrm>
            <a:off x="9042400" y="1404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偏差値 </a:t>
            </a:r>
            <a:r>
              <a:rPr kumimoji="1" lang="en-US" altLang="ja-JP" sz="1700" b="1">
                <a:solidFill>
                  <a:srgbClr val="1E2761"/>
                </a:solidFill>
                <a:latin typeface="Meiryo" panose="020B0604030504040204" pitchFamily="50" charset="-128"/>
              </a:rPr>
              <a:t>50</a:t>
            </a:r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前後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5E4BD4E-6A93-7B30-4E38-FFCBA2CC4E45}"/>
              </a:ext>
            </a:extLst>
          </p:cNvPr>
          <p:cNvSpPr txBox="1"/>
          <p:nvPr/>
        </p:nvSpPr>
        <p:spPr>
          <a:xfrm>
            <a:off x="8382000" y="2006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学力・内申の目安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24C6D5BC-1F5B-2A51-775D-01B8D6EBC740}"/>
              </a:ext>
            </a:extLst>
          </p:cNvPr>
          <p:cNvSpPr/>
          <p:nvPr/>
        </p:nvSpPr>
        <p:spPr>
          <a:xfrm>
            <a:off x="508000" y="2819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86B79981-050D-871A-0852-476D8DC46E0F}"/>
              </a:ext>
            </a:extLst>
          </p:cNvPr>
          <p:cNvSpPr/>
          <p:nvPr/>
        </p:nvSpPr>
        <p:spPr>
          <a:xfrm>
            <a:off x="736600" y="3048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9E00EDA-5021-5528-E9AD-6F86DFFC4AE7}"/>
              </a:ext>
            </a:extLst>
          </p:cNvPr>
          <p:cNvSpPr txBox="1"/>
          <p:nvPr/>
        </p:nvSpPr>
        <p:spPr>
          <a:xfrm>
            <a:off x="736600" y="3024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4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6E7189F-1E91-1DC3-912E-B65FBD5EAE9E}"/>
              </a:ext>
            </a:extLst>
          </p:cNvPr>
          <p:cNvSpPr txBox="1"/>
          <p:nvPr/>
        </p:nvSpPr>
        <p:spPr>
          <a:xfrm>
            <a:off x="1422400" y="3055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部活・行事が活発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0F22251-5ECF-5FA7-F0AC-3B16C3CE53CC}"/>
              </a:ext>
            </a:extLst>
          </p:cNvPr>
          <p:cNvSpPr txBox="1"/>
          <p:nvPr/>
        </p:nvSpPr>
        <p:spPr>
          <a:xfrm>
            <a:off x="762000" y="3657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打ち込める部活・楽しい行事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3AD80D4D-EE4D-0053-1D06-7FF2967A785B}"/>
              </a:ext>
            </a:extLst>
          </p:cNvPr>
          <p:cNvSpPr/>
          <p:nvPr/>
        </p:nvSpPr>
        <p:spPr>
          <a:xfrm>
            <a:off x="4318000" y="2819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98445930-C289-3A9D-9B5C-0CF3496AC428}"/>
              </a:ext>
            </a:extLst>
          </p:cNvPr>
          <p:cNvSpPr/>
          <p:nvPr/>
        </p:nvSpPr>
        <p:spPr>
          <a:xfrm>
            <a:off x="4546600" y="3048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BBE0AE6-A6FA-7642-99F8-CDD97070E9C2}"/>
              </a:ext>
            </a:extLst>
          </p:cNvPr>
          <p:cNvSpPr txBox="1"/>
          <p:nvPr/>
        </p:nvSpPr>
        <p:spPr>
          <a:xfrm>
            <a:off x="4546600" y="3024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5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FBFDD18-371A-7E3A-EAF9-4D3ABCF08B3D}"/>
              </a:ext>
            </a:extLst>
          </p:cNvPr>
          <p:cNvSpPr txBox="1"/>
          <p:nvPr/>
        </p:nvSpPr>
        <p:spPr>
          <a:xfrm>
            <a:off x="5232400" y="3055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評判・特色がいい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1C60AF1-3EBC-CF19-0202-90DEA264585E}"/>
              </a:ext>
            </a:extLst>
          </p:cNvPr>
          <p:cNvSpPr txBox="1"/>
          <p:nvPr/>
        </p:nvSpPr>
        <p:spPr>
          <a:xfrm>
            <a:off x="4572000" y="3657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通ってよかったと思える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16804B78-B844-34D2-D181-2D130959B77C}"/>
              </a:ext>
            </a:extLst>
          </p:cNvPr>
          <p:cNvSpPr/>
          <p:nvPr/>
        </p:nvSpPr>
        <p:spPr>
          <a:xfrm>
            <a:off x="8128000" y="2819400"/>
            <a:ext cx="355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57F4E031-8F5F-6882-AD5E-0F6B55FC18DE}"/>
              </a:ext>
            </a:extLst>
          </p:cNvPr>
          <p:cNvSpPr/>
          <p:nvPr/>
        </p:nvSpPr>
        <p:spPr>
          <a:xfrm>
            <a:off x="8356600" y="3048000"/>
            <a:ext cx="533400" cy="5334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8F0146B-F0B3-6E8A-505E-D0DEBE4617F8}"/>
              </a:ext>
            </a:extLst>
          </p:cNvPr>
          <p:cNvSpPr txBox="1"/>
          <p:nvPr/>
        </p:nvSpPr>
        <p:spPr>
          <a:xfrm>
            <a:off x="8356600" y="3024917"/>
            <a:ext cx="533400" cy="3488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100" b="1">
                <a:solidFill>
                  <a:srgbClr val="FFFFFF"/>
                </a:solidFill>
                <a:latin typeface="Meiryo" panose="020B0604030504040204" pitchFamily="50" charset="-128"/>
              </a:rPr>
              <a:t>6</a:t>
            </a:r>
            <a:endParaRPr kumimoji="1" lang="ja-JP" altLang="en-US" sz="21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10944C8-EEF8-B0E0-E846-452D66730A6A}"/>
              </a:ext>
            </a:extLst>
          </p:cNvPr>
          <p:cNvSpPr txBox="1"/>
          <p:nvPr/>
        </p:nvSpPr>
        <p:spPr>
          <a:xfrm>
            <a:off x="9042400" y="3055694"/>
            <a:ext cx="24638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700" b="1">
                <a:solidFill>
                  <a:srgbClr val="1E2761"/>
                </a:solidFill>
                <a:latin typeface="Meiryo" panose="020B0604030504040204" pitchFamily="50" charset="-128"/>
              </a:rPr>
              <a:t>通いやすい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4661B91-D88B-5884-8F75-8492273C02AD}"/>
              </a:ext>
            </a:extLst>
          </p:cNvPr>
          <p:cNvSpPr txBox="1"/>
          <p:nvPr/>
        </p:nvSpPr>
        <p:spPr>
          <a:xfrm>
            <a:off x="8382000" y="3657600"/>
            <a:ext cx="3098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自宅</a:t>
            </a:r>
            <a:r>
              <a:rPr kumimoji="1" lang="en-US" altLang="ja-JP" sz="13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北区</a:t>
            </a:r>
            <a:r>
              <a:rPr kumimoji="1" lang="en-US" altLang="ja-JP" sz="13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300">
                <a:solidFill>
                  <a:srgbClr val="222B45"/>
                </a:solidFill>
                <a:latin typeface="Meiryo" panose="020B0604030504040204" pitchFamily="50" charset="-128"/>
              </a:rPr>
              <a:t>から通えること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479F7CA9-B3DB-3B05-87E3-7653EA451147}"/>
              </a:ext>
            </a:extLst>
          </p:cNvPr>
          <p:cNvSpPr/>
          <p:nvPr/>
        </p:nvSpPr>
        <p:spPr>
          <a:xfrm>
            <a:off x="508000" y="4724400"/>
            <a:ext cx="11176000" cy="8382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57C0C77-4495-C821-4CA7-DC9D27310570}"/>
              </a:ext>
            </a:extLst>
          </p:cNvPr>
          <p:cNvSpPr txBox="1"/>
          <p:nvPr/>
        </p:nvSpPr>
        <p:spPr>
          <a:xfrm>
            <a:off x="762000" y="4632067"/>
            <a:ext cx="1079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500" b="1">
                <a:solidFill>
                  <a:srgbClr val="1E2761"/>
                </a:solidFill>
                <a:latin typeface="Meiryo" panose="020B0604030504040204" pitchFamily="50" charset="-128"/>
              </a:rPr>
              <a:t>エリア：自宅＝名古屋市北区鳩岡。地下鉄「黒川」駅</a:t>
            </a:r>
            <a:r>
              <a:rPr kumimoji="1" lang="en-US" altLang="ja-JP" sz="1500" b="1">
                <a:solidFill>
                  <a:srgbClr val="1E2761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500" b="1">
                <a:solidFill>
                  <a:srgbClr val="1E2761"/>
                </a:solidFill>
                <a:latin typeface="Meiryo" panose="020B0604030504040204" pitchFamily="50" charset="-128"/>
              </a:rPr>
              <a:t>名城線</a:t>
            </a:r>
            <a:r>
              <a:rPr kumimoji="1" lang="en-US" altLang="ja-JP" sz="1500" b="1">
                <a:solidFill>
                  <a:srgbClr val="1E2761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500" b="1">
                <a:solidFill>
                  <a:srgbClr val="1E2761"/>
                </a:solidFill>
                <a:latin typeface="Meiryo" panose="020B0604030504040204" pitchFamily="50" charset="-128"/>
              </a:rPr>
              <a:t>／名鉄小牧線「上飯田」／市バスはバス停「城北小学校</a:t>
            </a:r>
            <a:r>
              <a:rPr kumimoji="1" lang="en-US" altLang="ja-JP" sz="1500" b="1">
                <a:solidFill>
                  <a:srgbClr val="1E2761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500" b="1">
                <a:solidFill>
                  <a:srgbClr val="1E2761"/>
                </a:solidFill>
                <a:latin typeface="Meiryo" panose="020B0604030504040204" pitchFamily="50" charset="-128"/>
              </a:rPr>
              <a:t>北</a:t>
            </a:r>
            <a:r>
              <a:rPr kumimoji="1" lang="en-US" altLang="ja-JP" sz="1500" b="1">
                <a:solidFill>
                  <a:srgbClr val="1E2761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500" b="1">
                <a:solidFill>
                  <a:srgbClr val="1E2761"/>
                </a:solidFill>
                <a:latin typeface="Meiryo" panose="020B0604030504040204" pitchFamily="50" charset="-128"/>
              </a:rPr>
              <a:t>」を起点に通学。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A67D0CE-65CA-1ECD-49DF-7875D266594A}"/>
              </a:ext>
            </a:extLst>
          </p:cNvPr>
          <p:cNvSpPr txBox="1"/>
          <p:nvPr/>
        </p:nvSpPr>
        <p:spPr>
          <a:xfrm>
            <a:off x="508000" y="57404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各校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2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ページ構成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(①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基本・進学・制服 ②部活動・校風校則・口コミ・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日程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。偏差値・評判・日程は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年</a:t>
            </a:r>
            <a:r>
              <a:rPr kumimoji="1" lang="en-US" altLang="ja-JP" sz="1200">
                <a:solidFill>
                  <a:srgbClr val="6B7280"/>
                </a:solidFill>
                <a:latin typeface="Meiryo" panose="020B0604030504040204" pitchFamily="50" charset="-128"/>
              </a:rPr>
              <a:t>6</a:t>
            </a:r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月時点の目安。最新は各校公式で確認を。</a:t>
            </a:r>
          </a:p>
        </p:txBody>
      </p:sp>
    </p:spTree>
    <p:extLst>
      <p:ext uri="{BB962C8B-B14F-4D97-AF65-F5344CB8AC3E}">
        <p14:creationId xmlns:p14="http://schemas.microsoft.com/office/powerpoint/2010/main" val="203229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17A8F0B-CD45-7789-2070-D39287B83A60}"/>
              </a:ext>
            </a:extLst>
          </p:cNvPr>
          <p:cNvSpPr txBox="1"/>
          <p:nvPr/>
        </p:nvSpPr>
        <p:spPr>
          <a:xfrm>
            <a:off x="508000" y="355600"/>
            <a:ext cx="111760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2200" b="1">
                <a:solidFill>
                  <a:srgbClr val="1E2761"/>
                </a:solidFill>
                <a:latin typeface="Meiryo" panose="020B0604030504040204" pitchFamily="50" charset="-128"/>
              </a:rPr>
              <a:t>公立の候補</a:t>
            </a:r>
            <a:r>
              <a:rPr kumimoji="1" lang="en-US" altLang="ja-JP" sz="2200" b="1">
                <a:solidFill>
                  <a:srgbClr val="1E2761"/>
                </a:solidFill>
                <a:latin typeface="Meiryo" panose="020B0604030504040204" pitchFamily="50" charset="-128"/>
              </a:rPr>
              <a:t>4</a:t>
            </a:r>
            <a:r>
              <a:rPr kumimoji="1" lang="ja-JP" altLang="en-US" sz="2200" b="1">
                <a:solidFill>
                  <a:srgbClr val="1E2761"/>
                </a:solidFill>
                <a:latin typeface="Meiryo" panose="020B0604030504040204" pitchFamily="50" charset="-128"/>
              </a:rPr>
              <a:t>校（北区から通えるエリア）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795B8E-38A3-6F7B-C18D-3FAAEEF634C9}"/>
              </a:ext>
            </a:extLst>
          </p:cNvPr>
          <p:cNvSpPr/>
          <p:nvPr/>
        </p:nvSpPr>
        <p:spPr>
          <a:xfrm>
            <a:off x="508000" y="1117600"/>
            <a:ext cx="2667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5FC73F-0996-B6B8-F9A7-22257334C064}"/>
              </a:ext>
            </a:extLst>
          </p:cNvPr>
          <p:cNvSpPr txBox="1"/>
          <p:nvPr/>
        </p:nvSpPr>
        <p:spPr>
          <a:xfrm>
            <a:off x="508000" y="1148377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学校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C636206-7EFA-5655-4A15-A565C7C131A4}"/>
              </a:ext>
            </a:extLst>
          </p:cNvPr>
          <p:cNvSpPr/>
          <p:nvPr/>
        </p:nvSpPr>
        <p:spPr>
          <a:xfrm>
            <a:off x="3175000" y="1117600"/>
            <a:ext cx="1397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0C83065-5E16-2B30-19DB-DB8F1A14FA6D}"/>
              </a:ext>
            </a:extLst>
          </p:cNvPr>
          <p:cNvSpPr txBox="1"/>
          <p:nvPr/>
        </p:nvSpPr>
        <p:spPr>
          <a:xfrm>
            <a:off x="3175000" y="1148377"/>
            <a:ext cx="139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区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8001BFF-EB33-8189-36DB-EC0489A9B2A7}"/>
              </a:ext>
            </a:extLst>
          </p:cNvPr>
          <p:cNvSpPr/>
          <p:nvPr/>
        </p:nvSpPr>
        <p:spPr>
          <a:xfrm>
            <a:off x="4572000" y="1117600"/>
            <a:ext cx="1524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05DA08-522A-A392-7AF8-8ACE5D816D4A}"/>
              </a:ext>
            </a:extLst>
          </p:cNvPr>
          <p:cNvSpPr txBox="1"/>
          <p:nvPr/>
        </p:nvSpPr>
        <p:spPr>
          <a:xfrm>
            <a:off x="4572000" y="1148377"/>
            <a:ext cx="1524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偏差値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530EC37-5130-CFDF-728A-7963EF666668}"/>
              </a:ext>
            </a:extLst>
          </p:cNvPr>
          <p:cNvSpPr/>
          <p:nvPr/>
        </p:nvSpPr>
        <p:spPr>
          <a:xfrm>
            <a:off x="6096000" y="1117600"/>
            <a:ext cx="1905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D8CAB6E-2A94-EBFB-7546-88B72DEF533F}"/>
              </a:ext>
            </a:extLst>
          </p:cNvPr>
          <p:cNvSpPr txBox="1"/>
          <p:nvPr/>
        </p:nvSpPr>
        <p:spPr>
          <a:xfrm>
            <a:off x="6096000" y="1148377"/>
            <a:ext cx="190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部活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AD974FB-79EC-129E-FDDD-D6FC89AF493C}"/>
              </a:ext>
            </a:extLst>
          </p:cNvPr>
          <p:cNvSpPr/>
          <p:nvPr/>
        </p:nvSpPr>
        <p:spPr>
          <a:xfrm>
            <a:off x="8001000" y="1117600"/>
            <a:ext cx="1143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40E07C5-D225-01DB-0C92-A75C325E2CBB}"/>
              </a:ext>
            </a:extLst>
          </p:cNvPr>
          <p:cNvSpPr txBox="1"/>
          <p:nvPr/>
        </p:nvSpPr>
        <p:spPr>
          <a:xfrm>
            <a:off x="8001000" y="1148377"/>
            <a:ext cx="1143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評判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08BB1E8-AC49-5062-1293-C6ADBE73390C}"/>
              </a:ext>
            </a:extLst>
          </p:cNvPr>
          <p:cNvSpPr/>
          <p:nvPr/>
        </p:nvSpPr>
        <p:spPr>
          <a:xfrm>
            <a:off x="9144000" y="1117600"/>
            <a:ext cx="1651000" cy="4826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1BA9791-CF32-B52A-3812-9687D0A4D41C}"/>
              </a:ext>
            </a:extLst>
          </p:cNvPr>
          <p:cNvSpPr txBox="1"/>
          <p:nvPr/>
        </p:nvSpPr>
        <p:spPr>
          <a:xfrm>
            <a:off x="9144000" y="1148377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Meiryo" panose="020B0604030504040204" pitchFamily="50" charset="-128"/>
              </a:rPr>
              <a:t>通学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A92ECEC-B644-8A83-B189-7E194D66B76A}"/>
              </a:ext>
            </a:extLst>
          </p:cNvPr>
          <p:cNvSpPr/>
          <p:nvPr/>
        </p:nvSpPr>
        <p:spPr>
          <a:xfrm>
            <a:off x="508000" y="1600200"/>
            <a:ext cx="266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7C9C4610-7D35-A69C-7B5D-AB9191F652BC}"/>
              </a:ext>
            </a:extLst>
          </p:cNvPr>
          <p:cNvSpPr/>
          <p:nvPr/>
        </p:nvSpPr>
        <p:spPr>
          <a:xfrm>
            <a:off x="609600" y="1892300"/>
            <a:ext cx="152400" cy="152400"/>
          </a:xfrm>
          <a:prstGeom prst="ellipse">
            <a:avLst/>
          </a:prstGeom>
          <a:solidFill>
            <a:srgbClr val="0E8C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E95D345-E15C-AB4B-F9A0-B546652AEAEF}"/>
              </a:ext>
            </a:extLst>
          </p:cNvPr>
          <p:cNvSpPr txBox="1"/>
          <p:nvPr/>
        </p:nvSpPr>
        <p:spPr>
          <a:xfrm>
            <a:off x="838200" y="1646366"/>
            <a:ext cx="228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名古屋市立 北高校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CA87321-C4CC-2A54-C13D-655566A68652}"/>
              </a:ext>
            </a:extLst>
          </p:cNvPr>
          <p:cNvSpPr/>
          <p:nvPr/>
        </p:nvSpPr>
        <p:spPr>
          <a:xfrm>
            <a:off x="3175000" y="1600200"/>
            <a:ext cx="139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CF54816-C6C8-2FD7-05A3-32F289C74A90}"/>
              </a:ext>
            </a:extLst>
          </p:cNvPr>
          <p:cNvSpPr txBox="1"/>
          <p:nvPr/>
        </p:nvSpPr>
        <p:spPr>
          <a:xfrm>
            <a:off x="3175000" y="1646366"/>
            <a:ext cx="1397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北区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41298A6-EB0C-42D2-45D7-59B7FFDAA762}"/>
              </a:ext>
            </a:extLst>
          </p:cNvPr>
          <p:cNvSpPr/>
          <p:nvPr/>
        </p:nvSpPr>
        <p:spPr>
          <a:xfrm>
            <a:off x="4572000" y="1600200"/>
            <a:ext cx="1524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0FBFE61-2D10-5FB1-C900-9072E938573F}"/>
              </a:ext>
            </a:extLst>
          </p:cNvPr>
          <p:cNvSpPr txBox="1"/>
          <p:nvPr/>
        </p:nvSpPr>
        <p:spPr>
          <a:xfrm>
            <a:off x="4572000" y="1623283"/>
            <a:ext cx="1524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0E8C8B"/>
                </a:solidFill>
                <a:latin typeface="Meiryo" panose="020B0604030504040204" pitchFamily="50" charset="-128"/>
              </a:rPr>
              <a:t>50</a:t>
            </a:r>
            <a:endParaRPr kumimoji="1" lang="ja-JP" altLang="en-US" sz="1500" b="1">
              <a:solidFill>
                <a:srgbClr val="0E8C8B"/>
              </a:solidFill>
              <a:latin typeface="Meiryo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03E4F1F-AA0C-AE90-74A5-BDB348224EEF}"/>
              </a:ext>
            </a:extLst>
          </p:cNvPr>
          <p:cNvSpPr/>
          <p:nvPr/>
        </p:nvSpPr>
        <p:spPr>
          <a:xfrm>
            <a:off x="6096000" y="1600200"/>
            <a:ext cx="1905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5171C2A-DCBB-7A3C-7C88-859CA0EAEE49}"/>
              </a:ext>
            </a:extLst>
          </p:cNvPr>
          <p:cNvSpPr txBox="1"/>
          <p:nvPr/>
        </p:nvSpPr>
        <p:spPr>
          <a:xfrm>
            <a:off x="6096000" y="1646366"/>
            <a:ext cx="1905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音楽全国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459D3DD-7ED6-D62C-A293-71CAB69F5B03}"/>
              </a:ext>
            </a:extLst>
          </p:cNvPr>
          <p:cNvSpPr/>
          <p:nvPr/>
        </p:nvSpPr>
        <p:spPr>
          <a:xfrm>
            <a:off x="8001000" y="1600200"/>
            <a:ext cx="1143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EED5E6A-1CCA-57F8-FA40-F5A370A8C89D}"/>
              </a:ext>
            </a:extLst>
          </p:cNvPr>
          <p:cNvSpPr txBox="1"/>
          <p:nvPr/>
        </p:nvSpPr>
        <p:spPr>
          <a:xfrm>
            <a:off x="8001000" y="1646366"/>
            <a:ext cx="1143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2.9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06BCDE7-B671-49EB-DCBB-EE264B726467}"/>
              </a:ext>
            </a:extLst>
          </p:cNvPr>
          <p:cNvSpPr/>
          <p:nvPr/>
        </p:nvSpPr>
        <p:spPr>
          <a:xfrm>
            <a:off x="9144000" y="1600200"/>
            <a:ext cx="1651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57FD6FD-C6CB-9A0E-41C6-2A0B2A3ED2ED}"/>
              </a:ext>
            </a:extLst>
          </p:cNvPr>
          <p:cNvSpPr txBox="1"/>
          <p:nvPr/>
        </p:nvSpPr>
        <p:spPr>
          <a:xfrm>
            <a:off x="9144000" y="1646366"/>
            <a:ext cx="1651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◎北区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837ED82-3061-912C-C6B1-8DF6AED240E4}"/>
              </a:ext>
            </a:extLst>
          </p:cNvPr>
          <p:cNvSpPr/>
          <p:nvPr/>
        </p:nvSpPr>
        <p:spPr>
          <a:xfrm>
            <a:off x="508000" y="2336800"/>
            <a:ext cx="2667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7A067FA3-64D3-882A-51A4-FDFB25488273}"/>
              </a:ext>
            </a:extLst>
          </p:cNvPr>
          <p:cNvSpPr/>
          <p:nvPr/>
        </p:nvSpPr>
        <p:spPr>
          <a:xfrm>
            <a:off x="609600" y="2628900"/>
            <a:ext cx="152400" cy="152400"/>
          </a:xfrm>
          <a:prstGeom prst="ellipse">
            <a:avLst/>
          </a:prstGeom>
          <a:solidFill>
            <a:srgbClr val="E863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B085F81-7D15-7491-C9A2-1EF491AE662F}"/>
              </a:ext>
            </a:extLst>
          </p:cNvPr>
          <p:cNvSpPr txBox="1"/>
          <p:nvPr/>
        </p:nvSpPr>
        <p:spPr>
          <a:xfrm>
            <a:off x="838200" y="2382966"/>
            <a:ext cx="228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名古屋市立 山田高校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13C5882-1CD9-E59C-101F-0EFF4AEEB10D}"/>
              </a:ext>
            </a:extLst>
          </p:cNvPr>
          <p:cNvSpPr/>
          <p:nvPr/>
        </p:nvSpPr>
        <p:spPr>
          <a:xfrm>
            <a:off x="3175000" y="2336800"/>
            <a:ext cx="1397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860961B-4CBD-91F5-B06F-CCD91C30C571}"/>
              </a:ext>
            </a:extLst>
          </p:cNvPr>
          <p:cNvSpPr txBox="1"/>
          <p:nvPr/>
        </p:nvSpPr>
        <p:spPr>
          <a:xfrm>
            <a:off x="3175000" y="2382966"/>
            <a:ext cx="1397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西区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016C14C4-1E22-8437-2219-18E0A4C8CEA8}"/>
              </a:ext>
            </a:extLst>
          </p:cNvPr>
          <p:cNvSpPr/>
          <p:nvPr/>
        </p:nvSpPr>
        <p:spPr>
          <a:xfrm>
            <a:off x="4572000" y="2336800"/>
            <a:ext cx="1524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88C8412-F63C-AE81-3516-F6FB23295F43}"/>
              </a:ext>
            </a:extLst>
          </p:cNvPr>
          <p:cNvSpPr txBox="1"/>
          <p:nvPr/>
        </p:nvSpPr>
        <p:spPr>
          <a:xfrm>
            <a:off x="4572000" y="2359883"/>
            <a:ext cx="1524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E8633F"/>
                </a:solidFill>
                <a:latin typeface="Meiryo" panose="020B0604030504040204" pitchFamily="50" charset="-128"/>
              </a:rPr>
              <a:t>49</a:t>
            </a:r>
            <a:endParaRPr kumimoji="1" lang="ja-JP" altLang="en-US" sz="1500" b="1">
              <a:solidFill>
                <a:srgbClr val="E8633F"/>
              </a:solidFill>
              <a:latin typeface="Meiryo" panose="020B0604030504040204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5F16219-CECE-B5B5-4B36-E0F1F1CA3F18}"/>
              </a:ext>
            </a:extLst>
          </p:cNvPr>
          <p:cNvSpPr/>
          <p:nvPr/>
        </p:nvSpPr>
        <p:spPr>
          <a:xfrm>
            <a:off x="6096000" y="2336800"/>
            <a:ext cx="1905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CB0A532-75C0-78B2-E5E6-F4ED27AEF07D}"/>
              </a:ext>
            </a:extLst>
          </p:cNvPr>
          <p:cNvSpPr txBox="1"/>
          <p:nvPr/>
        </p:nvSpPr>
        <p:spPr>
          <a:xfrm>
            <a:off x="6096000" y="2382966"/>
            <a:ext cx="1905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ダンス全国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2CF15D1-47A2-4BD0-554C-756DBB5EB727}"/>
              </a:ext>
            </a:extLst>
          </p:cNvPr>
          <p:cNvSpPr/>
          <p:nvPr/>
        </p:nvSpPr>
        <p:spPr>
          <a:xfrm>
            <a:off x="8001000" y="2336800"/>
            <a:ext cx="1143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C798E53-CB8B-1628-DDC7-5D6A453BB361}"/>
              </a:ext>
            </a:extLst>
          </p:cNvPr>
          <p:cNvSpPr txBox="1"/>
          <p:nvPr/>
        </p:nvSpPr>
        <p:spPr>
          <a:xfrm>
            <a:off x="8001000" y="2382966"/>
            <a:ext cx="1143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3.5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874EB1E-7A20-7175-C0C9-B339EC3416D3}"/>
              </a:ext>
            </a:extLst>
          </p:cNvPr>
          <p:cNvSpPr/>
          <p:nvPr/>
        </p:nvSpPr>
        <p:spPr>
          <a:xfrm>
            <a:off x="9144000" y="2336800"/>
            <a:ext cx="1651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B3F80E6-214E-E5B2-E3C5-2209A2F600A7}"/>
              </a:ext>
            </a:extLst>
          </p:cNvPr>
          <p:cNvSpPr txBox="1"/>
          <p:nvPr/>
        </p:nvSpPr>
        <p:spPr>
          <a:xfrm>
            <a:off x="9144000" y="2382966"/>
            <a:ext cx="1651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〇上小田井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611A08C-C7B0-F2F2-3B37-CC6B12E7C433}"/>
              </a:ext>
            </a:extLst>
          </p:cNvPr>
          <p:cNvSpPr/>
          <p:nvPr/>
        </p:nvSpPr>
        <p:spPr>
          <a:xfrm>
            <a:off x="508000" y="3073400"/>
            <a:ext cx="266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270C18CB-1763-A3CA-6C0F-AF3CD8871EB8}"/>
              </a:ext>
            </a:extLst>
          </p:cNvPr>
          <p:cNvSpPr/>
          <p:nvPr/>
        </p:nvSpPr>
        <p:spPr>
          <a:xfrm>
            <a:off x="609600" y="3365500"/>
            <a:ext cx="152400" cy="152400"/>
          </a:xfrm>
          <a:prstGeom prst="ellipse">
            <a:avLst/>
          </a:prstGeom>
          <a:solidFill>
            <a:srgbClr val="7B5E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DA3A3B26-64B9-F84E-FB16-9AC4BA7AF7C4}"/>
              </a:ext>
            </a:extLst>
          </p:cNvPr>
          <p:cNvSpPr txBox="1"/>
          <p:nvPr/>
        </p:nvSpPr>
        <p:spPr>
          <a:xfrm>
            <a:off x="838200" y="3119566"/>
            <a:ext cx="228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zh-TW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愛知県立 中村高校</a:t>
            </a:r>
            <a:endParaRPr kumimoji="1" lang="ja-JP" altLang="en-US" sz="1200" b="1">
              <a:solidFill>
                <a:srgbClr val="1E2761"/>
              </a:solidFill>
              <a:latin typeface="Meiryo" panose="020B0604030504040204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4FDC0C81-F8F9-B6EB-5372-F17ECBC802B6}"/>
              </a:ext>
            </a:extLst>
          </p:cNvPr>
          <p:cNvSpPr/>
          <p:nvPr/>
        </p:nvSpPr>
        <p:spPr>
          <a:xfrm>
            <a:off x="3175000" y="3073400"/>
            <a:ext cx="1397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8F94A9B9-DCFD-C1FE-16E3-2431C5C4B8EE}"/>
              </a:ext>
            </a:extLst>
          </p:cNvPr>
          <p:cNvSpPr txBox="1"/>
          <p:nvPr/>
        </p:nvSpPr>
        <p:spPr>
          <a:xfrm>
            <a:off x="3175000" y="3119566"/>
            <a:ext cx="1397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中村区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18F8976-F0BD-7986-1607-F82CBE5F2380}"/>
              </a:ext>
            </a:extLst>
          </p:cNvPr>
          <p:cNvSpPr/>
          <p:nvPr/>
        </p:nvSpPr>
        <p:spPr>
          <a:xfrm>
            <a:off x="4572000" y="3073400"/>
            <a:ext cx="1524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D2920966-8E50-BBE3-9E25-A43B0B8E9FBC}"/>
              </a:ext>
            </a:extLst>
          </p:cNvPr>
          <p:cNvSpPr txBox="1"/>
          <p:nvPr/>
        </p:nvSpPr>
        <p:spPr>
          <a:xfrm>
            <a:off x="4572000" y="3096483"/>
            <a:ext cx="1524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7B5EA7"/>
                </a:solidFill>
                <a:latin typeface="Meiryo" panose="020B0604030504040204" pitchFamily="50" charset="-128"/>
              </a:rPr>
              <a:t>50</a:t>
            </a:r>
            <a:endParaRPr kumimoji="1" lang="ja-JP" altLang="en-US" sz="1500" b="1">
              <a:solidFill>
                <a:srgbClr val="7B5EA7"/>
              </a:solidFill>
              <a:latin typeface="Meiryo" panose="020B0604030504040204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1B1D36B-914F-99AD-CC05-38C70F9DB818}"/>
              </a:ext>
            </a:extLst>
          </p:cNvPr>
          <p:cNvSpPr/>
          <p:nvPr/>
        </p:nvSpPr>
        <p:spPr>
          <a:xfrm>
            <a:off x="6096000" y="3073400"/>
            <a:ext cx="1905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0F60461F-C926-F0A8-2A4F-A1C3C3E452BE}"/>
              </a:ext>
            </a:extLst>
          </p:cNvPr>
          <p:cNvSpPr txBox="1"/>
          <p:nvPr/>
        </p:nvSpPr>
        <p:spPr>
          <a:xfrm>
            <a:off x="6096000" y="3119566"/>
            <a:ext cx="1905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文化も充実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1802B67A-992B-622D-C5CA-920AF3511430}"/>
              </a:ext>
            </a:extLst>
          </p:cNvPr>
          <p:cNvSpPr/>
          <p:nvPr/>
        </p:nvSpPr>
        <p:spPr>
          <a:xfrm>
            <a:off x="8001000" y="3073400"/>
            <a:ext cx="1143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EF208A2-2A10-F004-255E-F84E2D85B39B}"/>
              </a:ext>
            </a:extLst>
          </p:cNvPr>
          <p:cNvSpPr txBox="1"/>
          <p:nvPr/>
        </p:nvSpPr>
        <p:spPr>
          <a:xfrm>
            <a:off x="8001000" y="3119566"/>
            <a:ext cx="1143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--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95EBE713-72A6-34AA-EC13-6229D57FFB25}"/>
              </a:ext>
            </a:extLst>
          </p:cNvPr>
          <p:cNvSpPr/>
          <p:nvPr/>
        </p:nvSpPr>
        <p:spPr>
          <a:xfrm>
            <a:off x="9144000" y="3073400"/>
            <a:ext cx="1651000" cy="73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5D4B65A1-DEA6-D5A0-C5A2-099B431D7D26}"/>
              </a:ext>
            </a:extLst>
          </p:cNvPr>
          <p:cNvSpPr txBox="1"/>
          <p:nvPr/>
        </p:nvSpPr>
        <p:spPr>
          <a:xfrm>
            <a:off x="9144000" y="3119566"/>
            <a:ext cx="1651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〇中村区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BF8463DF-651C-AFE7-6FA4-4C8285C15879}"/>
              </a:ext>
            </a:extLst>
          </p:cNvPr>
          <p:cNvSpPr/>
          <p:nvPr/>
        </p:nvSpPr>
        <p:spPr>
          <a:xfrm>
            <a:off x="508000" y="3810000"/>
            <a:ext cx="2667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D4DD36E3-A7DF-DFA3-3EB0-8127265FC15A}"/>
              </a:ext>
            </a:extLst>
          </p:cNvPr>
          <p:cNvSpPr/>
          <p:nvPr/>
        </p:nvSpPr>
        <p:spPr>
          <a:xfrm>
            <a:off x="609600" y="4102100"/>
            <a:ext cx="152400" cy="152400"/>
          </a:xfrm>
          <a:prstGeom prst="ellipse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4D60445-8DA5-8681-ECA8-A116A152DDDD}"/>
              </a:ext>
            </a:extLst>
          </p:cNvPr>
          <p:cNvSpPr txBox="1"/>
          <p:nvPr/>
        </p:nvSpPr>
        <p:spPr>
          <a:xfrm>
            <a:off x="838200" y="3856166"/>
            <a:ext cx="228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zh-TW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愛知県立 春日井南</a:t>
            </a:r>
            <a:endParaRPr kumimoji="1" lang="ja-JP" altLang="en-US" sz="1200" b="1">
              <a:solidFill>
                <a:srgbClr val="1E2761"/>
              </a:solidFill>
              <a:latin typeface="Meiryo" panose="020B0604030504040204" pitchFamily="50" charset="-128"/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CAFAC87A-AE3F-9D07-F7FC-D32C68C9B61C}"/>
              </a:ext>
            </a:extLst>
          </p:cNvPr>
          <p:cNvSpPr/>
          <p:nvPr/>
        </p:nvSpPr>
        <p:spPr>
          <a:xfrm>
            <a:off x="3175000" y="3810000"/>
            <a:ext cx="1397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6F052F8A-8E7C-4EBB-D179-F0BB7A663378}"/>
              </a:ext>
            </a:extLst>
          </p:cNvPr>
          <p:cNvSpPr txBox="1"/>
          <p:nvPr/>
        </p:nvSpPr>
        <p:spPr>
          <a:xfrm>
            <a:off x="3175000" y="3856166"/>
            <a:ext cx="1397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春日井市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EA795D6D-710B-3760-7AE5-EDB641F59D1B}"/>
              </a:ext>
            </a:extLst>
          </p:cNvPr>
          <p:cNvSpPr/>
          <p:nvPr/>
        </p:nvSpPr>
        <p:spPr>
          <a:xfrm>
            <a:off x="4572000" y="3810000"/>
            <a:ext cx="1524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E88E770-7492-B9D1-41AF-32E803DE2ACC}"/>
              </a:ext>
            </a:extLst>
          </p:cNvPr>
          <p:cNvSpPr txBox="1"/>
          <p:nvPr/>
        </p:nvSpPr>
        <p:spPr>
          <a:xfrm>
            <a:off x="4572000" y="3833083"/>
            <a:ext cx="1524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2E8B57"/>
                </a:solidFill>
                <a:latin typeface="Meiryo" panose="020B0604030504040204" pitchFamily="50" charset="-128"/>
              </a:rPr>
              <a:t>54</a:t>
            </a:r>
            <a:endParaRPr kumimoji="1" lang="ja-JP" altLang="en-US" sz="1500" b="1">
              <a:solidFill>
                <a:srgbClr val="2E8B57"/>
              </a:solidFill>
              <a:latin typeface="Meiryo" panose="020B0604030504040204" pitchFamily="50" charset="-128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905A38CF-1425-3ED3-AE00-02D97D82E6DA}"/>
              </a:ext>
            </a:extLst>
          </p:cNvPr>
          <p:cNvSpPr/>
          <p:nvPr/>
        </p:nvSpPr>
        <p:spPr>
          <a:xfrm>
            <a:off x="6096000" y="3810000"/>
            <a:ext cx="1905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EC85C6BE-29DA-9248-573B-A23EFDF5A438}"/>
              </a:ext>
            </a:extLst>
          </p:cNvPr>
          <p:cNvSpPr txBox="1"/>
          <p:nvPr/>
        </p:nvSpPr>
        <p:spPr>
          <a:xfrm>
            <a:off x="6096000" y="3856166"/>
            <a:ext cx="1905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ハンド全国</a:t>
            </a: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BBD8EE76-6CCE-CC30-F493-1EDB52C5FE51}"/>
              </a:ext>
            </a:extLst>
          </p:cNvPr>
          <p:cNvSpPr/>
          <p:nvPr/>
        </p:nvSpPr>
        <p:spPr>
          <a:xfrm>
            <a:off x="8001000" y="3810000"/>
            <a:ext cx="1143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3BD50671-7490-D305-DBAF-9DAA8F8E81DA}"/>
              </a:ext>
            </a:extLst>
          </p:cNvPr>
          <p:cNvSpPr txBox="1"/>
          <p:nvPr/>
        </p:nvSpPr>
        <p:spPr>
          <a:xfrm>
            <a:off x="8001000" y="3856166"/>
            <a:ext cx="1143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3.9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37268C6-3237-CD2E-56A8-A9BD265343E5}"/>
              </a:ext>
            </a:extLst>
          </p:cNvPr>
          <p:cNvSpPr/>
          <p:nvPr/>
        </p:nvSpPr>
        <p:spPr>
          <a:xfrm>
            <a:off x="9144000" y="3810000"/>
            <a:ext cx="1651000" cy="7366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652302DB-F4F6-4676-0134-35695D6A46B1}"/>
              </a:ext>
            </a:extLst>
          </p:cNvPr>
          <p:cNvSpPr txBox="1"/>
          <p:nvPr/>
        </p:nvSpPr>
        <p:spPr>
          <a:xfrm>
            <a:off x="9144000" y="3856166"/>
            <a:ext cx="1651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△市外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C7A433FD-BEF3-8733-F1BB-7780B1978F6D}"/>
              </a:ext>
            </a:extLst>
          </p:cNvPr>
          <p:cNvSpPr txBox="1"/>
          <p:nvPr/>
        </p:nvSpPr>
        <p:spPr>
          <a:xfrm>
            <a:off x="508000" y="46482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「評判」はみんなの高校情報の総合評価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(5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点満点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。所要時間は自宅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北区鳩岡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からの目安。各校くわしくは次ページ以降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(1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校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2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ページ</a:t>
            </a:r>
            <a:r>
              <a:rPr kumimoji="1" lang="en-US" altLang="ja-JP" sz="11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6B7280"/>
                </a:solidFill>
                <a:latin typeface="Meiryo" panose="020B0604030504040204" pitchFamily="50" charset="-128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57933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811805B-708E-982C-F67B-57E33AFF8EB4}"/>
              </a:ext>
            </a:extLst>
          </p:cNvPr>
          <p:cNvSpPr/>
          <p:nvPr/>
        </p:nvSpPr>
        <p:spPr>
          <a:xfrm>
            <a:off x="508000" y="330200"/>
            <a:ext cx="7924800" cy="635000"/>
          </a:xfrm>
          <a:prstGeom prst="roundRect">
            <a:avLst/>
          </a:prstGeom>
          <a:solidFill>
            <a:srgbClr val="0E8C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2C8C3A-8D44-0E39-6CFB-7C78DF876938}"/>
              </a:ext>
            </a:extLst>
          </p:cNvPr>
          <p:cNvSpPr txBox="1"/>
          <p:nvPr/>
        </p:nvSpPr>
        <p:spPr>
          <a:xfrm>
            <a:off x="736600" y="314811"/>
            <a:ext cx="7620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名古屋市立 北高校　①基本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36C018-67AC-E97F-94CE-C9D2FD57065D}"/>
              </a:ext>
            </a:extLst>
          </p:cNvPr>
          <p:cNvSpPr txBox="1"/>
          <p:nvPr/>
        </p:nvSpPr>
        <p:spPr>
          <a:xfrm>
            <a:off x="558800" y="1016000"/>
            <a:ext cx="7924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名古屋市北区如来町／自宅と同じ北区＝最短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A73E27E-C405-9838-BB51-E752E0CCDD3F}"/>
              </a:ext>
            </a:extLst>
          </p:cNvPr>
          <p:cNvSpPr/>
          <p:nvPr/>
        </p:nvSpPr>
        <p:spPr>
          <a:xfrm>
            <a:off x="8712200" y="330200"/>
            <a:ext cx="2971800" cy="965200"/>
          </a:xfrm>
          <a:prstGeom prst="roundRect">
            <a:avLst/>
          </a:prstGeom>
          <a:solidFill>
            <a:srgbClr val="F2F5FC"/>
          </a:solidFill>
          <a:ln w="15875">
            <a:solidFill>
              <a:srgbClr val="0E8C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E88595-3A5D-D6C9-58F9-656DF26F17E4}"/>
              </a:ext>
            </a:extLst>
          </p:cNvPr>
          <p:cNvSpPr txBox="1"/>
          <p:nvPr/>
        </p:nvSpPr>
        <p:spPr>
          <a:xfrm>
            <a:off x="8712200" y="406400"/>
            <a:ext cx="2971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偏差値（目安）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01B1821-9756-C52E-15C0-7C7706A3D512}"/>
              </a:ext>
            </a:extLst>
          </p:cNvPr>
          <p:cNvSpPr txBox="1"/>
          <p:nvPr/>
        </p:nvSpPr>
        <p:spPr>
          <a:xfrm>
            <a:off x="8712200" y="584200"/>
            <a:ext cx="2971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en-US" altLang="ja-JP" sz="2600" b="1">
                <a:solidFill>
                  <a:srgbClr val="0E8C8B"/>
                </a:solidFill>
                <a:latin typeface="Meiryo" panose="020B0604030504040204" pitchFamily="50" charset="-128"/>
              </a:rPr>
              <a:t>50</a:t>
            </a:r>
            <a:endParaRPr kumimoji="1" lang="ja-JP" altLang="en-US" sz="2600" b="1">
              <a:solidFill>
                <a:srgbClr val="0E8C8B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E7A920-117E-1903-0F5A-45345405CB24}"/>
              </a:ext>
            </a:extLst>
          </p:cNvPr>
          <p:cNvSpPr txBox="1"/>
          <p:nvPr/>
        </p:nvSpPr>
        <p:spPr>
          <a:xfrm>
            <a:off x="8712200" y="1066800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zh-TW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普通科</a:t>
            </a:r>
            <a:r>
              <a:rPr kumimoji="1" lang="en-US" altLang="zh-TW" sz="1000">
                <a:solidFill>
                  <a:srgbClr val="6B7280"/>
                </a:solidFill>
                <a:latin typeface="Meiryo" panose="020B0604030504040204" pitchFamily="50" charset="-128"/>
              </a:rPr>
              <a:t>(</a:t>
            </a:r>
            <a:r>
              <a:rPr kumimoji="1" lang="zh-TW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特進</a:t>
            </a:r>
            <a:r>
              <a:rPr kumimoji="1" lang="en-US" altLang="zh-TW" sz="1000">
                <a:solidFill>
                  <a:srgbClr val="6B7280"/>
                </a:solidFill>
                <a:latin typeface="Meiryo" panose="020B0604030504040204" pitchFamily="50" charset="-128"/>
              </a:rPr>
              <a:t>/</a:t>
            </a:r>
            <a:r>
              <a:rPr kumimoji="1" lang="zh-TW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国際理解</a:t>
            </a:r>
            <a:r>
              <a:rPr kumimoji="1" lang="en-US" altLang="zh-TW" sz="10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endParaRPr kumimoji="1" lang="ja-JP" altLang="en-US" sz="10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068BDA6-0818-0D63-C7B7-B602DA79EB0E}"/>
              </a:ext>
            </a:extLst>
          </p:cNvPr>
          <p:cNvSpPr/>
          <p:nvPr/>
        </p:nvSpPr>
        <p:spPr>
          <a:xfrm>
            <a:off x="8712200" y="1371600"/>
            <a:ext cx="2971800" cy="355600"/>
          </a:xfrm>
          <a:prstGeom prst="roundRect">
            <a:avLst/>
          </a:prstGeom>
          <a:solidFill>
            <a:srgbClr val="0E8C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5163242-4CEB-15D0-28F7-BE4FD51CA4EC}"/>
              </a:ext>
            </a:extLst>
          </p:cNvPr>
          <p:cNvSpPr txBox="1"/>
          <p:nvPr/>
        </p:nvSpPr>
        <p:spPr>
          <a:xfrm>
            <a:off x="8712200" y="1433155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国際理解コースあり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BB051CD-F7D1-21F8-F6E0-4EC1648312F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831975"/>
            <a:ext cx="2971800" cy="222885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2307D3C-424A-F07F-63EF-D82E34E3E97F}"/>
              </a:ext>
            </a:extLst>
          </p:cNvPr>
          <p:cNvSpPr txBox="1"/>
          <p:nvPr/>
        </p:nvSpPr>
        <p:spPr>
          <a:xfrm>
            <a:off x="8712200" y="4089400"/>
            <a:ext cx="2971800" cy="16414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zh-CN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制服（参考写真）出典：</a:t>
            </a:r>
            <a:r>
              <a:rPr kumimoji="1" lang="en-US" altLang="zh-CN" sz="900">
                <a:solidFill>
                  <a:srgbClr val="6B7280"/>
                </a:solidFill>
                <a:latin typeface="Meiryo" panose="020B0604030504040204" pitchFamily="50" charset="-128"/>
              </a:rPr>
              <a:t>A-</a:t>
            </a:r>
            <a:r>
              <a:rPr kumimoji="1" lang="zh-CN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制服店</a:t>
            </a:r>
            <a:r>
              <a:rPr kumimoji="1" lang="en-US" altLang="zh-CN" sz="900">
                <a:solidFill>
                  <a:srgbClr val="6B7280"/>
                </a:solidFill>
                <a:latin typeface="Meiryo" panose="020B0604030504040204" pitchFamily="50" charset="-128"/>
              </a:rPr>
              <a:t>.com</a:t>
            </a:r>
            <a:endParaRPr kumimoji="1" lang="ja-JP" altLang="en-US" sz="9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6B7D808-C71A-4393-9B80-62A79ADD7921}"/>
              </a:ext>
            </a:extLst>
          </p:cNvPr>
          <p:cNvSpPr/>
          <p:nvPr/>
        </p:nvSpPr>
        <p:spPr>
          <a:xfrm>
            <a:off x="508000" y="1473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5070FF8-C94F-3DB7-0F64-5DF1DED0FF46}"/>
              </a:ext>
            </a:extLst>
          </p:cNvPr>
          <p:cNvSpPr txBox="1"/>
          <p:nvPr/>
        </p:nvSpPr>
        <p:spPr>
          <a:xfrm>
            <a:off x="660400" y="1511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0E8C8B"/>
                </a:solidFill>
                <a:latin typeface="Meiryo" panose="020B0604030504040204" pitchFamily="50" charset="-128"/>
              </a:rPr>
              <a:t>学科・コース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8F321ED-8FBD-F54F-161E-359109589453}"/>
              </a:ext>
            </a:extLst>
          </p:cNvPr>
          <p:cNvSpPr txBox="1"/>
          <p:nvPr/>
        </p:nvSpPr>
        <p:spPr>
          <a:xfrm>
            <a:off x="2286000" y="1519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普通科。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2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年から特進コース／国際理解コース。国際理解は英語・留学プログラムが充実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2A63A8C-FFCE-4FE1-F3B4-F1B89EC36BE4}"/>
              </a:ext>
            </a:extLst>
          </p:cNvPr>
          <p:cNvSpPr/>
          <p:nvPr/>
        </p:nvSpPr>
        <p:spPr>
          <a:xfrm>
            <a:off x="508000" y="2235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8D5012C-142D-FC76-223A-4D12C2F8E0B4}"/>
              </a:ext>
            </a:extLst>
          </p:cNvPr>
          <p:cNvSpPr txBox="1"/>
          <p:nvPr/>
        </p:nvSpPr>
        <p:spPr>
          <a:xfrm>
            <a:off x="660400" y="2273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0E8C8B"/>
                </a:solidFill>
                <a:latin typeface="Meiryo" panose="020B0604030504040204" pitchFamily="50" charset="-128"/>
              </a:rPr>
              <a:t>進学・特色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8E36F0-D206-45D0-F282-DAFD94256F8F}"/>
              </a:ext>
            </a:extLst>
          </p:cNvPr>
          <p:cNvSpPr txBox="1"/>
          <p:nvPr/>
        </p:nvSpPr>
        <p:spPr>
          <a:xfrm>
            <a:off x="2286000" y="2189034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大学進学が約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7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割。地元国公立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愛知教育大・名市大・愛知県立大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＋私大。音楽部が全国級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3EF95923-ED34-B4DA-37F7-440E97549A02}"/>
              </a:ext>
            </a:extLst>
          </p:cNvPr>
          <p:cNvSpPr/>
          <p:nvPr/>
        </p:nvSpPr>
        <p:spPr>
          <a:xfrm>
            <a:off x="508000" y="2997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AAC9819-A561-2EC9-A0BC-C307D21FD1C1}"/>
              </a:ext>
            </a:extLst>
          </p:cNvPr>
          <p:cNvSpPr txBox="1"/>
          <p:nvPr/>
        </p:nvSpPr>
        <p:spPr>
          <a:xfrm>
            <a:off x="660400" y="3035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0E8C8B"/>
                </a:solidFill>
                <a:latin typeface="Meiryo" panose="020B0604030504040204" pitchFamily="50" charset="-128"/>
              </a:rPr>
              <a:t>最寄り駅・自宅から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5B2B6C6-D345-0A36-0611-6EEC03A5B08F}"/>
              </a:ext>
            </a:extLst>
          </p:cNvPr>
          <p:cNvSpPr txBox="1"/>
          <p:nvPr/>
        </p:nvSpPr>
        <p:spPr>
          <a:xfrm>
            <a:off x="2286000" y="2951033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JR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城北線「比良」駅＋市バス。自宅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北区鳩岡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から自転車約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15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分／バス停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城北小学校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も。市内同区で最短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目安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】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4E7B630B-C682-D5A8-2917-50E21401E83B}"/>
              </a:ext>
            </a:extLst>
          </p:cNvPr>
          <p:cNvSpPr/>
          <p:nvPr/>
        </p:nvSpPr>
        <p:spPr>
          <a:xfrm>
            <a:off x="508000" y="3759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51D2CF7-0FE9-BA83-A99D-C14C9CFBF186}"/>
              </a:ext>
            </a:extLst>
          </p:cNvPr>
          <p:cNvSpPr txBox="1"/>
          <p:nvPr/>
        </p:nvSpPr>
        <p:spPr>
          <a:xfrm>
            <a:off x="660400" y="3797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0E8C8B"/>
                </a:solidFill>
                <a:latin typeface="Meiryo" panose="020B0604030504040204" pitchFamily="50" charset="-128"/>
              </a:rPr>
              <a:t>通学・その他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DDFD753-270B-B920-5348-D7D633D5F296}"/>
              </a:ext>
            </a:extLst>
          </p:cNvPr>
          <p:cNvSpPr txBox="1"/>
          <p:nvPr/>
        </p:nvSpPr>
        <p:spPr>
          <a:xfrm>
            <a:off x="2286000" y="3805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公立で学費が抑えられる。お弁当＋購買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専用食堂なし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B63AEC1-30EE-36AA-F155-4F6C66F599B3}"/>
              </a:ext>
            </a:extLst>
          </p:cNvPr>
          <p:cNvSpPr/>
          <p:nvPr/>
        </p:nvSpPr>
        <p:spPr>
          <a:xfrm>
            <a:off x="508000" y="4724400"/>
            <a:ext cx="11176000" cy="5080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41FA24B-23C2-7191-22CD-F92CC647E49B}"/>
              </a:ext>
            </a:extLst>
          </p:cNvPr>
          <p:cNvSpPr txBox="1"/>
          <p:nvPr/>
        </p:nvSpPr>
        <p:spPr>
          <a:xfrm>
            <a:off x="685800" y="4770567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▶ 次のページ②に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部活動・校風校則・口コミの良い点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気になる点・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年度の日程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】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を掲載しています。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338CC5C2-A6EA-6395-A1E6-8A6FD4A25AB8}"/>
              </a:ext>
            </a:extLst>
          </p:cNvPr>
          <p:cNvSpPr/>
          <p:nvPr/>
        </p:nvSpPr>
        <p:spPr>
          <a:xfrm>
            <a:off x="508000" y="6172200"/>
            <a:ext cx="11176000" cy="4064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7E55F36-1A24-354C-A4B0-12B208ADB09A}"/>
              </a:ext>
            </a:extLst>
          </p:cNvPr>
          <p:cNvSpPr txBox="1"/>
          <p:nvPr/>
        </p:nvSpPr>
        <p:spPr>
          <a:xfrm>
            <a:off x="685800" y="6218366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1A56C4"/>
                </a:solidFill>
                <a:latin typeface="Meiryo" panose="020B0604030504040204" pitchFamily="50" charset="-128"/>
                <a:hlinkClick r:id="rId3"/>
              </a:rPr>
              <a:t>▶ 北高校のくわしい情報（口コミ・偏差値・制服）はこちら（みんなの高校情報）</a:t>
            </a:r>
            <a:endParaRPr kumimoji="1" lang="ja-JP" altLang="en-US" sz="12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7225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FE6D177-185A-7798-F039-F5A84BAF30BB}"/>
              </a:ext>
            </a:extLst>
          </p:cNvPr>
          <p:cNvSpPr/>
          <p:nvPr/>
        </p:nvSpPr>
        <p:spPr>
          <a:xfrm>
            <a:off x="508000" y="330200"/>
            <a:ext cx="11176000" cy="584200"/>
          </a:xfrm>
          <a:prstGeom prst="roundRect">
            <a:avLst/>
          </a:prstGeom>
          <a:solidFill>
            <a:srgbClr val="0E8C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DC53C1E-14DF-716C-B39F-E115410924B8}"/>
              </a:ext>
            </a:extLst>
          </p:cNvPr>
          <p:cNvSpPr txBox="1"/>
          <p:nvPr/>
        </p:nvSpPr>
        <p:spPr>
          <a:xfrm>
            <a:off x="736600" y="314811"/>
            <a:ext cx="10922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名古屋市立 北高校　②部活・校風・口コミ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ED94BFF-8DCC-1FD7-3A2E-AE208774E33F}"/>
              </a:ext>
            </a:extLst>
          </p:cNvPr>
          <p:cNvSpPr/>
          <p:nvPr/>
        </p:nvSpPr>
        <p:spPr>
          <a:xfrm>
            <a:off x="508000" y="1066800"/>
            <a:ext cx="5461000" cy="1930400"/>
          </a:xfrm>
          <a:prstGeom prst="roundRect">
            <a:avLst/>
          </a:prstGeom>
          <a:solidFill>
            <a:srgbClr val="EA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BB770F-9108-2E3A-00ED-F1B3C15B1079}"/>
              </a:ext>
            </a:extLst>
          </p:cNvPr>
          <p:cNvSpPr txBox="1"/>
          <p:nvPr/>
        </p:nvSpPr>
        <p:spPr>
          <a:xfrm>
            <a:off x="711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2761"/>
                </a:solidFill>
                <a:latin typeface="Meiryo" panose="020B0604030504040204" pitchFamily="50" charset="-128"/>
              </a:rPr>
              <a:t>■ 部活動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38BEF5-B043-61F4-A2CB-937BB487FB5F}"/>
              </a:ext>
            </a:extLst>
          </p:cNvPr>
          <p:cNvSpPr txBox="1"/>
          <p:nvPr/>
        </p:nvSpPr>
        <p:spPr>
          <a:xfrm>
            <a:off x="711200" y="1498600"/>
            <a:ext cx="5130800" cy="55656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・文化部がとても強い。特に音楽部は全国レベルの強豪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・運動部は標準的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目立った全国実績は少なめ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野球部・吹奏楽部は設置なし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F0EB3E4-C066-4AD9-E693-8B52D6C0BD47}"/>
              </a:ext>
            </a:extLst>
          </p:cNvPr>
          <p:cNvSpPr/>
          <p:nvPr/>
        </p:nvSpPr>
        <p:spPr>
          <a:xfrm>
            <a:off x="6223000" y="1066800"/>
            <a:ext cx="5461000" cy="1930400"/>
          </a:xfrm>
          <a:prstGeom prst="roundRect">
            <a:avLst/>
          </a:prstGeom>
          <a:solidFill>
            <a:srgbClr val="F3EF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E6E9ECD-9C91-AED0-3C1B-ED9971BED484}"/>
              </a:ext>
            </a:extLst>
          </p:cNvPr>
          <p:cNvSpPr txBox="1"/>
          <p:nvPr/>
        </p:nvSpPr>
        <p:spPr>
          <a:xfrm>
            <a:off x="6426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6B46A8"/>
                </a:solidFill>
                <a:latin typeface="Meiryo" panose="020B0604030504040204" pitchFamily="50" charset="-128"/>
              </a:rPr>
              <a:t>■ 校風・校則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A72706D-8329-7D25-7636-A0B4D51604B2}"/>
              </a:ext>
            </a:extLst>
          </p:cNvPr>
          <p:cNvSpPr txBox="1"/>
          <p:nvPr/>
        </p:nvSpPr>
        <p:spPr>
          <a:xfrm>
            <a:off x="6426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・校則は比較的ゆるめとの声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・スマホ：朝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〜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帰りの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ST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まで電源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OFF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でカバン保管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行事中は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OK)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・髪型は巻く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束ねるは自由／アルバイトは禁止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・制服は冬服が好評・夏服は不評との声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C388691-C130-65EC-E030-11A5162FA083}"/>
              </a:ext>
            </a:extLst>
          </p:cNvPr>
          <p:cNvSpPr/>
          <p:nvPr/>
        </p:nvSpPr>
        <p:spPr>
          <a:xfrm>
            <a:off x="508000" y="3124200"/>
            <a:ext cx="5461000" cy="1905000"/>
          </a:xfrm>
          <a:prstGeom prst="roundRect">
            <a:avLst/>
          </a:prstGeom>
          <a:solidFill>
            <a:srgbClr val="E7F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E58C39-626B-75EB-E2C5-351E469B8542}"/>
              </a:ext>
            </a:extLst>
          </p:cNvPr>
          <p:cNvSpPr txBox="1"/>
          <p:nvPr/>
        </p:nvSpPr>
        <p:spPr>
          <a:xfrm>
            <a:off x="711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7A43"/>
                </a:solidFill>
                <a:latin typeface="Meiryo" panose="020B0604030504040204" pitchFamily="50" charset="-128"/>
              </a:rPr>
              <a:t>■ 口コミの良い点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002D818-A273-E62F-628D-65BEFD7470F4}"/>
              </a:ext>
            </a:extLst>
          </p:cNvPr>
          <p:cNvSpPr txBox="1"/>
          <p:nvPr/>
        </p:nvSpPr>
        <p:spPr>
          <a:xfrm>
            <a:off x="711200" y="35560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・地元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同じ北区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で通いやすい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・国際理解コースで英語・留学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・音楽部など文化部が全国級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・公立で学費が抑えられる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6932E6D-4DC3-832D-4CCE-2E661E873200}"/>
              </a:ext>
            </a:extLst>
          </p:cNvPr>
          <p:cNvSpPr/>
          <p:nvPr/>
        </p:nvSpPr>
        <p:spPr>
          <a:xfrm>
            <a:off x="6223000" y="3124200"/>
            <a:ext cx="5461000" cy="1905000"/>
          </a:xfrm>
          <a:prstGeom prst="roundRect">
            <a:avLst/>
          </a:prstGeom>
          <a:solidFill>
            <a:srgbClr val="FB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BBE83C3-6C38-3C67-55D2-F86919DE6F7F}"/>
              </a:ext>
            </a:extLst>
          </p:cNvPr>
          <p:cNvSpPr txBox="1"/>
          <p:nvPr/>
        </p:nvSpPr>
        <p:spPr>
          <a:xfrm>
            <a:off x="6426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B23B3B"/>
                </a:solidFill>
                <a:latin typeface="Meiryo" panose="020B0604030504040204" pitchFamily="50" charset="-128"/>
              </a:rPr>
              <a:t>■ 気になる点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26396CB-CA7D-1DC2-9215-1F6B6F7A865E}"/>
              </a:ext>
            </a:extLst>
          </p:cNvPr>
          <p:cNvSpPr txBox="1"/>
          <p:nvPr/>
        </p:nvSpPr>
        <p:spPr>
          <a:xfrm>
            <a:off x="6426200" y="3556000"/>
            <a:ext cx="5130800" cy="55656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・課題・提出物が多めとの声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・駅から遠くバス・自転車が前提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・先生により対応差との声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31CB212-FBD4-8C00-7633-54E36802171D}"/>
              </a:ext>
            </a:extLst>
          </p:cNvPr>
          <p:cNvSpPr/>
          <p:nvPr/>
        </p:nvSpPr>
        <p:spPr>
          <a:xfrm>
            <a:off x="508000" y="5156200"/>
            <a:ext cx="11176000" cy="889000"/>
          </a:xfrm>
          <a:prstGeom prst="roundRect">
            <a:avLst/>
          </a:prstGeom>
          <a:solidFill>
            <a:srgbClr val="FFF4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1D97A18-FE53-12C7-50CE-9600F0265674}"/>
              </a:ext>
            </a:extLst>
          </p:cNvPr>
          <p:cNvSpPr txBox="1"/>
          <p:nvPr/>
        </p:nvSpPr>
        <p:spPr>
          <a:xfrm>
            <a:off x="685800" y="52070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■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年度（令和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8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年度）の日程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最新は公式で要確認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BE31723-62F8-33DD-27B3-99FBC393FAD3}"/>
              </a:ext>
            </a:extLst>
          </p:cNvPr>
          <p:cNvSpPr txBox="1"/>
          <p:nvPr/>
        </p:nvSpPr>
        <p:spPr>
          <a:xfrm>
            <a:off x="685800" y="5486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説明会・見学：国際理解コース説明会 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8/4(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火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)10:00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／学校見学会 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10/10(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土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)13:30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D43A30B-8639-CF6B-D8ED-A2D999D017E5}"/>
              </a:ext>
            </a:extLst>
          </p:cNvPr>
          <p:cNvSpPr txBox="1"/>
          <p:nvPr/>
        </p:nvSpPr>
        <p:spPr>
          <a:xfrm>
            <a:off x="685800" y="5740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文化祭：北高祭＝例年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9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月頃・要確認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D6AD8671-9068-9504-8130-D183A13911E4}"/>
              </a:ext>
            </a:extLst>
          </p:cNvPr>
          <p:cNvSpPr/>
          <p:nvPr/>
        </p:nvSpPr>
        <p:spPr>
          <a:xfrm>
            <a:off x="508000" y="6146800"/>
            <a:ext cx="11176000" cy="3810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5515CF7-3198-4B84-BDFD-561080A13FB9}"/>
              </a:ext>
            </a:extLst>
          </p:cNvPr>
          <p:cNvSpPr txBox="1"/>
          <p:nvPr/>
        </p:nvSpPr>
        <p:spPr>
          <a:xfrm>
            <a:off x="685800" y="6200661"/>
            <a:ext cx="10998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100">
                <a:solidFill>
                  <a:srgbClr val="1A56C4"/>
                </a:solidFill>
                <a:latin typeface="Meiryo" panose="020B0604030504040204" pitchFamily="50" charset="-128"/>
                <a:hlinkClick r:id="rId2"/>
              </a:rPr>
              <a:t>▶ 北高校のくわしい情報（口コミ・偏差値・制服）はこちら（みんなの高校情報）</a:t>
            </a:r>
            <a:endParaRPr kumimoji="1" lang="ja-JP" altLang="en-US" sz="11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41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41D9C9C-D6BD-43B4-5DEC-8EF68A8FF293}"/>
              </a:ext>
            </a:extLst>
          </p:cNvPr>
          <p:cNvSpPr/>
          <p:nvPr/>
        </p:nvSpPr>
        <p:spPr>
          <a:xfrm>
            <a:off x="508000" y="330200"/>
            <a:ext cx="7924800" cy="635000"/>
          </a:xfrm>
          <a:prstGeom prst="roundRect">
            <a:avLst/>
          </a:prstGeom>
          <a:solidFill>
            <a:srgbClr val="E863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7F54AE-D4A1-E18E-8304-07414E35B4B0}"/>
              </a:ext>
            </a:extLst>
          </p:cNvPr>
          <p:cNvSpPr txBox="1"/>
          <p:nvPr/>
        </p:nvSpPr>
        <p:spPr>
          <a:xfrm>
            <a:off x="736600" y="314811"/>
            <a:ext cx="7620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名古屋市立 山田高校　①基本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D4D454-B8EB-BF81-B809-18EE1F9356B5}"/>
              </a:ext>
            </a:extLst>
          </p:cNvPr>
          <p:cNvSpPr txBox="1"/>
          <p:nvPr/>
        </p:nvSpPr>
        <p:spPr>
          <a:xfrm>
            <a:off x="558800" y="1016000"/>
            <a:ext cx="7924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名古屋市西区二方町／最寄り 上小田井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6B232314-BBAD-3966-106D-6728EA9C26C3}"/>
              </a:ext>
            </a:extLst>
          </p:cNvPr>
          <p:cNvSpPr/>
          <p:nvPr/>
        </p:nvSpPr>
        <p:spPr>
          <a:xfrm>
            <a:off x="8712200" y="330200"/>
            <a:ext cx="2971800" cy="965200"/>
          </a:xfrm>
          <a:prstGeom prst="roundRect">
            <a:avLst/>
          </a:prstGeom>
          <a:solidFill>
            <a:srgbClr val="F2F5FC"/>
          </a:solidFill>
          <a:ln w="15875">
            <a:solidFill>
              <a:srgbClr val="E863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EC2D8FA-34B8-65D8-4486-0F59078D6BD5}"/>
              </a:ext>
            </a:extLst>
          </p:cNvPr>
          <p:cNvSpPr txBox="1"/>
          <p:nvPr/>
        </p:nvSpPr>
        <p:spPr>
          <a:xfrm>
            <a:off x="8712200" y="406400"/>
            <a:ext cx="2971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偏差値（目安）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F298247-E99E-B506-C4D1-DC5C11177BAC}"/>
              </a:ext>
            </a:extLst>
          </p:cNvPr>
          <p:cNvSpPr txBox="1"/>
          <p:nvPr/>
        </p:nvSpPr>
        <p:spPr>
          <a:xfrm>
            <a:off x="8712200" y="584200"/>
            <a:ext cx="2971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en-US" altLang="ja-JP" sz="2600" b="1">
                <a:solidFill>
                  <a:srgbClr val="E8633F"/>
                </a:solidFill>
                <a:latin typeface="Meiryo" panose="020B0604030504040204" pitchFamily="50" charset="-128"/>
              </a:rPr>
              <a:t>49</a:t>
            </a:r>
            <a:endParaRPr kumimoji="1" lang="ja-JP" altLang="en-US" sz="2600" b="1">
              <a:solidFill>
                <a:srgbClr val="E8633F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B929B83-310B-C9EA-ACBB-14AEAE8969CF}"/>
              </a:ext>
            </a:extLst>
          </p:cNvPr>
          <p:cNvSpPr txBox="1"/>
          <p:nvPr/>
        </p:nvSpPr>
        <p:spPr>
          <a:xfrm>
            <a:off x="8712200" y="1066800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普通科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5C98C95-E4F4-9A13-07D0-2BCD8410E6F8}"/>
              </a:ext>
            </a:extLst>
          </p:cNvPr>
          <p:cNvSpPr/>
          <p:nvPr/>
        </p:nvSpPr>
        <p:spPr>
          <a:xfrm>
            <a:off x="8712200" y="1371600"/>
            <a:ext cx="2971800" cy="355600"/>
          </a:xfrm>
          <a:prstGeom prst="roundRect">
            <a:avLst/>
          </a:prstGeom>
          <a:solidFill>
            <a:srgbClr val="E863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D45486-00EB-8385-AEE6-2CEBE3FD11DD}"/>
              </a:ext>
            </a:extLst>
          </p:cNvPr>
          <p:cNvSpPr txBox="1"/>
          <p:nvPr/>
        </p:nvSpPr>
        <p:spPr>
          <a:xfrm>
            <a:off x="8712200" y="1433155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明るい校風・行事が活発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4215CC53-9F3F-0446-A864-1B9CE26F0F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831975"/>
            <a:ext cx="2971800" cy="222885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7D449B8-3524-86F1-0330-9736A6A5CC3B}"/>
              </a:ext>
            </a:extLst>
          </p:cNvPr>
          <p:cNvSpPr txBox="1"/>
          <p:nvPr/>
        </p:nvSpPr>
        <p:spPr>
          <a:xfrm>
            <a:off x="8712200" y="4089400"/>
            <a:ext cx="2971800" cy="16414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zh-CN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制服（参考写真）出典：</a:t>
            </a:r>
            <a:r>
              <a:rPr kumimoji="1" lang="en-US" altLang="zh-CN" sz="900">
                <a:solidFill>
                  <a:srgbClr val="6B7280"/>
                </a:solidFill>
                <a:latin typeface="Meiryo" panose="020B0604030504040204" pitchFamily="50" charset="-128"/>
              </a:rPr>
              <a:t>A-</a:t>
            </a:r>
            <a:r>
              <a:rPr kumimoji="1" lang="zh-CN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制服店</a:t>
            </a:r>
            <a:r>
              <a:rPr kumimoji="1" lang="en-US" altLang="zh-CN" sz="900">
                <a:solidFill>
                  <a:srgbClr val="6B7280"/>
                </a:solidFill>
                <a:latin typeface="Meiryo" panose="020B0604030504040204" pitchFamily="50" charset="-128"/>
              </a:rPr>
              <a:t>.com</a:t>
            </a:r>
            <a:endParaRPr kumimoji="1" lang="ja-JP" altLang="en-US" sz="9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54C5D91-C6CC-8420-FCD0-7BB388454960}"/>
              </a:ext>
            </a:extLst>
          </p:cNvPr>
          <p:cNvSpPr/>
          <p:nvPr/>
        </p:nvSpPr>
        <p:spPr>
          <a:xfrm>
            <a:off x="508000" y="1473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B40FB28-E461-BF42-43DC-27C827FAD434}"/>
              </a:ext>
            </a:extLst>
          </p:cNvPr>
          <p:cNvSpPr txBox="1"/>
          <p:nvPr/>
        </p:nvSpPr>
        <p:spPr>
          <a:xfrm>
            <a:off x="660400" y="1511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E8633F"/>
                </a:solidFill>
                <a:latin typeface="Meiryo" panose="020B0604030504040204" pitchFamily="50" charset="-128"/>
              </a:rPr>
              <a:t>学科・コース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A209B9D-B288-6C62-6F0A-36DECF514203}"/>
              </a:ext>
            </a:extLst>
          </p:cNvPr>
          <p:cNvSpPr txBox="1"/>
          <p:nvPr/>
        </p:nvSpPr>
        <p:spPr>
          <a:xfrm>
            <a:off x="2286000" y="1519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普通科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6BB39CC-A135-5472-E852-FD5C8C516A62}"/>
              </a:ext>
            </a:extLst>
          </p:cNvPr>
          <p:cNvSpPr/>
          <p:nvPr/>
        </p:nvSpPr>
        <p:spPr>
          <a:xfrm>
            <a:off x="508000" y="2235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3EA74E0-30DF-E97A-31DD-FB14D4958E15}"/>
              </a:ext>
            </a:extLst>
          </p:cNvPr>
          <p:cNvSpPr txBox="1"/>
          <p:nvPr/>
        </p:nvSpPr>
        <p:spPr>
          <a:xfrm>
            <a:off x="660400" y="2273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E8633F"/>
                </a:solidFill>
                <a:latin typeface="Meiryo" panose="020B0604030504040204" pitchFamily="50" charset="-128"/>
              </a:rPr>
              <a:t>進学・特色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943C478-AD0D-53A4-0B4F-7EC92C998379}"/>
              </a:ext>
            </a:extLst>
          </p:cNvPr>
          <p:cNvSpPr txBox="1"/>
          <p:nvPr/>
        </p:nvSpPr>
        <p:spPr>
          <a:xfrm>
            <a:off x="2286000" y="2281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同志社・立命館・関西・愛知工大など私大中心。ダンス部が全国常連で行事も活発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F3E38AE1-BA37-4223-8A5B-581F8E3C989E}"/>
              </a:ext>
            </a:extLst>
          </p:cNvPr>
          <p:cNvSpPr/>
          <p:nvPr/>
        </p:nvSpPr>
        <p:spPr>
          <a:xfrm>
            <a:off x="508000" y="2997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08D0FA5-A2D5-C60E-D5A7-0ECE812AC77C}"/>
              </a:ext>
            </a:extLst>
          </p:cNvPr>
          <p:cNvSpPr txBox="1"/>
          <p:nvPr/>
        </p:nvSpPr>
        <p:spPr>
          <a:xfrm>
            <a:off x="660400" y="3035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E8633F"/>
                </a:solidFill>
                <a:latin typeface="Meiryo" panose="020B0604030504040204" pitchFamily="50" charset="-128"/>
              </a:rPr>
              <a:t>最寄り駅・自宅から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DD8DCEF-FB17-FCB1-1559-F7AC681D73B7}"/>
              </a:ext>
            </a:extLst>
          </p:cNvPr>
          <p:cNvSpPr txBox="1"/>
          <p:nvPr/>
        </p:nvSpPr>
        <p:spPr>
          <a:xfrm>
            <a:off x="2286000" y="2951033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地下鉄鶴舞線・名鉄犬山線「上小田井」駅 徒歩約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12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分。黒川→名城線→乗換で約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40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分／バス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城北小学校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』→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地下鉄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目安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】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B6123D33-7FFD-26E4-ECCD-E92FFD18BC77}"/>
              </a:ext>
            </a:extLst>
          </p:cNvPr>
          <p:cNvSpPr/>
          <p:nvPr/>
        </p:nvSpPr>
        <p:spPr>
          <a:xfrm>
            <a:off x="508000" y="3759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11B6C5F-B50D-1AB8-B75F-908D5EBA7A10}"/>
              </a:ext>
            </a:extLst>
          </p:cNvPr>
          <p:cNvSpPr txBox="1"/>
          <p:nvPr/>
        </p:nvSpPr>
        <p:spPr>
          <a:xfrm>
            <a:off x="660400" y="3797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E8633F"/>
                </a:solidFill>
                <a:latin typeface="Meiryo" panose="020B0604030504040204" pitchFamily="50" charset="-128"/>
              </a:rPr>
              <a:t>通学・その他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09A93E3-4688-7F8D-00D4-69BB9D7A18CA}"/>
              </a:ext>
            </a:extLst>
          </p:cNvPr>
          <p:cNvSpPr txBox="1"/>
          <p:nvPr/>
        </p:nvSpPr>
        <p:spPr>
          <a:xfrm>
            <a:off x="2286000" y="3805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公立で学費が抑えられる。お弁当＋購買。制服が人気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4E79A583-73E4-BACF-EE6C-A5B9F13C9563}"/>
              </a:ext>
            </a:extLst>
          </p:cNvPr>
          <p:cNvSpPr/>
          <p:nvPr/>
        </p:nvSpPr>
        <p:spPr>
          <a:xfrm>
            <a:off x="508000" y="4724400"/>
            <a:ext cx="11176000" cy="5080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5129E74-4610-FF1A-88A9-68455AE269D9}"/>
              </a:ext>
            </a:extLst>
          </p:cNvPr>
          <p:cNvSpPr txBox="1"/>
          <p:nvPr/>
        </p:nvSpPr>
        <p:spPr>
          <a:xfrm>
            <a:off x="685800" y="4770567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▶ 次のページ②に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部活動・校風校則・口コミの良い点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気になる点・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年度の日程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】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を掲載しています。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DB23801C-88AA-0CFD-D183-5EC2044705E7}"/>
              </a:ext>
            </a:extLst>
          </p:cNvPr>
          <p:cNvSpPr/>
          <p:nvPr/>
        </p:nvSpPr>
        <p:spPr>
          <a:xfrm>
            <a:off x="508000" y="6172200"/>
            <a:ext cx="11176000" cy="4064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337692C-8698-A8EB-F37D-D580B3F2FD11}"/>
              </a:ext>
            </a:extLst>
          </p:cNvPr>
          <p:cNvSpPr txBox="1"/>
          <p:nvPr/>
        </p:nvSpPr>
        <p:spPr>
          <a:xfrm>
            <a:off x="685800" y="6218366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1A56C4"/>
                </a:solidFill>
                <a:latin typeface="Meiryo" panose="020B0604030504040204" pitchFamily="50" charset="-128"/>
                <a:hlinkClick r:id="rId3"/>
              </a:rPr>
              <a:t>▶ 山田高校のくわしい情報（口コミ・偏差値・制服）はこちら（みんなの高校情報）</a:t>
            </a:r>
            <a:endParaRPr kumimoji="1" lang="ja-JP" altLang="en-US" sz="12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4927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858D848-C585-0758-B590-B69DBC5C36DB}"/>
              </a:ext>
            </a:extLst>
          </p:cNvPr>
          <p:cNvSpPr/>
          <p:nvPr/>
        </p:nvSpPr>
        <p:spPr>
          <a:xfrm>
            <a:off x="508000" y="330200"/>
            <a:ext cx="11176000" cy="584200"/>
          </a:xfrm>
          <a:prstGeom prst="roundRect">
            <a:avLst/>
          </a:prstGeom>
          <a:solidFill>
            <a:srgbClr val="E863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64F060-6204-1039-BB01-58D32342D7AF}"/>
              </a:ext>
            </a:extLst>
          </p:cNvPr>
          <p:cNvSpPr txBox="1"/>
          <p:nvPr/>
        </p:nvSpPr>
        <p:spPr>
          <a:xfrm>
            <a:off x="736600" y="314811"/>
            <a:ext cx="10922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名古屋市立 山田高校　②部活・校風・口コミ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5CB3F11-7A34-884D-2A5D-7280C5D93A25}"/>
              </a:ext>
            </a:extLst>
          </p:cNvPr>
          <p:cNvSpPr/>
          <p:nvPr/>
        </p:nvSpPr>
        <p:spPr>
          <a:xfrm>
            <a:off x="508000" y="1066800"/>
            <a:ext cx="5461000" cy="1930400"/>
          </a:xfrm>
          <a:prstGeom prst="roundRect">
            <a:avLst/>
          </a:prstGeom>
          <a:solidFill>
            <a:srgbClr val="EA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7FC84C-19CA-12E9-2B7D-9880741264D6}"/>
              </a:ext>
            </a:extLst>
          </p:cNvPr>
          <p:cNvSpPr txBox="1"/>
          <p:nvPr/>
        </p:nvSpPr>
        <p:spPr>
          <a:xfrm>
            <a:off x="711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2761"/>
                </a:solidFill>
                <a:latin typeface="Meiryo" panose="020B0604030504040204" pitchFamily="50" charset="-128"/>
              </a:rPr>
              <a:t>■ 部活動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544D8E4-DD78-1DB8-9EBC-2A917E25F38B}"/>
              </a:ext>
            </a:extLst>
          </p:cNvPr>
          <p:cNvSpPr txBox="1"/>
          <p:nvPr/>
        </p:nvSpPr>
        <p:spPr>
          <a:xfrm>
            <a:off x="711200" y="1498600"/>
            <a:ext cx="5130800" cy="55656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・部活動の満足度が高い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口コミ評価◎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・ダンス部が全国常連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・運動部・文化部とも活発で行事も盛ん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10BAB0B-5DF3-3F50-BA2C-1460D354B086}"/>
              </a:ext>
            </a:extLst>
          </p:cNvPr>
          <p:cNvSpPr/>
          <p:nvPr/>
        </p:nvSpPr>
        <p:spPr>
          <a:xfrm>
            <a:off x="6223000" y="1066800"/>
            <a:ext cx="5461000" cy="1930400"/>
          </a:xfrm>
          <a:prstGeom prst="roundRect">
            <a:avLst/>
          </a:prstGeom>
          <a:solidFill>
            <a:srgbClr val="F3EF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E12021-A257-1ECE-3841-14D00DFB0FC1}"/>
              </a:ext>
            </a:extLst>
          </p:cNvPr>
          <p:cNvSpPr txBox="1"/>
          <p:nvPr/>
        </p:nvSpPr>
        <p:spPr>
          <a:xfrm>
            <a:off x="6426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6B46A8"/>
                </a:solidFill>
                <a:latin typeface="Meiryo" panose="020B0604030504040204" pitchFamily="50" charset="-128"/>
              </a:rPr>
              <a:t>■ 校風・校則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6A66E30-BD05-C281-E055-6465F04AB769}"/>
              </a:ext>
            </a:extLst>
          </p:cNvPr>
          <p:cNvSpPr txBox="1"/>
          <p:nvPr/>
        </p:nvSpPr>
        <p:spPr>
          <a:xfrm>
            <a:off x="6426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・明るく楽しい雰囲気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説明会から明るいとの声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・服装は厳しめ：スカート丈・ピアスは没収例あり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・カラコン没収、メイクは指導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その場で落とす例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派手になりすぎ注意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との声も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3E0F37A-35A3-8559-4017-540953A6C8AE}"/>
              </a:ext>
            </a:extLst>
          </p:cNvPr>
          <p:cNvSpPr/>
          <p:nvPr/>
        </p:nvSpPr>
        <p:spPr>
          <a:xfrm>
            <a:off x="508000" y="3124200"/>
            <a:ext cx="5461000" cy="1905000"/>
          </a:xfrm>
          <a:prstGeom prst="roundRect">
            <a:avLst/>
          </a:prstGeom>
          <a:solidFill>
            <a:srgbClr val="E7F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900EF0E-0CD1-5C8A-2534-99410ABC5F26}"/>
              </a:ext>
            </a:extLst>
          </p:cNvPr>
          <p:cNvSpPr txBox="1"/>
          <p:nvPr/>
        </p:nvSpPr>
        <p:spPr>
          <a:xfrm>
            <a:off x="711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7A43"/>
                </a:solidFill>
                <a:latin typeface="Meiryo" panose="020B0604030504040204" pitchFamily="50" charset="-128"/>
              </a:rPr>
              <a:t>■ 口コミの良い点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C89AB8-9A3C-A746-ACBA-57BE2C9DAA81}"/>
              </a:ext>
            </a:extLst>
          </p:cNvPr>
          <p:cNvSpPr txBox="1"/>
          <p:nvPr/>
        </p:nvSpPr>
        <p:spPr>
          <a:xfrm>
            <a:off x="711200" y="35560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・とにかく明るく楽しい校風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・部活・行事が盛ん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・制服がかわいいと人気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・公立で学費が抑えられる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DEA2AD7-11D2-78BC-258D-2129F123116C}"/>
              </a:ext>
            </a:extLst>
          </p:cNvPr>
          <p:cNvSpPr/>
          <p:nvPr/>
        </p:nvSpPr>
        <p:spPr>
          <a:xfrm>
            <a:off x="6223000" y="3124200"/>
            <a:ext cx="5461000" cy="1905000"/>
          </a:xfrm>
          <a:prstGeom prst="roundRect">
            <a:avLst/>
          </a:prstGeom>
          <a:solidFill>
            <a:srgbClr val="FB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DAAA60C-91F7-D786-C7E7-FC7C167287C6}"/>
              </a:ext>
            </a:extLst>
          </p:cNvPr>
          <p:cNvSpPr txBox="1"/>
          <p:nvPr/>
        </p:nvSpPr>
        <p:spPr>
          <a:xfrm>
            <a:off x="6426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B23B3B"/>
                </a:solidFill>
                <a:latin typeface="Meiryo" panose="020B0604030504040204" pitchFamily="50" charset="-128"/>
              </a:rPr>
              <a:t>■ 気になる点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B492433-9D41-994B-3BEF-76B7F2E186DD}"/>
              </a:ext>
            </a:extLst>
          </p:cNvPr>
          <p:cNvSpPr txBox="1"/>
          <p:nvPr/>
        </p:nvSpPr>
        <p:spPr>
          <a:xfrm>
            <a:off x="6426200" y="3556000"/>
            <a:ext cx="5130800" cy="37959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・勉強面の手厚さは控えめとの声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・服装・メイクの校則は厳しめ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EF0CD9EC-EB4A-0F1B-9B94-1C3C078BB46D}"/>
              </a:ext>
            </a:extLst>
          </p:cNvPr>
          <p:cNvSpPr/>
          <p:nvPr/>
        </p:nvSpPr>
        <p:spPr>
          <a:xfrm>
            <a:off x="508000" y="5156200"/>
            <a:ext cx="11176000" cy="889000"/>
          </a:xfrm>
          <a:prstGeom prst="roundRect">
            <a:avLst/>
          </a:prstGeom>
          <a:solidFill>
            <a:srgbClr val="FFF4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92EE308-4CEC-64F0-04E2-68089904CFC2}"/>
              </a:ext>
            </a:extLst>
          </p:cNvPr>
          <p:cNvSpPr txBox="1"/>
          <p:nvPr/>
        </p:nvSpPr>
        <p:spPr>
          <a:xfrm>
            <a:off x="685800" y="52070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■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年度（令和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8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年度）の日程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最新は公式で要確認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A3C1150-E86A-3925-2351-55B11C50D697}"/>
              </a:ext>
            </a:extLst>
          </p:cNvPr>
          <p:cNvSpPr txBox="1"/>
          <p:nvPr/>
        </p:nvSpPr>
        <p:spPr>
          <a:xfrm>
            <a:off x="685800" y="5486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説明会・見学：日程は公式サイト・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SNS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で要確認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例年 夏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〜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秋に説明会・体験入学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9A96E61-37BC-BA6D-ECA7-E93E993A47D8}"/>
              </a:ext>
            </a:extLst>
          </p:cNvPr>
          <p:cNvSpPr txBox="1"/>
          <p:nvPr/>
        </p:nvSpPr>
        <p:spPr>
          <a:xfrm>
            <a:off x="685800" y="5740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文化祭：山高祭＝例年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9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月頃・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2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日間・要確認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C11A26BE-B6FD-05A7-3AD6-312BB23FA55C}"/>
              </a:ext>
            </a:extLst>
          </p:cNvPr>
          <p:cNvSpPr/>
          <p:nvPr/>
        </p:nvSpPr>
        <p:spPr>
          <a:xfrm>
            <a:off x="508000" y="6146800"/>
            <a:ext cx="11176000" cy="3810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0F3B596-3F30-50A4-2857-68222727451F}"/>
              </a:ext>
            </a:extLst>
          </p:cNvPr>
          <p:cNvSpPr txBox="1"/>
          <p:nvPr/>
        </p:nvSpPr>
        <p:spPr>
          <a:xfrm>
            <a:off x="685800" y="6200661"/>
            <a:ext cx="10998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100">
                <a:solidFill>
                  <a:srgbClr val="1A56C4"/>
                </a:solidFill>
                <a:latin typeface="Meiryo" panose="020B0604030504040204" pitchFamily="50" charset="-128"/>
                <a:hlinkClick r:id="rId2"/>
              </a:rPr>
              <a:t>▶ 山田高校のくわしい情報（口コミ・偏差値・制服）はこちら（みんなの高校情報）</a:t>
            </a:r>
            <a:endParaRPr kumimoji="1" lang="ja-JP" altLang="en-US" sz="11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012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8B9C3E1-CB09-CA45-5BCF-EA75ACD777EB}"/>
              </a:ext>
            </a:extLst>
          </p:cNvPr>
          <p:cNvSpPr/>
          <p:nvPr/>
        </p:nvSpPr>
        <p:spPr>
          <a:xfrm>
            <a:off x="508000" y="330200"/>
            <a:ext cx="7924800" cy="635000"/>
          </a:xfrm>
          <a:prstGeom prst="roundRect">
            <a:avLst/>
          </a:prstGeom>
          <a:solidFill>
            <a:srgbClr val="7B5E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58DBCD-88F1-85C1-2BE6-3CF8B99E1E9A}"/>
              </a:ext>
            </a:extLst>
          </p:cNvPr>
          <p:cNvSpPr txBox="1"/>
          <p:nvPr/>
        </p:nvSpPr>
        <p:spPr>
          <a:xfrm>
            <a:off x="736600" y="314811"/>
            <a:ext cx="7620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zh-TW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愛知県立 中村高校　①基本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86F0F50-B5E0-F39A-90D3-FA7648657135}"/>
              </a:ext>
            </a:extLst>
          </p:cNvPr>
          <p:cNvSpPr txBox="1"/>
          <p:nvPr/>
        </p:nvSpPr>
        <p:spPr>
          <a:xfrm>
            <a:off x="558800" y="1016000"/>
            <a:ext cx="7924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名古屋市中村区／自由な校風（</a:t>
            </a:r>
            <a:r>
              <a:rPr kumimoji="1" lang="en-US" altLang="ja-JP" sz="1300">
                <a:solidFill>
                  <a:srgbClr val="6B7280"/>
                </a:solidFill>
                <a:latin typeface="Meiryo" panose="020B0604030504040204" pitchFamily="50" charset="-128"/>
              </a:rPr>
              <a:t>1953</a:t>
            </a:r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開校）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DD6EF77-256C-B139-D30D-47D5D894B902}"/>
              </a:ext>
            </a:extLst>
          </p:cNvPr>
          <p:cNvSpPr/>
          <p:nvPr/>
        </p:nvSpPr>
        <p:spPr>
          <a:xfrm>
            <a:off x="8712200" y="330200"/>
            <a:ext cx="2971800" cy="965200"/>
          </a:xfrm>
          <a:prstGeom prst="roundRect">
            <a:avLst/>
          </a:prstGeom>
          <a:solidFill>
            <a:srgbClr val="F2F5FC"/>
          </a:solidFill>
          <a:ln w="15875">
            <a:solidFill>
              <a:srgbClr val="7B5E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7C3E3A-0B9A-564B-3F51-A502539D5D29}"/>
              </a:ext>
            </a:extLst>
          </p:cNvPr>
          <p:cNvSpPr txBox="1"/>
          <p:nvPr/>
        </p:nvSpPr>
        <p:spPr>
          <a:xfrm>
            <a:off x="8712200" y="406400"/>
            <a:ext cx="2971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偏差値（目安）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71125C0-951C-AF59-40D9-EF3F37112F41}"/>
              </a:ext>
            </a:extLst>
          </p:cNvPr>
          <p:cNvSpPr txBox="1"/>
          <p:nvPr/>
        </p:nvSpPr>
        <p:spPr>
          <a:xfrm>
            <a:off x="8712200" y="584200"/>
            <a:ext cx="2971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en-US" altLang="ja-JP" sz="2600" b="1">
                <a:solidFill>
                  <a:srgbClr val="7B5EA7"/>
                </a:solidFill>
                <a:latin typeface="Meiryo" panose="020B0604030504040204" pitchFamily="50" charset="-128"/>
              </a:rPr>
              <a:t>50</a:t>
            </a:r>
            <a:endParaRPr kumimoji="1" lang="ja-JP" altLang="en-US" sz="2600" b="1">
              <a:solidFill>
                <a:srgbClr val="7B5EA7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2B3334-55DC-1E52-1007-4447614C57E8}"/>
              </a:ext>
            </a:extLst>
          </p:cNvPr>
          <p:cNvSpPr txBox="1"/>
          <p:nvPr/>
        </p:nvSpPr>
        <p:spPr>
          <a:xfrm>
            <a:off x="8712200" y="1066800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普通科</a:t>
            </a:r>
            <a:r>
              <a:rPr kumimoji="1" lang="en-US" altLang="ja-JP" sz="1000">
                <a:solidFill>
                  <a:srgbClr val="6B7280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ほか美術科</a:t>
            </a:r>
            <a:r>
              <a:rPr kumimoji="1" lang="en-US" altLang="ja-JP" sz="10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endParaRPr kumimoji="1" lang="ja-JP" altLang="en-US" sz="10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806E88B-C3D0-B90C-8231-59684FFFAAC9}"/>
              </a:ext>
            </a:extLst>
          </p:cNvPr>
          <p:cNvSpPr/>
          <p:nvPr/>
        </p:nvSpPr>
        <p:spPr>
          <a:xfrm>
            <a:off x="8712200" y="1371600"/>
            <a:ext cx="2971800" cy="355600"/>
          </a:xfrm>
          <a:prstGeom prst="roundRect">
            <a:avLst/>
          </a:prstGeom>
          <a:solidFill>
            <a:srgbClr val="7B5E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DA18FA-0E6A-A422-5614-C0C1B6F1C0A8}"/>
              </a:ext>
            </a:extLst>
          </p:cNvPr>
          <p:cNvSpPr txBox="1"/>
          <p:nvPr/>
        </p:nvSpPr>
        <p:spPr>
          <a:xfrm>
            <a:off x="8712200" y="1433155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自由な校風・伝統校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E7A37CA6-6552-DC4A-4526-3DFF0575CB6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831975"/>
            <a:ext cx="2971800" cy="222885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9BA55F1-7598-A1BC-AD07-3CE4787CB3F5}"/>
              </a:ext>
            </a:extLst>
          </p:cNvPr>
          <p:cNvSpPr txBox="1"/>
          <p:nvPr/>
        </p:nvSpPr>
        <p:spPr>
          <a:xfrm>
            <a:off x="8712200" y="4089400"/>
            <a:ext cx="2971800" cy="16414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制服＝紺セーラー服（参考写真）出典：</a:t>
            </a:r>
            <a:r>
              <a:rPr kumimoji="1" lang="en-US" altLang="ja-JP" sz="900">
                <a:solidFill>
                  <a:srgbClr val="6B7280"/>
                </a:solidFill>
                <a:latin typeface="Meiryo" panose="020B0604030504040204" pitchFamily="50" charset="-128"/>
              </a:rPr>
              <a:t>A-</a:t>
            </a:r>
            <a:r>
              <a:rPr kumimoji="1" lang="ja-JP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制服店</a:t>
            </a:r>
            <a:r>
              <a:rPr kumimoji="1" lang="en-US" altLang="ja-JP" sz="900">
                <a:solidFill>
                  <a:srgbClr val="6B7280"/>
                </a:solidFill>
                <a:latin typeface="Meiryo" panose="020B0604030504040204" pitchFamily="50" charset="-128"/>
              </a:rPr>
              <a:t>.com</a:t>
            </a:r>
            <a:endParaRPr kumimoji="1" lang="ja-JP" altLang="en-US" sz="9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A905197-B4CE-424C-581B-6B0272ABBE09}"/>
              </a:ext>
            </a:extLst>
          </p:cNvPr>
          <p:cNvSpPr/>
          <p:nvPr/>
        </p:nvSpPr>
        <p:spPr>
          <a:xfrm>
            <a:off x="508000" y="1473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FBFDDEC-5C7F-66D4-9805-8AE5624880A2}"/>
              </a:ext>
            </a:extLst>
          </p:cNvPr>
          <p:cNvSpPr txBox="1"/>
          <p:nvPr/>
        </p:nvSpPr>
        <p:spPr>
          <a:xfrm>
            <a:off x="660400" y="1511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7B5EA7"/>
                </a:solidFill>
                <a:latin typeface="Meiryo" panose="020B0604030504040204" pitchFamily="50" charset="-128"/>
              </a:rPr>
              <a:t>学科・コース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3A19374-D2B4-ED8B-85D7-CFD49E3E6EB5}"/>
              </a:ext>
            </a:extLst>
          </p:cNvPr>
          <p:cNvSpPr txBox="1"/>
          <p:nvPr/>
        </p:nvSpPr>
        <p:spPr>
          <a:xfrm>
            <a:off x="2286000" y="1519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普通科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ほかに美術科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。制服は紺のセーラー服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17DEBB2A-5ED6-931C-D555-1B25FF9647E4}"/>
              </a:ext>
            </a:extLst>
          </p:cNvPr>
          <p:cNvSpPr/>
          <p:nvPr/>
        </p:nvSpPr>
        <p:spPr>
          <a:xfrm>
            <a:off x="508000" y="2235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98B5435-E0BC-B295-7D14-7D7C946853C1}"/>
              </a:ext>
            </a:extLst>
          </p:cNvPr>
          <p:cNvSpPr txBox="1"/>
          <p:nvPr/>
        </p:nvSpPr>
        <p:spPr>
          <a:xfrm>
            <a:off x="660400" y="2273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7B5EA7"/>
                </a:solidFill>
                <a:latin typeface="Meiryo" panose="020B0604030504040204" pitchFamily="50" charset="-128"/>
              </a:rPr>
              <a:t>進学・特色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A6F3D5A-6DF9-ABBA-4CA3-D368043745FB}"/>
              </a:ext>
            </a:extLst>
          </p:cNvPr>
          <p:cNvSpPr txBox="1"/>
          <p:nvPr/>
        </p:nvSpPr>
        <p:spPr>
          <a:xfrm>
            <a:off x="2286000" y="2281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私立大学中心に幅広く進学。自主自律の伝統校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(1953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開校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5C2B396-73FD-BEAF-6767-184BE2A30AC3}"/>
              </a:ext>
            </a:extLst>
          </p:cNvPr>
          <p:cNvSpPr/>
          <p:nvPr/>
        </p:nvSpPr>
        <p:spPr>
          <a:xfrm>
            <a:off x="508000" y="2997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8168D70-DD88-CA08-2F7E-B2D985DE22C1}"/>
              </a:ext>
            </a:extLst>
          </p:cNvPr>
          <p:cNvSpPr txBox="1"/>
          <p:nvPr/>
        </p:nvSpPr>
        <p:spPr>
          <a:xfrm>
            <a:off x="660400" y="3035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7B5EA7"/>
                </a:solidFill>
                <a:latin typeface="Meiryo" panose="020B0604030504040204" pitchFamily="50" charset="-128"/>
              </a:rPr>
              <a:t>最寄り駅・自宅から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3F2927E-1F26-9721-0026-DB03935151D1}"/>
              </a:ext>
            </a:extLst>
          </p:cNvPr>
          <p:cNvSpPr txBox="1"/>
          <p:nvPr/>
        </p:nvSpPr>
        <p:spPr>
          <a:xfrm>
            <a:off x="2286000" y="2951034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地下鉄東山線「中村公園」ほか。黒川→名城線→栄→東山線で約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30〜35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分／バス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城北小学校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』→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黒川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目安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】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EFDD4635-CA30-3841-AC34-DB118E4F0B88}"/>
              </a:ext>
            </a:extLst>
          </p:cNvPr>
          <p:cNvSpPr/>
          <p:nvPr/>
        </p:nvSpPr>
        <p:spPr>
          <a:xfrm>
            <a:off x="508000" y="3759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E0CD6BB-2802-C6E5-9580-AA5F9F1DA4DF}"/>
              </a:ext>
            </a:extLst>
          </p:cNvPr>
          <p:cNvSpPr txBox="1"/>
          <p:nvPr/>
        </p:nvSpPr>
        <p:spPr>
          <a:xfrm>
            <a:off x="660400" y="3797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7B5EA7"/>
                </a:solidFill>
                <a:latin typeface="Meiryo" panose="020B0604030504040204" pitchFamily="50" charset="-128"/>
              </a:rPr>
              <a:t>通学・その他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FF206DD-2535-A476-AF2F-828A7BEC2EC1}"/>
              </a:ext>
            </a:extLst>
          </p:cNvPr>
          <p:cNvSpPr txBox="1"/>
          <p:nvPr/>
        </p:nvSpPr>
        <p:spPr>
          <a:xfrm>
            <a:off x="2286000" y="3805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公立で学費が抑えられる。お弁当＋購買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201EE4D0-DB51-5DB1-F5CA-5F355095AC99}"/>
              </a:ext>
            </a:extLst>
          </p:cNvPr>
          <p:cNvSpPr/>
          <p:nvPr/>
        </p:nvSpPr>
        <p:spPr>
          <a:xfrm>
            <a:off x="508000" y="4724400"/>
            <a:ext cx="11176000" cy="5080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DED7A0E-8D29-D967-8AB7-B85290398FE7}"/>
              </a:ext>
            </a:extLst>
          </p:cNvPr>
          <p:cNvSpPr txBox="1"/>
          <p:nvPr/>
        </p:nvSpPr>
        <p:spPr>
          <a:xfrm>
            <a:off x="685800" y="4770567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▶ 次のページ②に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部活動・校風校則・口コミの良い点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気になる点・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年度の日程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】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を掲載しています。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65337CC0-7EFC-F18F-0C37-979E2EED0A09}"/>
              </a:ext>
            </a:extLst>
          </p:cNvPr>
          <p:cNvSpPr/>
          <p:nvPr/>
        </p:nvSpPr>
        <p:spPr>
          <a:xfrm>
            <a:off x="508000" y="6172200"/>
            <a:ext cx="11176000" cy="4064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767B38B-6F41-7343-8C4E-F923F2F76AAF}"/>
              </a:ext>
            </a:extLst>
          </p:cNvPr>
          <p:cNvSpPr txBox="1"/>
          <p:nvPr/>
        </p:nvSpPr>
        <p:spPr>
          <a:xfrm>
            <a:off x="685800" y="6218366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1A56C4"/>
                </a:solidFill>
                <a:latin typeface="Meiryo" panose="020B0604030504040204" pitchFamily="50" charset="-128"/>
                <a:hlinkClick r:id="rId3"/>
              </a:rPr>
              <a:t>▶ 中村高校のくわしい情報（口コミ・偏差値・制服）はこちら（みんなの高校情報）</a:t>
            </a:r>
            <a:endParaRPr kumimoji="1" lang="ja-JP" altLang="en-US" sz="12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8573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845422B-A599-982E-3F6D-ED741260B2C0}"/>
              </a:ext>
            </a:extLst>
          </p:cNvPr>
          <p:cNvSpPr/>
          <p:nvPr/>
        </p:nvSpPr>
        <p:spPr>
          <a:xfrm>
            <a:off x="508000" y="330200"/>
            <a:ext cx="11176000" cy="584200"/>
          </a:xfrm>
          <a:prstGeom prst="roundRect">
            <a:avLst/>
          </a:prstGeom>
          <a:solidFill>
            <a:srgbClr val="7B5E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77286C6-4695-B5BE-1E46-86580A88AF55}"/>
              </a:ext>
            </a:extLst>
          </p:cNvPr>
          <p:cNvSpPr txBox="1"/>
          <p:nvPr/>
        </p:nvSpPr>
        <p:spPr>
          <a:xfrm>
            <a:off x="736600" y="314811"/>
            <a:ext cx="10922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愛知県立 中村高校　②部活・校風・口コミ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B38566A-863F-F6E5-F158-1DCB3DB68F96}"/>
              </a:ext>
            </a:extLst>
          </p:cNvPr>
          <p:cNvSpPr/>
          <p:nvPr/>
        </p:nvSpPr>
        <p:spPr>
          <a:xfrm>
            <a:off x="508000" y="1066800"/>
            <a:ext cx="5461000" cy="1930400"/>
          </a:xfrm>
          <a:prstGeom prst="roundRect">
            <a:avLst/>
          </a:prstGeom>
          <a:solidFill>
            <a:srgbClr val="EA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F1D532-410E-ED59-924F-94EC5065D17D}"/>
              </a:ext>
            </a:extLst>
          </p:cNvPr>
          <p:cNvSpPr txBox="1"/>
          <p:nvPr/>
        </p:nvSpPr>
        <p:spPr>
          <a:xfrm>
            <a:off x="711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2761"/>
                </a:solidFill>
                <a:latin typeface="Meiryo" panose="020B0604030504040204" pitchFamily="50" charset="-128"/>
              </a:rPr>
              <a:t>■ 部活動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E68E16A-D4E3-897B-A4EC-6E59BE6831B4}"/>
              </a:ext>
            </a:extLst>
          </p:cNvPr>
          <p:cNvSpPr txBox="1"/>
          <p:nvPr/>
        </p:nvSpPr>
        <p:spPr>
          <a:xfrm>
            <a:off x="711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・運動部だけでなく文化部も充実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・陸上部・体操部が県大会出場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・吹奏楽部・芸術部・メディア創造部など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一風変わった部活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もあるのが特徴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B9907E9-D337-CCEC-3D73-BBEA9B4E2560}"/>
              </a:ext>
            </a:extLst>
          </p:cNvPr>
          <p:cNvSpPr/>
          <p:nvPr/>
        </p:nvSpPr>
        <p:spPr>
          <a:xfrm>
            <a:off x="6223000" y="1066800"/>
            <a:ext cx="5461000" cy="1930400"/>
          </a:xfrm>
          <a:prstGeom prst="roundRect">
            <a:avLst/>
          </a:prstGeom>
          <a:solidFill>
            <a:srgbClr val="F3EF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EE5946-639C-E2F1-5F89-91593FB93749}"/>
              </a:ext>
            </a:extLst>
          </p:cNvPr>
          <p:cNvSpPr txBox="1"/>
          <p:nvPr/>
        </p:nvSpPr>
        <p:spPr>
          <a:xfrm>
            <a:off x="6426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6B46A8"/>
                </a:solidFill>
                <a:latin typeface="Meiryo" panose="020B0604030504040204" pitchFamily="50" charset="-128"/>
              </a:rPr>
              <a:t>■ 校風・校則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1D86542-B49D-282B-F5FC-A456905E5FB7}"/>
              </a:ext>
            </a:extLst>
          </p:cNvPr>
          <p:cNvSpPr txBox="1"/>
          <p:nvPr/>
        </p:nvSpPr>
        <p:spPr>
          <a:xfrm>
            <a:off x="6426200" y="1498600"/>
            <a:ext cx="5130800" cy="55656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自由でのびのび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との評判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・ただしスカート丈・メイク・ピアスは注意指導あり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・髪飾りも注意される例／学年で厳しさに差との声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B7F3F5A-510C-EEE9-0ACF-9B022F8E7FC3}"/>
              </a:ext>
            </a:extLst>
          </p:cNvPr>
          <p:cNvSpPr/>
          <p:nvPr/>
        </p:nvSpPr>
        <p:spPr>
          <a:xfrm>
            <a:off x="508000" y="3124200"/>
            <a:ext cx="5461000" cy="1905000"/>
          </a:xfrm>
          <a:prstGeom prst="roundRect">
            <a:avLst/>
          </a:prstGeom>
          <a:solidFill>
            <a:srgbClr val="E7F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802F30-E86D-750B-1191-BAE39B30A7E1}"/>
              </a:ext>
            </a:extLst>
          </p:cNvPr>
          <p:cNvSpPr txBox="1"/>
          <p:nvPr/>
        </p:nvSpPr>
        <p:spPr>
          <a:xfrm>
            <a:off x="711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7A43"/>
                </a:solidFill>
                <a:latin typeface="Meiryo" panose="020B0604030504040204" pitchFamily="50" charset="-128"/>
              </a:rPr>
              <a:t>■ 口コミの良い点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9FB81CA-09D8-8785-5294-1D2EFD1FB0C9}"/>
              </a:ext>
            </a:extLst>
          </p:cNvPr>
          <p:cNvSpPr txBox="1"/>
          <p:nvPr/>
        </p:nvSpPr>
        <p:spPr>
          <a:xfrm>
            <a:off x="711200" y="35560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・自由でのびのびした校風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・部活に打ち込みやすい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文化部も充実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・伝統と落ち着き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・公立で学費が抑えられる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174D613-3A7B-6808-AE08-A4268B17FF93}"/>
              </a:ext>
            </a:extLst>
          </p:cNvPr>
          <p:cNvSpPr/>
          <p:nvPr/>
        </p:nvSpPr>
        <p:spPr>
          <a:xfrm>
            <a:off x="6223000" y="3124200"/>
            <a:ext cx="5461000" cy="1905000"/>
          </a:xfrm>
          <a:prstGeom prst="roundRect">
            <a:avLst/>
          </a:prstGeom>
          <a:solidFill>
            <a:srgbClr val="FB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C7F1095-3948-61E5-D40B-5EB8A03C3EB7}"/>
              </a:ext>
            </a:extLst>
          </p:cNvPr>
          <p:cNvSpPr txBox="1"/>
          <p:nvPr/>
        </p:nvSpPr>
        <p:spPr>
          <a:xfrm>
            <a:off x="6426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B23B3B"/>
                </a:solidFill>
                <a:latin typeface="Meiryo" panose="020B0604030504040204" pitchFamily="50" charset="-128"/>
              </a:rPr>
              <a:t>■ 気になる点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A7F8F2C-9AAF-CEFD-D169-E9D87757826B}"/>
              </a:ext>
            </a:extLst>
          </p:cNvPr>
          <p:cNvSpPr txBox="1"/>
          <p:nvPr/>
        </p:nvSpPr>
        <p:spPr>
          <a:xfrm>
            <a:off x="6426200" y="3556000"/>
            <a:ext cx="5130800" cy="55656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・校舎・設備は年季あり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・自由ゆえ自己管理が必要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・学年で校則の運用差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FC210630-D848-FC53-095C-E80ABEC7E511}"/>
              </a:ext>
            </a:extLst>
          </p:cNvPr>
          <p:cNvSpPr/>
          <p:nvPr/>
        </p:nvSpPr>
        <p:spPr>
          <a:xfrm>
            <a:off x="508000" y="5156200"/>
            <a:ext cx="11176000" cy="889000"/>
          </a:xfrm>
          <a:prstGeom prst="roundRect">
            <a:avLst/>
          </a:prstGeom>
          <a:solidFill>
            <a:srgbClr val="FFF4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EFD68F6-701C-3C7C-A5D7-4016DC7A3742}"/>
              </a:ext>
            </a:extLst>
          </p:cNvPr>
          <p:cNvSpPr txBox="1"/>
          <p:nvPr/>
        </p:nvSpPr>
        <p:spPr>
          <a:xfrm>
            <a:off x="685800" y="52070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■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年度（令和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8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年度）の日程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最新は公式で要確認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CD77AB2-6A87-AAB8-3EFA-AC0C9355B3C2}"/>
              </a:ext>
            </a:extLst>
          </p:cNvPr>
          <p:cNvSpPr txBox="1"/>
          <p:nvPr/>
        </p:nvSpPr>
        <p:spPr>
          <a:xfrm>
            <a:off x="685800" y="5486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説明会・見学：体験入学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普通科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 8/8(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金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午前 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要確認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美術科 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7/22)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CA3DA84-643F-6F9F-676F-6A294DF49811}"/>
              </a:ext>
            </a:extLst>
          </p:cNvPr>
          <p:cNvSpPr txBox="1"/>
          <p:nvPr/>
        </p:nvSpPr>
        <p:spPr>
          <a:xfrm>
            <a:off x="685800" y="5740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zh-CN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文化祭：学校祭</a:t>
            </a:r>
            <a:r>
              <a:rPr kumimoji="1" lang="en-US" altLang="zh-CN" sz="11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zh-CN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体育祭＋文化祭</a:t>
            </a:r>
            <a:r>
              <a:rPr kumimoji="1" lang="en-US" altLang="zh-CN" sz="11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zh-CN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＝例年</a:t>
            </a:r>
            <a:r>
              <a:rPr kumimoji="1" lang="en-US" altLang="zh-CN" sz="1100">
                <a:solidFill>
                  <a:srgbClr val="222B45"/>
                </a:solidFill>
                <a:latin typeface="Meiryo" panose="020B0604030504040204" pitchFamily="50" charset="-128"/>
              </a:rPr>
              <a:t>9</a:t>
            </a:r>
            <a:r>
              <a:rPr kumimoji="1" lang="zh-CN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月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D68418B-B4D1-2FB7-E3C7-AD8FDFB8BC3F}"/>
              </a:ext>
            </a:extLst>
          </p:cNvPr>
          <p:cNvSpPr/>
          <p:nvPr/>
        </p:nvSpPr>
        <p:spPr>
          <a:xfrm>
            <a:off x="508000" y="6146800"/>
            <a:ext cx="11176000" cy="3810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B921892-27EF-898C-BC14-480619E52914}"/>
              </a:ext>
            </a:extLst>
          </p:cNvPr>
          <p:cNvSpPr txBox="1"/>
          <p:nvPr/>
        </p:nvSpPr>
        <p:spPr>
          <a:xfrm>
            <a:off x="685800" y="6200661"/>
            <a:ext cx="10998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100">
                <a:solidFill>
                  <a:srgbClr val="1A56C4"/>
                </a:solidFill>
                <a:latin typeface="Meiryo" panose="020B0604030504040204" pitchFamily="50" charset="-128"/>
                <a:hlinkClick r:id="rId2"/>
              </a:rPr>
              <a:t>▶ 中村高校のくわしい情報（口コミ・偏差値・制服）はこちら（みんなの高校情報）</a:t>
            </a:r>
            <a:endParaRPr kumimoji="1" lang="ja-JP" altLang="en-US" sz="11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3797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CBE778B-3F97-DBA9-18E5-4480513BF7B4}"/>
              </a:ext>
            </a:extLst>
          </p:cNvPr>
          <p:cNvSpPr/>
          <p:nvPr/>
        </p:nvSpPr>
        <p:spPr>
          <a:xfrm>
            <a:off x="508000" y="330200"/>
            <a:ext cx="7924800" cy="635000"/>
          </a:xfrm>
          <a:prstGeom prst="round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162D25C-8434-3440-F1EC-2F5A5EA0E87A}"/>
              </a:ext>
            </a:extLst>
          </p:cNvPr>
          <p:cNvSpPr txBox="1"/>
          <p:nvPr/>
        </p:nvSpPr>
        <p:spPr>
          <a:xfrm>
            <a:off x="736600" y="314811"/>
            <a:ext cx="7620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zh-TW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愛知県立 春日井南高校　①基本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E65A2C-651C-2B0F-8630-533B9CBC6BB7}"/>
              </a:ext>
            </a:extLst>
          </p:cNvPr>
          <p:cNvSpPr txBox="1"/>
          <p:nvPr/>
        </p:nvSpPr>
        <p:spPr>
          <a:xfrm>
            <a:off x="558800" y="1016000"/>
            <a:ext cx="7924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6B7280"/>
                </a:solidFill>
                <a:latin typeface="Meiryo" panose="020B0604030504040204" pitchFamily="50" charset="-128"/>
              </a:rPr>
              <a:t>春日井市／文武両道・青春できる学校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FE3D1D2-2194-BB12-FDD1-B09A6B4FC1AB}"/>
              </a:ext>
            </a:extLst>
          </p:cNvPr>
          <p:cNvSpPr/>
          <p:nvPr/>
        </p:nvSpPr>
        <p:spPr>
          <a:xfrm>
            <a:off x="8712200" y="330200"/>
            <a:ext cx="2971800" cy="965200"/>
          </a:xfrm>
          <a:prstGeom prst="roundRect">
            <a:avLst/>
          </a:prstGeom>
          <a:solidFill>
            <a:srgbClr val="F2F5FC"/>
          </a:solidFill>
          <a:ln w="15875">
            <a:solidFill>
              <a:srgbClr val="2E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421BE8A-DD0B-FFA6-003F-3404A85658B0}"/>
              </a:ext>
            </a:extLst>
          </p:cNvPr>
          <p:cNvSpPr txBox="1"/>
          <p:nvPr/>
        </p:nvSpPr>
        <p:spPr>
          <a:xfrm>
            <a:off x="8712200" y="406400"/>
            <a:ext cx="2971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200">
                <a:solidFill>
                  <a:srgbClr val="6B7280"/>
                </a:solidFill>
                <a:latin typeface="Meiryo" panose="020B0604030504040204" pitchFamily="50" charset="-128"/>
              </a:rPr>
              <a:t>偏差値（目安）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F410F6-E01F-1167-9C47-593CFDCA180B}"/>
              </a:ext>
            </a:extLst>
          </p:cNvPr>
          <p:cNvSpPr txBox="1"/>
          <p:nvPr/>
        </p:nvSpPr>
        <p:spPr>
          <a:xfrm>
            <a:off x="8712200" y="584200"/>
            <a:ext cx="2971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en-US" altLang="ja-JP" sz="2600" b="1">
                <a:solidFill>
                  <a:srgbClr val="2E8B57"/>
                </a:solidFill>
                <a:latin typeface="Meiryo" panose="020B0604030504040204" pitchFamily="50" charset="-128"/>
              </a:rPr>
              <a:t>54</a:t>
            </a:r>
            <a:endParaRPr kumimoji="1" lang="ja-JP" altLang="en-US" sz="2600" b="1">
              <a:solidFill>
                <a:srgbClr val="2E8B57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24D3EAC-96FD-CF7E-BFC1-487F618F5319}"/>
              </a:ext>
            </a:extLst>
          </p:cNvPr>
          <p:cNvSpPr txBox="1"/>
          <p:nvPr/>
        </p:nvSpPr>
        <p:spPr>
          <a:xfrm>
            <a:off x="8712200" y="1066800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普通科</a:t>
            </a:r>
            <a:r>
              <a:rPr kumimoji="1" lang="en-US" altLang="ja-JP" sz="1000">
                <a:solidFill>
                  <a:srgbClr val="6B7280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000">
                <a:solidFill>
                  <a:srgbClr val="6B7280"/>
                </a:solidFill>
                <a:latin typeface="Meiryo" panose="020B0604030504040204" pitchFamily="50" charset="-128"/>
              </a:rPr>
              <a:t>やや上</a:t>
            </a:r>
            <a:r>
              <a:rPr kumimoji="1" lang="en-US" altLang="ja-JP" sz="1000">
                <a:solidFill>
                  <a:srgbClr val="6B7280"/>
                </a:solidFill>
                <a:latin typeface="Meiryo" panose="020B0604030504040204" pitchFamily="50" charset="-128"/>
              </a:rPr>
              <a:t>)</a:t>
            </a:r>
            <a:endParaRPr kumimoji="1" lang="ja-JP" altLang="en-US" sz="1000">
              <a:solidFill>
                <a:srgbClr val="6B7280"/>
              </a:solidFill>
              <a:latin typeface="Meiryo" panose="020B0604030504040204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69B1534-738C-2F7B-BCE7-52E7EBF418C1}"/>
              </a:ext>
            </a:extLst>
          </p:cNvPr>
          <p:cNvSpPr/>
          <p:nvPr/>
        </p:nvSpPr>
        <p:spPr>
          <a:xfrm>
            <a:off x="8712200" y="1371600"/>
            <a:ext cx="2971800" cy="355600"/>
          </a:xfrm>
          <a:prstGeom prst="round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4087787-B750-38E4-4088-E9A37111AB58}"/>
              </a:ext>
            </a:extLst>
          </p:cNvPr>
          <p:cNvSpPr txBox="1"/>
          <p:nvPr/>
        </p:nvSpPr>
        <p:spPr>
          <a:xfrm>
            <a:off x="8712200" y="1433155"/>
            <a:ext cx="29718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000" b="1">
                <a:solidFill>
                  <a:srgbClr val="FFFFFF"/>
                </a:solidFill>
                <a:latin typeface="Meiryo" panose="020B0604030504040204" pitchFamily="50" charset="-128"/>
              </a:rPr>
              <a:t>文武両道・行事が盛ん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61AE75F-C570-50F7-C58C-470D48AF74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826" y="1828800"/>
            <a:ext cx="2836548" cy="2235200"/>
          </a:xfrm>
          <a:prstGeom prst="rect">
            <a:avLst/>
          </a:prstGeom>
          <a:ln w="38100">
            <a:solidFill>
              <a:srgbClr val="FFFFFF"/>
            </a:solidFill>
          </a:ln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096662E-66E9-577B-1672-68716073AFED}"/>
              </a:ext>
            </a:extLst>
          </p:cNvPr>
          <p:cNvSpPr txBox="1"/>
          <p:nvPr/>
        </p:nvSpPr>
        <p:spPr>
          <a:xfrm>
            <a:off x="8712200" y="4089400"/>
            <a:ext cx="2971800" cy="16414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pPr algn="ctr"/>
            <a:r>
              <a:rPr kumimoji="1" lang="ja-JP" altLang="en-US" sz="900">
                <a:solidFill>
                  <a:srgbClr val="6B7280"/>
                </a:solidFill>
                <a:latin typeface="Meiryo" panose="020B0604030504040204" pitchFamily="50" charset="-128"/>
              </a:rPr>
              <a:t>制服（参考写真・エンジのタイ）出典：制服市場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EBCED3D-9BD7-1659-F7F4-B76E258AAAF4}"/>
              </a:ext>
            </a:extLst>
          </p:cNvPr>
          <p:cNvSpPr/>
          <p:nvPr/>
        </p:nvSpPr>
        <p:spPr>
          <a:xfrm>
            <a:off x="508000" y="1473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610D516-CFD9-989A-4AB5-5CDBD6C5FC6A}"/>
              </a:ext>
            </a:extLst>
          </p:cNvPr>
          <p:cNvSpPr txBox="1"/>
          <p:nvPr/>
        </p:nvSpPr>
        <p:spPr>
          <a:xfrm>
            <a:off x="660400" y="1511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2E8B57"/>
                </a:solidFill>
                <a:latin typeface="Meiryo" panose="020B0604030504040204" pitchFamily="50" charset="-128"/>
              </a:rPr>
              <a:t>学科・コース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85A5329-FB95-8675-637B-716E63B7CEFA}"/>
              </a:ext>
            </a:extLst>
          </p:cNvPr>
          <p:cNvSpPr txBox="1"/>
          <p:nvPr/>
        </p:nvSpPr>
        <p:spPr>
          <a:xfrm>
            <a:off x="2286000" y="1519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普通科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233B5A85-31B3-935D-4414-1A31C0E447B3}"/>
              </a:ext>
            </a:extLst>
          </p:cNvPr>
          <p:cNvSpPr/>
          <p:nvPr/>
        </p:nvSpPr>
        <p:spPr>
          <a:xfrm>
            <a:off x="508000" y="2235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B5D281-E134-8988-DC65-26C327C9C99A}"/>
              </a:ext>
            </a:extLst>
          </p:cNvPr>
          <p:cNvSpPr txBox="1"/>
          <p:nvPr/>
        </p:nvSpPr>
        <p:spPr>
          <a:xfrm>
            <a:off x="660400" y="2273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2E8B57"/>
                </a:solidFill>
                <a:latin typeface="Meiryo" panose="020B0604030504040204" pitchFamily="50" charset="-128"/>
              </a:rPr>
              <a:t>進学・特色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AF91E94-1633-D949-29A2-443844D8D9F6}"/>
              </a:ext>
            </a:extLst>
          </p:cNvPr>
          <p:cNvSpPr txBox="1"/>
          <p:nvPr/>
        </p:nvSpPr>
        <p:spPr>
          <a:xfrm>
            <a:off x="2286000" y="2281367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国公立に毎年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20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名前後。中部大・名城大・中京大ほか。校舎がきれいで自習室が夜まで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9DB12F9-D698-0771-F3FD-E944262BD4A3}"/>
              </a:ext>
            </a:extLst>
          </p:cNvPr>
          <p:cNvSpPr/>
          <p:nvPr/>
        </p:nvSpPr>
        <p:spPr>
          <a:xfrm>
            <a:off x="508000" y="2997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770CEFE-F4AB-E88B-685B-4ADC1383EC5A}"/>
              </a:ext>
            </a:extLst>
          </p:cNvPr>
          <p:cNvSpPr txBox="1"/>
          <p:nvPr/>
        </p:nvSpPr>
        <p:spPr>
          <a:xfrm>
            <a:off x="660400" y="3035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2E8B57"/>
                </a:solidFill>
                <a:latin typeface="Meiryo" panose="020B0604030504040204" pitchFamily="50" charset="-128"/>
              </a:rPr>
              <a:t>最寄り駅・自宅から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499C26E-C79C-921D-BAF1-45EA2055745E}"/>
              </a:ext>
            </a:extLst>
          </p:cNvPr>
          <p:cNvSpPr txBox="1"/>
          <p:nvPr/>
        </p:nvSpPr>
        <p:spPr>
          <a:xfrm>
            <a:off x="2286000" y="2951033"/>
            <a:ext cx="6146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JR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中央線「春日井」駅ほか。自宅から名鉄小牧線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上飯田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JR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で約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30〜40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分／バス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城北小学校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』→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上飯田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目安</a:t>
            </a:r>
            <a:r>
              <a:rPr kumimoji="1" lang="en-US" altLang="ja-JP" sz="1200">
                <a:solidFill>
                  <a:srgbClr val="222B45"/>
                </a:solidFill>
                <a:latin typeface="Meiryo" panose="020B0604030504040204" pitchFamily="50" charset="-128"/>
              </a:rPr>
              <a:t>】</a:t>
            </a:r>
            <a:endParaRPr kumimoji="1" lang="ja-JP" altLang="en-US" sz="12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7F1A9E70-F78C-F379-8039-8F5CE36049CA}"/>
              </a:ext>
            </a:extLst>
          </p:cNvPr>
          <p:cNvSpPr/>
          <p:nvPr/>
        </p:nvSpPr>
        <p:spPr>
          <a:xfrm>
            <a:off x="508000" y="3759200"/>
            <a:ext cx="7924800" cy="673100"/>
          </a:xfrm>
          <a:prstGeom prst="roundRect">
            <a:avLst/>
          </a:prstGeom>
          <a:solidFill>
            <a:srgbClr val="F7F9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3C55F37-D6B1-B0D9-44F6-3676B674C815}"/>
              </a:ext>
            </a:extLst>
          </p:cNvPr>
          <p:cNvSpPr txBox="1"/>
          <p:nvPr/>
        </p:nvSpPr>
        <p:spPr>
          <a:xfrm>
            <a:off x="660400" y="3797672"/>
            <a:ext cx="162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300" b="1">
                <a:solidFill>
                  <a:srgbClr val="2E8B57"/>
                </a:solidFill>
                <a:latin typeface="Meiryo" panose="020B0604030504040204" pitchFamily="50" charset="-128"/>
              </a:rPr>
              <a:t>通学・その他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6E7BC51-D982-192B-96ED-DA59112944B1}"/>
              </a:ext>
            </a:extLst>
          </p:cNvPr>
          <p:cNvSpPr txBox="1"/>
          <p:nvPr/>
        </p:nvSpPr>
        <p:spPr>
          <a:xfrm>
            <a:off x="2286000" y="3805366"/>
            <a:ext cx="6146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222B45"/>
                </a:solidFill>
                <a:latin typeface="Meiryo" panose="020B0604030504040204" pitchFamily="50" charset="-128"/>
              </a:rPr>
              <a:t>公立で学費が抑えられる。市外だが通学圏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CBEBDE97-205D-5A08-2758-D6E2D678A094}"/>
              </a:ext>
            </a:extLst>
          </p:cNvPr>
          <p:cNvSpPr/>
          <p:nvPr/>
        </p:nvSpPr>
        <p:spPr>
          <a:xfrm>
            <a:off x="508000" y="4724400"/>
            <a:ext cx="11176000" cy="508000"/>
          </a:xfrm>
          <a:prstGeom prst="roundRect">
            <a:avLst/>
          </a:prstGeom>
          <a:solidFill>
            <a:srgbClr val="E9EE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F112B29-37F7-AD62-CFC6-F492319740D6}"/>
              </a:ext>
            </a:extLst>
          </p:cNvPr>
          <p:cNvSpPr txBox="1"/>
          <p:nvPr/>
        </p:nvSpPr>
        <p:spPr>
          <a:xfrm>
            <a:off x="685800" y="4770567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▶ 次のページ②に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【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部活動・校風校則・口コミの良い点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/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気になる点・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年度の日程</a:t>
            </a:r>
            <a:r>
              <a:rPr kumimoji="1" lang="en-US" altLang="ja-JP" sz="1200" b="1">
                <a:solidFill>
                  <a:srgbClr val="1E2761"/>
                </a:solidFill>
                <a:latin typeface="Meiryo" panose="020B0604030504040204" pitchFamily="50" charset="-128"/>
              </a:rPr>
              <a:t>】</a:t>
            </a:r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を掲載しています。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0894CEC3-A686-EEB2-324E-96087FB3BB56}"/>
              </a:ext>
            </a:extLst>
          </p:cNvPr>
          <p:cNvSpPr/>
          <p:nvPr/>
        </p:nvSpPr>
        <p:spPr>
          <a:xfrm>
            <a:off x="508000" y="6172200"/>
            <a:ext cx="11176000" cy="4064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CDFDB66-950C-F85B-926A-BE26BE681CC4}"/>
              </a:ext>
            </a:extLst>
          </p:cNvPr>
          <p:cNvSpPr txBox="1"/>
          <p:nvPr/>
        </p:nvSpPr>
        <p:spPr>
          <a:xfrm>
            <a:off x="685800" y="6218366"/>
            <a:ext cx="10998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>
                <a:solidFill>
                  <a:srgbClr val="1A56C4"/>
                </a:solidFill>
                <a:latin typeface="Meiryo" panose="020B0604030504040204" pitchFamily="50" charset="-128"/>
                <a:hlinkClick r:id="rId3"/>
              </a:rPr>
              <a:t>▶ 春日井南高校のくわしい情報（口コミ・偏差値・制服）はこちら（みんなの高校情報）</a:t>
            </a:r>
            <a:endParaRPr kumimoji="1" lang="ja-JP" altLang="en-US" sz="12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6857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177FCE8-638D-DCB8-95B2-2D4AB8969809}"/>
              </a:ext>
            </a:extLst>
          </p:cNvPr>
          <p:cNvSpPr/>
          <p:nvPr/>
        </p:nvSpPr>
        <p:spPr>
          <a:xfrm>
            <a:off x="508000" y="330200"/>
            <a:ext cx="11176000" cy="584200"/>
          </a:xfrm>
          <a:prstGeom prst="round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29D0DCE-9ED5-DBF8-DF0B-09D241BD3EE3}"/>
              </a:ext>
            </a:extLst>
          </p:cNvPr>
          <p:cNvSpPr txBox="1"/>
          <p:nvPr/>
        </p:nvSpPr>
        <p:spPr>
          <a:xfrm>
            <a:off x="736600" y="314811"/>
            <a:ext cx="10922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2000" b="1">
                <a:solidFill>
                  <a:srgbClr val="FFFFFF"/>
                </a:solidFill>
                <a:latin typeface="Meiryo" panose="020B0604030504040204" pitchFamily="50" charset="-128"/>
              </a:rPr>
              <a:t>愛知県立 春日井南高校　②部活・校風・口コミ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3CC04F6-02B7-F0CB-CD16-E0CB4CAC00A1}"/>
              </a:ext>
            </a:extLst>
          </p:cNvPr>
          <p:cNvSpPr/>
          <p:nvPr/>
        </p:nvSpPr>
        <p:spPr>
          <a:xfrm>
            <a:off x="508000" y="1066800"/>
            <a:ext cx="5461000" cy="1930400"/>
          </a:xfrm>
          <a:prstGeom prst="roundRect">
            <a:avLst/>
          </a:prstGeom>
          <a:solidFill>
            <a:srgbClr val="EA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2757105-9297-CD41-2315-CEB5B913CCAF}"/>
              </a:ext>
            </a:extLst>
          </p:cNvPr>
          <p:cNvSpPr txBox="1"/>
          <p:nvPr/>
        </p:nvSpPr>
        <p:spPr>
          <a:xfrm>
            <a:off x="711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2761"/>
                </a:solidFill>
                <a:latin typeface="Meiryo" panose="020B0604030504040204" pitchFamily="50" charset="-128"/>
              </a:rPr>
              <a:t>■ 部活動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23BC1A-61D0-81BC-5173-CB64E1855AAD}"/>
              </a:ext>
            </a:extLst>
          </p:cNvPr>
          <p:cNvSpPr txBox="1"/>
          <p:nvPr/>
        </p:nvSpPr>
        <p:spPr>
          <a:xfrm>
            <a:off x="711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・運動部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14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・文化部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10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と豊富で打ち込める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・ハンドボール部が全国大会の強豪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プロ選手も輩出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・和太鼓部が地域で演奏するなど人気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1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年生は原則全員入部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文武両道の方針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  <a:endParaRPr kumimoji="1" lang="ja-JP" altLang="en-US" sz="115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E14072B-1DB3-C7C9-5601-B3A3CC7788AD}"/>
              </a:ext>
            </a:extLst>
          </p:cNvPr>
          <p:cNvSpPr/>
          <p:nvPr/>
        </p:nvSpPr>
        <p:spPr>
          <a:xfrm>
            <a:off x="6223000" y="1066800"/>
            <a:ext cx="5461000" cy="1930400"/>
          </a:xfrm>
          <a:prstGeom prst="roundRect">
            <a:avLst/>
          </a:prstGeom>
          <a:solidFill>
            <a:srgbClr val="F3EF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D7AEFC-5A94-72DF-D9FA-F03716A6C118}"/>
              </a:ext>
            </a:extLst>
          </p:cNvPr>
          <p:cNvSpPr txBox="1"/>
          <p:nvPr/>
        </p:nvSpPr>
        <p:spPr>
          <a:xfrm>
            <a:off x="6426200" y="11684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6B46A8"/>
                </a:solidFill>
                <a:latin typeface="Meiryo" panose="020B0604030504040204" pitchFamily="50" charset="-128"/>
              </a:rPr>
              <a:t>■ 校風・校則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A7139D-3E82-0B0A-8B6C-8B8FBEDDBBD8}"/>
              </a:ext>
            </a:extLst>
          </p:cNvPr>
          <p:cNvSpPr txBox="1"/>
          <p:nvPr/>
        </p:nvSpPr>
        <p:spPr>
          <a:xfrm>
            <a:off x="6426200" y="14986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行事や部活に力／青春できる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校風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・春陵祭・体育祭・球技大会が盛り上がる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・スマホは昼放課中心に使用可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運用はゆるめ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・頭髪検査なし・服装も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やりすぎなければ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』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でゆるめ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1D662DE-5544-4C7E-9D8C-F7A68EEBF63E}"/>
              </a:ext>
            </a:extLst>
          </p:cNvPr>
          <p:cNvSpPr/>
          <p:nvPr/>
        </p:nvSpPr>
        <p:spPr>
          <a:xfrm>
            <a:off x="508000" y="3124200"/>
            <a:ext cx="5461000" cy="1905000"/>
          </a:xfrm>
          <a:prstGeom prst="roundRect">
            <a:avLst/>
          </a:prstGeom>
          <a:solidFill>
            <a:srgbClr val="E7F6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63396B0-C329-45A0-D94F-F63645D3DE16}"/>
              </a:ext>
            </a:extLst>
          </p:cNvPr>
          <p:cNvSpPr txBox="1"/>
          <p:nvPr/>
        </p:nvSpPr>
        <p:spPr>
          <a:xfrm>
            <a:off x="711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1E7A43"/>
                </a:solidFill>
                <a:latin typeface="Meiryo" panose="020B0604030504040204" pitchFamily="50" charset="-128"/>
              </a:rPr>
              <a:t>■ 口コミの良い点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357915C-4620-C048-461A-B4F1DC0CC59D}"/>
              </a:ext>
            </a:extLst>
          </p:cNvPr>
          <p:cNvSpPr txBox="1"/>
          <p:nvPr/>
        </p:nvSpPr>
        <p:spPr>
          <a:xfrm>
            <a:off x="711200" y="3556000"/>
            <a:ext cx="51308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・学習環境が良い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自習室・きれいな校舎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・評判が高い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県内上位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)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・部活・行事が活発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・校則がゆるめ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9DF609D-5C03-BA1E-447C-FCE4F91C0B28}"/>
              </a:ext>
            </a:extLst>
          </p:cNvPr>
          <p:cNvSpPr/>
          <p:nvPr/>
        </p:nvSpPr>
        <p:spPr>
          <a:xfrm>
            <a:off x="6223000" y="3124200"/>
            <a:ext cx="5461000" cy="1905000"/>
          </a:xfrm>
          <a:prstGeom prst="roundRect">
            <a:avLst/>
          </a:prstGeom>
          <a:solidFill>
            <a:srgbClr val="FB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3EF8BA3-5F75-647A-BDC0-D93BBE898C16}"/>
              </a:ext>
            </a:extLst>
          </p:cNvPr>
          <p:cNvSpPr txBox="1"/>
          <p:nvPr/>
        </p:nvSpPr>
        <p:spPr>
          <a:xfrm>
            <a:off x="6426200" y="3225800"/>
            <a:ext cx="508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 b="1">
                <a:solidFill>
                  <a:srgbClr val="B23B3B"/>
                </a:solidFill>
                <a:latin typeface="Meiryo" panose="020B0604030504040204" pitchFamily="50" charset="-128"/>
              </a:rPr>
              <a:t>■ 気になる点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747FDFA-8491-9DFF-ACD6-7B827E7A3D2D}"/>
              </a:ext>
            </a:extLst>
          </p:cNvPr>
          <p:cNvSpPr txBox="1"/>
          <p:nvPr/>
        </p:nvSpPr>
        <p:spPr>
          <a:xfrm>
            <a:off x="6426200" y="3556000"/>
            <a:ext cx="5130800" cy="55656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・市外で通学はやや遠い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・進学校で課題・勉強量は多め</a:t>
            </a:r>
          </a:p>
          <a:p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・</a:t>
            </a:r>
            <a:r>
              <a:rPr kumimoji="1" lang="en-US" altLang="ja-JP" sz="1150">
                <a:solidFill>
                  <a:srgbClr val="222B45"/>
                </a:solidFill>
                <a:latin typeface="Meiryo" panose="020B0604030504040204" pitchFamily="50" charset="-128"/>
              </a:rPr>
              <a:t>1</a:t>
            </a:r>
            <a:r>
              <a:rPr kumimoji="1" lang="ja-JP" altLang="en-US" sz="1150">
                <a:solidFill>
                  <a:srgbClr val="222B45"/>
                </a:solidFill>
                <a:latin typeface="Meiryo" panose="020B0604030504040204" pitchFamily="50" charset="-128"/>
              </a:rPr>
              <a:t>年は原則全員入部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6919CC5D-73E9-9AA3-980B-F6046A979835}"/>
              </a:ext>
            </a:extLst>
          </p:cNvPr>
          <p:cNvSpPr/>
          <p:nvPr/>
        </p:nvSpPr>
        <p:spPr>
          <a:xfrm>
            <a:off x="508000" y="5156200"/>
            <a:ext cx="11176000" cy="889000"/>
          </a:xfrm>
          <a:prstGeom prst="roundRect">
            <a:avLst/>
          </a:prstGeom>
          <a:solidFill>
            <a:srgbClr val="FFF4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A61CB37-F4A3-56D3-FE17-9A314E6676A6}"/>
              </a:ext>
            </a:extLst>
          </p:cNvPr>
          <p:cNvSpPr txBox="1"/>
          <p:nvPr/>
        </p:nvSpPr>
        <p:spPr>
          <a:xfrm>
            <a:off x="685800" y="52070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■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年度（令和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8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年度）の日程 </a:t>
            </a:r>
            <a:r>
              <a:rPr kumimoji="1" lang="en-US" altLang="ja-JP" sz="1200" b="1">
                <a:solidFill>
                  <a:srgbClr val="B5651D"/>
                </a:solidFill>
                <a:latin typeface="Meiryo" panose="020B0604030504040204" pitchFamily="50" charset="-128"/>
              </a:rPr>
              <a:t>※</a:t>
            </a:r>
            <a:r>
              <a:rPr kumimoji="1" lang="ja-JP" altLang="en-US" sz="1200" b="1">
                <a:solidFill>
                  <a:srgbClr val="B5651D"/>
                </a:solidFill>
                <a:latin typeface="Meiryo" panose="020B0604030504040204" pitchFamily="50" charset="-128"/>
              </a:rPr>
              <a:t>最新は公式で要確認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BD65622-CA58-3328-28C2-734CFFB6ED8F}"/>
              </a:ext>
            </a:extLst>
          </p:cNvPr>
          <p:cNvSpPr txBox="1"/>
          <p:nvPr/>
        </p:nvSpPr>
        <p:spPr>
          <a:xfrm>
            <a:off x="685800" y="5486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説明会・見学：学校説明会 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8/18(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火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 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春日井市民会館／学校見学会 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10/11(</a:t>
            </a:r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日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)9:00-15:00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AD26417-4758-D470-9308-F53170E6B1E2}"/>
              </a:ext>
            </a:extLst>
          </p:cNvPr>
          <p:cNvSpPr txBox="1"/>
          <p:nvPr/>
        </p:nvSpPr>
        <p:spPr>
          <a:xfrm>
            <a:off x="685800" y="5740400"/>
            <a:ext cx="11176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文化祭：春陵祭＝例年秋・要確認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306C2BDC-70C7-C811-EE59-0477C89BB2BA}"/>
              </a:ext>
            </a:extLst>
          </p:cNvPr>
          <p:cNvSpPr/>
          <p:nvPr/>
        </p:nvSpPr>
        <p:spPr>
          <a:xfrm>
            <a:off x="508000" y="6146800"/>
            <a:ext cx="11176000" cy="381000"/>
          </a:xfrm>
          <a:prstGeom prst="roundRect">
            <a:avLst/>
          </a:prstGeom>
          <a:solidFill>
            <a:srgbClr val="EEF2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B01DFD7-C7DB-46A9-489A-75FA48991099}"/>
              </a:ext>
            </a:extLst>
          </p:cNvPr>
          <p:cNvSpPr txBox="1"/>
          <p:nvPr/>
        </p:nvSpPr>
        <p:spPr>
          <a:xfrm>
            <a:off x="685800" y="6200661"/>
            <a:ext cx="10998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100">
                <a:solidFill>
                  <a:srgbClr val="1A56C4"/>
                </a:solidFill>
                <a:latin typeface="Meiryo" panose="020B0604030504040204" pitchFamily="50" charset="-128"/>
                <a:hlinkClick r:id="rId2"/>
              </a:rPr>
              <a:t>▶ 春日井南高校のくわしい情報（口コミ・偏差値・制服）はこちら（みんなの高校情報）</a:t>
            </a:r>
            <a:endParaRPr kumimoji="1" lang="ja-JP" altLang="en-US" sz="1100">
              <a:solidFill>
                <a:srgbClr val="1A56C4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7402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7EAE6C3-E7A3-C697-5C2C-4EDCE746FC7F}"/>
              </a:ext>
            </a:extLst>
          </p:cNvPr>
          <p:cNvSpPr txBox="1"/>
          <p:nvPr/>
        </p:nvSpPr>
        <p:spPr>
          <a:xfrm>
            <a:off x="508000" y="355600"/>
            <a:ext cx="11176000" cy="45653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2800" b="1">
                <a:solidFill>
                  <a:srgbClr val="1E2761"/>
                </a:solidFill>
                <a:latin typeface="Meiryo" panose="020B0604030504040204" pitchFamily="50" charset="-128"/>
              </a:rPr>
              <a:t>くらべると（早見表）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8111D74-8205-D8B3-8BCF-035A696A78C4}"/>
              </a:ext>
            </a:extLst>
          </p:cNvPr>
          <p:cNvSpPr/>
          <p:nvPr/>
        </p:nvSpPr>
        <p:spPr>
          <a:xfrm>
            <a:off x="508000" y="1092200"/>
            <a:ext cx="1905000" cy="508000"/>
          </a:xfrm>
          <a:prstGeom prst="rect">
            <a:avLst/>
          </a:prstGeom>
          <a:solidFill>
            <a:srgbClr val="1E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1E70CC-907D-4B1D-23E5-D5499FD2278A}"/>
              </a:ext>
            </a:extLst>
          </p:cNvPr>
          <p:cNvSpPr txBox="1"/>
          <p:nvPr/>
        </p:nvSpPr>
        <p:spPr>
          <a:xfrm>
            <a:off x="508000" y="1130672"/>
            <a:ext cx="1905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項目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CA65605-F245-02A1-57AE-4867D400EAA1}"/>
              </a:ext>
            </a:extLst>
          </p:cNvPr>
          <p:cNvSpPr/>
          <p:nvPr/>
        </p:nvSpPr>
        <p:spPr>
          <a:xfrm>
            <a:off x="2413000" y="1092200"/>
            <a:ext cx="2235200" cy="508000"/>
          </a:xfrm>
          <a:prstGeom prst="rect">
            <a:avLst/>
          </a:prstGeom>
          <a:solidFill>
            <a:srgbClr val="0E8C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417E6C-147C-E5C3-33CA-955C9466B9E3}"/>
              </a:ext>
            </a:extLst>
          </p:cNvPr>
          <p:cNvSpPr txBox="1"/>
          <p:nvPr/>
        </p:nvSpPr>
        <p:spPr>
          <a:xfrm>
            <a:off x="2413000" y="1130672"/>
            <a:ext cx="2235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北高校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BABAE73-B4F3-7607-154D-B621722FA8B3}"/>
              </a:ext>
            </a:extLst>
          </p:cNvPr>
          <p:cNvSpPr/>
          <p:nvPr/>
        </p:nvSpPr>
        <p:spPr>
          <a:xfrm>
            <a:off x="4648200" y="1092200"/>
            <a:ext cx="2235200" cy="508000"/>
          </a:xfrm>
          <a:prstGeom prst="rect">
            <a:avLst/>
          </a:prstGeom>
          <a:solidFill>
            <a:srgbClr val="E863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D00B5F3-0D86-E98F-33FD-57163C571F8A}"/>
              </a:ext>
            </a:extLst>
          </p:cNvPr>
          <p:cNvSpPr txBox="1"/>
          <p:nvPr/>
        </p:nvSpPr>
        <p:spPr>
          <a:xfrm>
            <a:off x="4648200" y="1130672"/>
            <a:ext cx="2235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山田高校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820B168-297F-3B1F-F953-3BB828D2B304}"/>
              </a:ext>
            </a:extLst>
          </p:cNvPr>
          <p:cNvSpPr/>
          <p:nvPr/>
        </p:nvSpPr>
        <p:spPr>
          <a:xfrm>
            <a:off x="6883400" y="1092200"/>
            <a:ext cx="2235200" cy="508000"/>
          </a:xfrm>
          <a:prstGeom prst="rect">
            <a:avLst/>
          </a:prstGeom>
          <a:solidFill>
            <a:srgbClr val="7B5E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8541955-7A0D-7CC8-3B84-D1EE908F2EBB}"/>
              </a:ext>
            </a:extLst>
          </p:cNvPr>
          <p:cNvSpPr txBox="1"/>
          <p:nvPr/>
        </p:nvSpPr>
        <p:spPr>
          <a:xfrm>
            <a:off x="6883400" y="1130672"/>
            <a:ext cx="2235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中村高校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3A2CCC3-61B4-CE61-F56B-1358351E3725}"/>
              </a:ext>
            </a:extLst>
          </p:cNvPr>
          <p:cNvSpPr/>
          <p:nvPr/>
        </p:nvSpPr>
        <p:spPr>
          <a:xfrm>
            <a:off x="9118600" y="1092200"/>
            <a:ext cx="2235200" cy="508000"/>
          </a:xfrm>
          <a:prstGeom prst="rect">
            <a:avLst/>
          </a:prstGeom>
          <a:solidFill>
            <a:srgbClr val="2E8B5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AEE2ED4-A04A-C95A-14FE-D5DE099913F5}"/>
              </a:ext>
            </a:extLst>
          </p:cNvPr>
          <p:cNvSpPr txBox="1"/>
          <p:nvPr/>
        </p:nvSpPr>
        <p:spPr>
          <a:xfrm>
            <a:off x="9118600" y="1130672"/>
            <a:ext cx="2235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春日井南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2E667CB-6EAB-2490-9C41-69F19FB9E7D9}"/>
              </a:ext>
            </a:extLst>
          </p:cNvPr>
          <p:cNvSpPr/>
          <p:nvPr/>
        </p:nvSpPr>
        <p:spPr>
          <a:xfrm>
            <a:off x="508000" y="1600200"/>
            <a:ext cx="1905000" cy="762000"/>
          </a:xfrm>
          <a:prstGeom prst="rect">
            <a:avLst/>
          </a:prstGeom>
          <a:solidFill>
            <a:srgbClr val="E4E9F5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ACB443-8DC6-0546-7594-46DBCBF158F3}"/>
              </a:ext>
            </a:extLst>
          </p:cNvPr>
          <p:cNvSpPr txBox="1"/>
          <p:nvPr/>
        </p:nvSpPr>
        <p:spPr>
          <a:xfrm>
            <a:off x="609600" y="1646366"/>
            <a:ext cx="1727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偏差値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C2EE7CE-270C-299B-09C3-044D969D0A5D}"/>
              </a:ext>
            </a:extLst>
          </p:cNvPr>
          <p:cNvSpPr/>
          <p:nvPr/>
        </p:nvSpPr>
        <p:spPr>
          <a:xfrm>
            <a:off x="2413000" y="1600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CFF89EF-6D40-45E0-781A-3C86536BB421}"/>
              </a:ext>
            </a:extLst>
          </p:cNvPr>
          <p:cNvSpPr txBox="1"/>
          <p:nvPr/>
        </p:nvSpPr>
        <p:spPr>
          <a:xfrm>
            <a:off x="2413000" y="1630977"/>
            <a:ext cx="22352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0E8C8B"/>
                </a:solidFill>
                <a:latin typeface="Meiryo" panose="020B0604030504040204" pitchFamily="50" charset="-128"/>
              </a:rPr>
              <a:t>50</a:t>
            </a:r>
            <a:endParaRPr kumimoji="1" lang="ja-JP" altLang="en-US" sz="1400" b="1">
              <a:solidFill>
                <a:srgbClr val="0E8C8B"/>
              </a:solidFill>
              <a:latin typeface="Meiryo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5D6BACB-3400-DD4B-D3A0-E0E5C2039696}"/>
              </a:ext>
            </a:extLst>
          </p:cNvPr>
          <p:cNvSpPr/>
          <p:nvPr/>
        </p:nvSpPr>
        <p:spPr>
          <a:xfrm>
            <a:off x="4648200" y="1600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B4BB37E-D011-B884-48C4-2D294E071086}"/>
              </a:ext>
            </a:extLst>
          </p:cNvPr>
          <p:cNvSpPr txBox="1"/>
          <p:nvPr/>
        </p:nvSpPr>
        <p:spPr>
          <a:xfrm>
            <a:off x="4648200" y="1630977"/>
            <a:ext cx="22352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E8633F"/>
                </a:solidFill>
                <a:latin typeface="Meiryo" panose="020B0604030504040204" pitchFamily="50" charset="-128"/>
              </a:rPr>
              <a:t>49</a:t>
            </a:r>
            <a:endParaRPr kumimoji="1" lang="ja-JP" altLang="en-US" sz="1400" b="1">
              <a:solidFill>
                <a:srgbClr val="E8633F"/>
              </a:solidFill>
              <a:latin typeface="Meiryo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E82246A-6DE3-34DB-0943-552AFC32FB4D}"/>
              </a:ext>
            </a:extLst>
          </p:cNvPr>
          <p:cNvSpPr/>
          <p:nvPr/>
        </p:nvSpPr>
        <p:spPr>
          <a:xfrm>
            <a:off x="6883400" y="1600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96A5A03-9FCB-B52D-834E-3E48905C3ECD}"/>
              </a:ext>
            </a:extLst>
          </p:cNvPr>
          <p:cNvSpPr txBox="1"/>
          <p:nvPr/>
        </p:nvSpPr>
        <p:spPr>
          <a:xfrm>
            <a:off x="6883400" y="1630977"/>
            <a:ext cx="22352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7B5EA7"/>
                </a:solidFill>
                <a:latin typeface="Meiryo" panose="020B0604030504040204" pitchFamily="50" charset="-128"/>
              </a:rPr>
              <a:t>50</a:t>
            </a:r>
            <a:endParaRPr kumimoji="1" lang="ja-JP" altLang="en-US" sz="1400" b="1">
              <a:solidFill>
                <a:srgbClr val="7B5EA7"/>
              </a:solidFill>
              <a:latin typeface="Meiryo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C37DF42-FD7D-4C41-322B-A0E17663530D}"/>
              </a:ext>
            </a:extLst>
          </p:cNvPr>
          <p:cNvSpPr/>
          <p:nvPr/>
        </p:nvSpPr>
        <p:spPr>
          <a:xfrm>
            <a:off x="9118600" y="1600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4AC7F6A-D906-DAA0-21C8-91921607401F}"/>
              </a:ext>
            </a:extLst>
          </p:cNvPr>
          <p:cNvSpPr txBox="1"/>
          <p:nvPr/>
        </p:nvSpPr>
        <p:spPr>
          <a:xfrm>
            <a:off x="9118600" y="1630977"/>
            <a:ext cx="22352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2E8B57"/>
                </a:solidFill>
                <a:latin typeface="Meiryo" panose="020B0604030504040204" pitchFamily="50" charset="-128"/>
              </a:rPr>
              <a:t>54</a:t>
            </a:r>
            <a:endParaRPr kumimoji="1" lang="ja-JP" altLang="en-US" sz="1400" b="1">
              <a:solidFill>
                <a:srgbClr val="2E8B57"/>
              </a:solidFill>
              <a:latin typeface="Meiryo" panose="020B0604030504040204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D6547AD-FE41-124D-55B5-53BB4F707E54}"/>
              </a:ext>
            </a:extLst>
          </p:cNvPr>
          <p:cNvSpPr/>
          <p:nvPr/>
        </p:nvSpPr>
        <p:spPr>
          <a:xfrm>
            <a:off x="508000" y="2362200"/>
            <a:ext cx="1905000" cy="762000"/>
          </a:xfrm>
          <a:prstGeom prst="rect">
            <a:avLst/>
          </a:prstGeom>
          <a:solidFill>
            <a:srgbClr val="E4E9F5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8CE31E8-602D-B4B0-B2E0-2D420FE3FAEA}"/>
              </a:ext>
            </a:extLst>
          </p:cNvPr>
          <p:cNvSpPr txBox="1"/>
          <p:nvPr/>
        </p:nvSpPr>
        <p:spPr>
          <a:xfrm>
            <a:off x="609600" y="2408366"/>
            <a:ext cx="1727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部活・実績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FC5BC3F-0DD1-C3E5-94F7-5F6B6E5320D8}"/>
              </a:ext>
            </a:extLst>
          </p:cNvPr>
          <p:cNvSpPr/>
          <p:nvPr/>
        </p:nvSpPr>
        <p:spPr>
          <a:xfrm>
            <a:off x="2413000" y="2362200"/>
            <a:ext cx="22352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4FA788C-C19D-8324-3E82-C2B56ECDCFA5}"/>
              </a:ext>
            </a:extLst>
          </p:cNvPr>
          <p:cNvSpPr txBox="1"/>
          <p:nvPr/>
        </p:nvSpPr>
        <p:spPr>
          <a:xfrm>
            <a:off x="2463800" y="2416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音楽部 全国級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1288C14-35D4-3D58-9EB9-F79189E9F32C}"/>
              </a:ext>
            </a:extLst>
          </p:cNvPr>
          <p:cNvSpPr/>
          <p:nvPr/>
        </p:nvSpPr>
        <p:spPr>
          <a:xfrm>
            <a:off x="4648200" y="2362200"/>
            <a:ext cx="22352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B5B7A2B-9C3D-1DA5-2249-82D8C582B71E}"/>
              </a:ext>
            </a:extLst>
          </p:cNvPr>
          <p:cNvSpPr txBox="1"/>
          <p:nvPr/>
        </p:nvSpPr>
        <p:spPr>
          <a:xfrm>
            <a:off x="4699000" y="2416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ダンス 全国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B59B451-CC40-542B-FD85-BB2F8ACE371F}"/>
              </a:ext>
            </a:extLst>
          </p:cNvPr>
          <p:cNvSpPr/>
          <p:nvPr/>
        </p:nvSpPr>
        <p:spPr>
          <a:xfrm>
            <a:off x="6883400" y="2362200"/>
            <a:ext cx="22352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DBBBA27-1B7D-927F-BD87-3BE64C36C4C4}"/>
              </a:ext>
            </a:extLst>
          </p:cNvPr>
          <p:cNvSpPr txBox="1"/>
          <p:nvPr/>
        </p:nvSpPr>
        <p:spPr>
          <a:xfrm>
            <a:off x="6934200" y="2416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文化も充実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B2279AC-D1DB-39F7-A229-C8767E496EBE}"/>
              </a:ext>
            </a:extLst>
          </p:cNvPr>
          <p:cNvSpPr/>
          <p:nvPr/>
        </p:nvSpPr>
        <p:spPr>
          <a:xfrm>
            <a:off x="9118600" y="2362200"/>
            <a:ext cx="22352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17AD86C-F456-FF81-A4BF-B574F87F70DA}"/>
              </a:ext>
            </a:extLst>
          </p:cNvPr>
          <p:cNvSpPr txBox="1"/>
          <p:nvPr/>
        </p:nvSpPr>
        <p:spPr>
          <a:xfrm>
            <a:off x="9169400" y="2416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ハンド 全国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225B5DB2-1C6F-9FD7-5312-DD187333A013}"/>
              </a:ext>
            </a:extLst>
          </p:cNvPr>
          <p:cNvSpPr/>
          <p:nvPr/>
        </p:nvSpPr>
        <p:spPr>
          <a:xfrm>
            <a:off x="508000" y="3124200"/>
            <a:ext cx="1905000" cy="762000"/>
          </a:xfrm>
          <a:prstGeom prst="rect">
            <a:avLst/>
          </a:prstGeom>
          <a:solidFill>
            <a:srgbClr val="E4E9F5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6B6AFCD-3EFB-D1D0-836F-6E6DF3C4BD4C}"/>
              </a:ext>
            </a:extLst>
          </p:cNvPr>
          <p:cNvSpPr txBox="1"/>
          <p:nvPr/>
        </p:nvSpPr>
        <p:spPr>
          <a:xfrm>
            <a:off x="609600" y="3170366"/>
            <a:ext cx="1727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評判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DE6B669-505E-EF8E-7FA4-706555BAE2C8}"/>
              </a:ext>
            </a:extLst>
          </p:cNvPr>
          <p:cNvSpPr/>
          <p:nvPr/>
        </p:nvSpPr>
        <p:spPr>
          <a:xfrm>
            <a:off x="2413000" y="3124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9FB6159-D410-626A-0E0C-5AB2CF47F528}"/>
              </a:ext>
            </a:extLst>
          </p:cNvPr>
          <p:cNvSpPr txBox="1"/>
          <p:nvPr/>
        </p:nvSpPr>
        <p:spPr>
          <a:xfrm>
            <a:off x="2463800" y="3178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★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2.9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6621802D-C880-0C14-FC54-E935073BF096}"/>
              </a:ext>
            </a:extLst>
          </p:cNvPr>
          <p:cNvSpPr/>
          <p:nvPr/>
        </p:nvSpPr>
        <p:spPr>
          <a:xfrm>
            <a:off x="4648200" y="3124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6A61954-8EB5-DEF7-94ED-70DE1E1A2F17}"/>
              </a:ext>
            </a:extLst>
          </p:cNvPr>
          <p:cNvSpPr txBox="1"/>
          <p:nvPr/>
        </p:nvSpPr>
        <p:spPr>
          <a:xfrm>
            <a:off x="4699000" y="3178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★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3.5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160A615-B31E-DB42-192E-C367D032837C}"/>
              </a:ext>
            </a:extLst>
          </p:cNvPr>
          <p:cNvSpPr/>
          <p:nvPr/>
        </p:nvSpPr>
        <p:spPr>
          <a:xfrm>
            <a:off x="6883400" y="3124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6D4F71B-6C4F-6B97-ACD7-77E39C7892BD}"/>
              </a:ext>
            </a:extLst>
          </p:cNvPr>
          <p:cNvSpPr txBox="1"/>
          <p:nvPr/>
        </p:nvSpPr>
        <p:spPr>
          <a:xfrm>
            <a:off x="6934200" y="3178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--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4A6A5E9-873A-269C-E4F5-8A690E28FE0D}"/>
              </a:ext>
            </a:extLst>
          </p:cNvPr>
          <p:cNvSpPr/>
          <p:nvPr/>
        </p:nvSpPr>
        <p:spPr>
          <a:xfrm>
            <a:off x="9118600" y="3124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5F60587-2AE3-0F5A-A40F-E9029A7677EB}"/>
              </a:ext>
            </a:extLst>
          </p:cNvPr>
          <p:cNvSpPr txBox="1"/>
          <p:nvPr/>
        </p:nvSpPr>
        <p:spPr>
          <a:xfrm>
            <a:off x="9169400" y="3178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★</a:t>
            </a:r>
            <a:r>
              <a:rPr kumimoji="1" lang="en-US" altLang="ja-JP" sz="1100">
                <a:solidFill>
                  <a:srgbClr val="222B45"/>
                </a:solidFill>
                <a:latin typeface="Meiryo" panose="020B0604030504040204" pitchFamily="50" charset="-128"/>
              </a:rPr>
              <a:t>3.9</a:t>
            </a:r>
            <a:endParaRPr kumimoji="1" lang="ja-JP" altLang="en-US" sz="1100">
              <a:solidFill>
                <a:srgbClr val="222B45"/>
              </a:solidFill>
              <a:latin typeface="Meiryo" panose="020B0604030504040204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8B71CCC-59E6-B3FA-420F-175EFC207C4A}"/>
              </a:ext>
            </a:extLst>
          </p:cNvPr>
          <p:cNvSpPr/>
          <p:nvPr/>
        </p:nvSpPr>
        <p:spPr>
          <a:xfrm>
            <a:off x="508000" y="3886200"/>
            <a:ext cx="1905000" cy="762000"/>
          </a:xfrm>
          <a:prstGeom prst="rect">
            <a:avLst/>
          </a:prstGeom>
          <a:solidFill>
            <a:srgbClr val="E4E9F5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4679A47-FDD9-C6CB-1618-5383287EB4D9}"/>
              </a:ext>
            </a:extLst>
          </p:cNvPr>
          <p:cNvSpPr txBox="1"/>
          <p:nvPr/>
        </p:nvSpPr>
        <p:spPr>
          <a:xfrm>
            <a:off x="609600" y="3932366"/>
            <a:ext cx="1727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通学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661C4533-CD2A-A93E-090B-DDCD8C93467C}"/>
              </a:ext>
            </a:extLst>
          </p:cNvPr>
          <p:cNvSpPr/>
          <p:nvPr/>
        </p:nvSpPr>
        <p:spPr>
          <a:xfrm>
            <a:off x="2413000" y="3886200"/>
            <a:ext cx="22352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317D395-EC9B-BD04-5F11-832C0945FA29}"/>
              </a:ext>
            </a:extLst>
          </p:cNvPr>
          <p:cNvSpPr txBox="1"/>
          <p:nvPr/>
        </p:nvSpPr>
        <p:spPr>
          <a:xfrm>
            <a:off x="2463800" y="3940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◎北区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59C48B9-3969-2C57-3DDC-CD69C55CB0C7}"/>
              </a:ext>
            </a:extLst>
          </p:cNvPr>
          <p:cNvSpPr/>
          <p:nvPr/>
        </p:nvSpPr>
        <p:spPr>
          <a:xfrm>
            <a:off x="4648200" y="3886200"/>
            <a:ext cx="22352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223B8F89-7956-E3CF-1ABD-C3C7F617F3A5}"/>
              </a:ext>
            </a:extLst>
          </p:cNvPr>
          <p:cNvSpPr txBox="1"/>
          <p:nvPr/>
        </p:nvSpPr>
        <p:spPr>
          <a:xfrm>
            <a:off x="4699000" y="3940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〇上小田井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BD8F6612-3E7B-5309-C842-F592EB94055F}"/>
              </a:ext>
            </a:extLst>
          </p:cNvPr>
          <p:cNvSpPr/>
          <p:nvPr/>
        </p:nvSpPr>
        <p:spPr>
          <a:xfrm>
            <a:off x="6883400" y="3886200"/>
            <a:ext cx="22352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B4301CC3-AF70-A678-4116-A66477716F5D}"/>
              </a:ext>
            </a:extLst>
          </p:cNvPr>
          <p:cNvSpPr txBox="1"/>
          <p:nvPr/>
        </p:nvSpPr>
        <p:spPr>
          <a:xfrm>
            <a:off x="6934200" y="3940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〇中村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AD4BA5CF-8818-16DD-9964-3D43F9F4B6C1}"/>
              </a:ext>
            </a:extLst>
          </p:cNvPr>
          <p:cNvSpPr/>
          <p:nvPr/>
        </p:nvSpPr>
        <p:spPr>
          <a:xfrm>
            <a:off x="9118600" y="3886200"/>
            <a:ext cx="2235200" cy="762000"/>
          </a:xfrm>
          <a:prstGeom prst="rect">
            <a:avLst/>
          </a:prstGeom>
          <a:solidFill>
            <a:srgbClr val="EEF2FB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EF753DC8-AFF4-B6FE-969D-229C64304D60}"/>
              </a:ext>
            </a:extLst>
          </p:cNvPr>
          <p:cNvSpPr txBox="1"/>
          <p:nvPr/>
        </p:nvSpPr>
        <p:spPr>
          <a:xfrm>
            <a:off x="9169400" y="3940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△市外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01C2CF00-3412-8B8F-C89F-CB97CDE53F62}"/>
              </a:ext>
            </a:extLst>
          </p:cNvPr>
          <p:cNvSpPr/>
          <p:nvPr/>
        </p:nvSpPr>
        <p:spPr>
          <a:xfrm>
            <a:off x="508000" y="4648200"/>
            <a:ext cx="1905000" cy="762000"/>
          </a:xfrm>
          <a:prstGeom prst="rect">
            <a:avLst/>
          </a:prstGeom>
          <a:solidFill>
            <a:srgbClr val="E4E9F5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824E660A-2FF1-A0B4-07DD-550BCBCDDB29}"/>
              </a:ext>
            </a:extLst>
          </p:cNvPr>
          <p:cNvSpPr txBox="1"/>
          <p:nvPr/>
        </p:nvSpPr>
        <p:spPr>
          <a:xfrm>
            <a:off x="609600" y="4694366"/>
            <a:ext cx="1727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kumimoji="1" lang="ja-JP" altLang="en-US" sz="1200" b="1">
                <a:solidFill>
                  <a:srgbClr val="1E2761"/>
                </a:solidFill>
                <a:latin typeface="Meiryo" panose="020B0604030504040204" pitchFamily="50" charset="-128"/>
              </a:rPr>
              <a:t>特色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7C2110D-E346-B557-4211-A1162C89108D}"/>
              </a:ext>
            </a:extLst>
          </p:cNvPr>
          <p:cNvSpPr/>
          <p:nvPr/>
        </p:nvSpPr>
        <p:spPr>
          <a:xfrm>
            <a:off x="2413000" y="4648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ABCB3A9-A9F9-F216-423E-98A637A6FBFF}"/>
              </a:ext>
            </a:extLst>
          </p:cNvPr>
          <p:cNvSpPr txBox="1"/>
          <p:nvPr/>
        </p:nvSpPr>
        <p:spPr>
          <a:xfrm>
            <a:off x="2463800" y="4702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国際理解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2A43BCFE-DFA0-E85C-5B6C-D59405052D45}"/>
              </a:ext>
            </a:extLst>
          </p:cNvPr>
          <p:cNvSpPr/>
          <p:nvPr/>
        </p:nvSpPr>
        <p:spPr>
          <a:xfrm>
            <a:off x="4648200" y="4648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EE877CEF-9FF5-A0BB-8C92-7E94DFFCCD87}"/>
              </a:ext>
            </a:extLst>
          </p:cNvPr>
          <p:cNvSpPr txBox="1"/>
          <p:nvPr/>
        </p:nvSpPr>
        <p:spPr>
          <a:xfrm>
            <a:off x="4699000" y="4702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明るい・行事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0ECAA868-670E-C83E-BAA7-7F707CE194E7}"/>
              </a:ext>
            </a:extLst>
          </p:cNvPr>
          <p:cNvSpPr/>
          <p:nvPr/>
        </p:nvSpPr>
        <p:spPr>
          <a:xfrm>
            <a:off x="6883400" y="4648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96D0B238-31CA-C29C-C27A-2EC3A611E04C}"/>
              </a:ext>
            </a:extLst>
          </p:cNvPr>
          <p:cNvSpPr txBox="1"/>
          <p:nvPr/>
        </p:nvSpPr>
        <p:spPr>
          <a:xfrm>
            <a:off x="6934200" y="4702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自由・伝統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805A68DA-2737-B914-F719-7E809A169A9C}"/>
              </a:ext>
            </a:extLst>
          </p:cNvPr>
          <p:cNvSpPr/>
          <p:nvPr/>
        </p:nvSpPr>
        <p:spPr>
          <a:xfrm>
            <a:off x="9118600" y="4648200"/>
            <a:ext cx="22352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26F82650-7167-E6A6-D8C5-F20B62734620}"/>
              </a:ext>
            </a:extLst>
          </p:cNvPr>
          <p:cNvSpPr txBox="1"/>
          <p:nvPr/>
        </p:nvSpPr>
        <p:spPr>
          <a:xfrm>
            <a:off x="9169400" y="4702061"/>
            <a:ext cx="21336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222B45"/>
                </a:solidFill>
                <a:latin typeface="Meiryo" panose="020B0604030504040204" pitchFamily="50" charset="-128"/>
              </a:rPr>
              <a:t>環境◎</a:t>
            </a:r>
          </a:p>
        </p:txBody>
      </p:sp>
    </p:spTree>
    <p:extLst>
      <p:ext uri="{BB962C8B-B14F-4D97-AF65-F5344CB8AC3E}">
        <p14:creationId xmlns:p14="http://schemas.microsoft.com/office/powerpoint/2010/main" val="2403881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B891A96-9FB5-B76D-A141-A2D09CF07BC1}"/>
              </a:ext>
            </a:extLst>
          </p:cNvPr>
          <p:cNvSpPr txBox="1"/>
          <p:nvPr/>
        </p:nvSpPr>
        <p:spPr>
          <a:xfrm>
            <a:off x="508000" y="457200"/>
            <a:ext cx="11176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3000" b="1">
                <a:solidFill>
                  <a:srgbClr val="FFFFFF"/>
                </a:solidFill>
                <a:latin typeface="Meiryo" panose="020B0604030504040204" pitchFamily="50" charset="-128"/>
              </a:rPr>
              <a:t>次にやること（おすすめの進め方）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2E225CD-1AE7-3C96-4E72-0E4298832306}"/>
              </a:ext>
            </a:extLst>
          </p:cNvPr>
          <p:cNvSpPr/>
          <p:nvPr/>
        </p:nvSpPr>
        <p:spPr>
          <a:xfrm>
            <a:off x="508000" y="1320800"/>
            <a:ext cx="11176000" cy="914400"/>
          </a:xfrm>
          <a:prstGeom prst="roundRect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8068FC9D-0DCB-5A05-75A9-01C5FFB1901D}"/>
              </a:ext>
            </a:extLst>
          </p:cNvPr>
          <p:cNvSpPr/>
          <p:nvPr/>
        </p:nvSpPr>
        <p:spPr>
          <a:xfrm>
            <a:off x="736600" y="1524000"/>
            <a:ext cx="508000" cy="508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743D37-3500-551E-F1EA-3D26A0AC7CCD}"/>
              </a:ext>
            </a:extLst>
          </p:cNvPr>
          <p:cNvSpPr txBox="1"/>
          <p:nvPr/>
        </p:nvSpPr>
        <p:spPr>
          <a:xfrm>
            <a:off x="736600" y="1508611"/>
            <a:ext cx="508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1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F0B27EC-CAD0-033A-7C4B-A02B6C9AA1DE}"/>
              </a:ext>
            </a:extLst>
          </p:cNvPr>
          <p:cNvSpPr txBox="1"/>
          <p:nvPr/>
        </p:nvSpPr>
        <p:spPr>
          <a:xfrm>
            <a:off x="1473200" y="1460500"/>
            <a:ext cx="10033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b="1">
                <a:solidFill>
                  <a:srgbClr val="FFFFFF"/>
                </a:solidFill>
                <a:latin typeface="Meiryo" panose="020B0604030504040204" pitchFamily="50" charset="-128"/>
              </a:rPr>
              <a:t>説明会・学校見学会に行く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20AD60-1483-AF28-365C-42FAAE2F089C}"/>
              </a:ext>
            </a:extLst>
          </p:cNvPr>
          <p:cNvSpPr txBox="1"/>
          <p:nvPr/>
        </p:nvSpPr>
        <p:spPr>
          <a:xfrm>
            <a:off x="1473200" y="1841500"/>
            <a:ext cx="10033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この資料の</a:t>
            </a:r>
            <a:r>
              <a:rPr kumimoji="1" lang="en-US" altLang="ja-JP" sz="1300">
                <a:solidFill>
                  <a:srgbClr val="CADCFC"/>
                </a:solidFill>
                <a:latin typeface="Meiryo" panose="020B0604030504040204" pitchFamily="50" charset="-128"/>
              </a:rPr>
              <a:t>2026</a:t>
            </a:r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日程を参考に予約。親子で雰囲気を確認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1996828-5D33-5AAB-6BD3-3302F6132AE2}"/>
              </a:ext>
            </a:extLst>
          </p:cNvPr>
          <p:cNvSpPr/>
          <p:nvPr/>
        </p:nvSpPr>
        <p:spPr>
          <a:xfrm>
            <a:off x="508000" y="2387600"/>
            <a:ext cx="11176000" cy="914400"/>
          </a:xfrm>
          <a:prstGeom prst="roundRect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25D5F6C3-A29C-C7B9-5205-F815569E8117}"/>
              </a:ext>
            </a:extLst>
          </p:cNvPr>
          <p:cNvSpPr/>
          <p:nvPr/>
        </p:nvSpPr>
        <p:spPr>
          <a:xfrm>
            <a:off x="736600" y="2590800"/>
            <a:ext cx="508000" cy="508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A4549B-F99F-42EE-BC34-429726D6353E}"/>
              </a:ext>
            </a:extLst>
          </p:cNvPr>
          <p:cNvSpPr txBox="1"/>
          <p:nvPr/>
        </p:nvSpPr>
        <p:spPr>
          <a:xfrm>
            <a:off x="736600" y="2575411"/>
            <a:ext cx="508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2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4D92BF-36CD-F904-D325-1FAE00CC0210}"/>
              </a:ext>
            </a:extLst>
          </p:cNvPr>
          <p:cNvSpPr txBox="1"/>
          <p:nvPr/>
        </p:nvSpPr>
        <p:spPr>
          <a:xfrm>
            <a:off x="1473200" y="2527300"/>
            <a:ext cx="10033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b="1">
                <a:solidFill>
                  <a:srgbClr val="FFFFFF"/>
                </a:solidFill>
                <a:latin typeface="Meiryo" panose="020B0604030504040204" pitchFamily="50" charset="-128"/>
              </a:rPr>
              <a:t>部活・文化祭を見に行く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ABB395A-87C5-C1D5-616C-C515DAB377EF}"/>
              </a:ext>
            </a:extLst>
          </p:cNvPr>
          <p:cNvSpPr txBox="1"/>
          <p:nvPr/>
        </p:nvSpPr>
        <p:spPr>
          <a:xfrm>
            <a:off x="1473200" y="2908300"/>
            <a:ext cx="10033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文化祭は学校の素顔が見える。部活の様子も確認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E8D8237-A569-7DB0-9EA6-DBE34D9C42B6}"/>
              </a:ext>
            </a:extLst>
          </p:cNvPr>
          <p:cNvSpPr/>
          <p:nvPr/>
        </p:nvSpPr>
        <p:spPr>
          <a:xfrm>
            <a:off x="508000" y="3454400"/>
            <a:ext cx="11176000" cy="914400"/>
          </a:xfrm>
          <a:prstGeom prst="roundRect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F4BBDEBA-DDA0-158E-E36C-8D962508AEC6}"/>
              </a:ext>
            </a:extLst>
          </p:cNvPr>
          <p:cNvSpPr/>
          <p:nvPr/>
        </p:nvSpPr>
        <p:spPr>
          <a:xfrm>
            <a:off x="736600" y="3657600"/>
            <a:ext cx="508000" cy="508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3F792A7-87D6-A09E-8CC7-F84701272A8C}"/>
              </a:ext>
            </a:extLst>
          </p:cNvPr>
          <p:cNvSpPr txBox="1"/>
          <p:nvPr/>
        </p:nvSpPr>
        <p:spPr>
          <a:xfrm>
            <a:off x="736600" y="3642211"/>
            <a:ext cx="508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3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A6F46F4-0263-5F92-FACD-AADF2DF49675}"/>
              </a:ext>
            </a:extLst>
          </p:cNvPr>
          <p:cNvSpPr txBox="1"/>
          <p:nvPr/>
        </p:nvSpPr>
        <p:spPr>
          <a:xfrm>
            <a:off x="1473200" y="3594100"/>
            <a:ext cx="10033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b="1">
                <a:solidFill>
                  <a:srgbClr val="FFFFFF"/>
                </a:solidFill>
                <a:latin typeface="Meiryo" panose="020B0604030504040204" pitchFamily="50" charset="-128"/>
              </a:rPr>
              <a:t>通学を実際に試す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D925066-97B4-5C45-D97A-86CB755B5159}"/>
              </a:ext>
            </a:extLst>
          </p:cNvPr>
          <p:cNvSpPr txBox="1"/>
          <p:nvPr/>
        </p:nvSpPr>
        <p:spPr>
          <a:xfrm>
            <a:off x="1473200" y="3975100"/>
            <a:ext cx="10033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自宅</a:t>
            </a:r>
            <a:r>
              <a:rPr kumimoji="1" lang="en-US" altLang="ja-JP" sz="1300">
                <a:solidFill>
                  <a:srgbClr val="CADCFC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北区</a:t>
            </a:r>
            <a:r>
              <a:rPr kumimoji="1" lang="en-US" altLang="ja-JP" sz="1300">
                <a:solidFill>
                  <a:srgbClr val="CADCFC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から朝に。黒川・上飯田・バス</a:t>
            </a:r>
            <a:r>
              <a:rPr kumimoji="1" lang="en-US" altLang="ja-JP" sz="1300">
                <a:solidFill>
                  <a:srgbClr val="CADCFC"/>
                </a:solidFill>
                <a:latin typeface="Meiryo" panose="020B0604030504040204" pitchFamily="50" charset="-128"/>
              </a:rPr>
              <a:t>(</a:t>
            </a:r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城北小学校</a:t>
            </a:r>
            <a:r>
              <a:rPr kumimoji="1" lang="en-US" altLang="ja-JP" sz="1300">
                <a:solidFill>
                  <a:srgbClr val="CADCFC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の乗換を体感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C48390FF-75DF-8DD2-02BE-7F61B6E77188}"/>
              </a:ext>
            </a:extLst>
          </p:cNvPr>
          <p:cNvSpPr/>
          <p:nvPr/>
        </p:nvSpPr>
        <p:spPr>
          <a:xfrm>
            <a:off x="508000" y="4521200"/>
            <a:ext cx="11176000" cy="914400"/>
          </a:xfrm>
          <a:prstGeom prst="roundRect">
            <a:avLst/>
          </a:prstGeom>
          <a:solidFill>
            <a:srgbClr val="2A3A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CF64793E-BDB1-B21B-4A31-05857EDE832C}"/>
              </a:ext>
            </a:extLst>
          </p:cNvPr>
          <p:cNvSpPr/>
          <p:nvPr/>
        </p:nvSpPr>
        <p:spPr>
          <a:xfrm>
            <a:off x="736600" y="4724400"/>
            <a:ext cx="508000" cy="508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A342C2D-C599-B384-687E-D5CCDD0F14FC}"/>
              </a:ext>
            </a:extLst>
          </p:cNvPr>
          <p:cNvSpPr txBox="1"/>
          <p:nvPr/>
        </p:nvSpPr>
        <p:spPr>
          <a:xfrm>
            <a:off x="736600" y="4709011"/>
            <a:ext cx="508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4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43107E4-21E4-8763-CB65-972436C6C42E}"/>
              </a:ext>
            </a:extLst>
          </p:cNvPr>
          <p:cNvSpPr txBox="1"/>
          <p:nvPr/>
        </p:nvSpPr>
        <p:spPr>
          <a:xfrm>
            <a:off x="1473200" y="4660900"/>
            <a:ext cx="10033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b="1">
                <a:solidFill>
                  <a:srgbClr val="FFFFFF"/>
                </a:solidFill>
                <a:latin typeface="Meiryo" panose="020B0604030504040204" pitchFamily="50" charset="-128"/>
              </a:rPr>
              <a:t>倍率・募集要項を公式で確認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48C4AE9-BDF4-AE55-89E4-285FA5ED8217}"/>
              </a:ext>
            </a:extLst>
          </p:cNvPr>
          <p:cNvSpPr txBox="1"/>
          <p:nvPr/>
        </p:nvSpPr>
        <p:spPr>
          <a:xfrm>
            <a:off x="1473200" y="5041900"/>
            <a:ext cx="10033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300">
                <a:solidFill>
                  <a:srgbClr val="CADCFC"/>
                </a:solidFill>
                <a:latin typeface="Meiryo" panose="020B0604030504040204" pitchFamily="50" charset="-128"/>
              </a:rPr>
              <a:t>この資料の数値・日程は目安。最新は必ず各校公式で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5C39BD8-6FBD-8935-D5EF-211A942D8CF8}"/>
              </a:ext>
            </a:extLst>
          </p:cNvPr>
          <p:cNvSpPr txBox="1"/>
          <p:nvPr/>
        </p:nvSpPr>
        <p:spPr>
          <a:xfrm>
            <a:off x="508000" y="5918200"/>
            <a:ext cx="11176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t">
            <a:spAutoFit/>
          </a:bodyPr>
          <a:lstStyle/>
          <a:p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五郎より：まずは地元</a:t>
            </a:r>
            <a:r>
              <a:rPr kumimoji="1" lang="en-US" altLang="ja-JP" sz="1400">
                <a:solidFill>
                  <a:srgbClr val="9DB0E8"/>
                </a:solidFill>
                <a:latin typeface="Meiryo" panose="020B0604030504040204" pitchFamily="50" charset="-128"/>
              </a:rPr>
              <a:t>『</a:t>
            </a:r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北高校</a:t>
            </a:r>
            <a:r>
              <a:rPr kumimoji="1" lang="en-US" altLang="ja-JP" sz="1400">
                <a:solidFill>
                  <a:srgbClr val="9DB0E8"/>
                </a:solidFill>
                <a:latin typeface="Meiryo" panose="020B0604030504040204" pitchFamily="50" charset="-128"/>
              </a:rPr>
              <a:t>』(8/4</a:t>
            </a:r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説明会・</a:t>
            </a:r>
            <a:r>
              <a:rPr kumimoji="1" lang="en-US" altLang="ja-JP" sz="1400">
                <a:solidFill>
                  <a:srgbClr val="9DB0E8"/>
                </a:solidFill>
                <a:latin typeface="Meiryo" panose="020B0604030504040204" pitchFamily="50" charset="-128"/>
              </a:rPr>
              <a:t>10/10</a:t>
            </a:r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見学会</a:t>
            </a:r>
            <a:r>
              <a:rPr kumimoji="1" lang="en-US" altLang="ja-JP" sz="1400">
                <a:solidFill>
                  <a:srgbClr val="9DB0E8"/>
                </a:solidFill>
                <a:latin typeface="Meiryo" panose="020B0604030504040204" pitchFamily="50" charset="-128"/>
              </a:rPr>
              <a:t>)</a:t>
            </a:r>
            <a:r>
              <a:rPr kumimoji="1" lang="ja-JP" altLang="en-US" sz="1400">
                <a:solidFill>
                  <a:srgbClr val="9DB0E8"/>
                </a:solidFill>
                <a:latin typeface="Meiryo" panose="020B0604030504040204" pitchFamily="50" charset="-128"/>
              </a:rPr>
              <a:t>から。気になる順に一緒に動きましょう。応援しています。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676760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2173</Words>
  <Application>Microsoft Office PowerPoint</Application>
  <PresentationFormat>ユーザー設定</PresentationFormat>
  <Paragraphs>262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Meiryo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shiro yamamoto</dc:creator>
  <cp:lastModifiedBy>shiro yamamoto</cp:lastModifiedBy>
  <cp:revision>1</cp:revision>
  <dcterms:created xsi:type="dcterms:W3CDTF">2026-06-28T06:01:26Z</dcterms:created>
  <dcterms:modified xsi:type="dcterms:W3CDTF">2026-06-28T06:01:26Z</dcterms:modified>
</cp:coreProperties>
</file>
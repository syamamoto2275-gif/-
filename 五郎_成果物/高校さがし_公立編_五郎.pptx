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EB9398-9F59-69AA-0293-001AE29B4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140756B-D5FC-7F92-8D0B-4F2AF29CE8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382B77-2A97-BA62-D87B-AB5614493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25F932-A53A-A48B-9C98-1A1D9E872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3C7A1E-2CDF-391A-147E-F14AD754B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5318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709D89-8904-C180-C64B-FB1D89B76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AB8A05-142F-3EF6-9630-4B9476829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0590D1-E9A0-077C-D7F4-8050B065E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7569A1-4D49-8451-01BB-4AEF9EA8B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32844E-B7F1-2574-8DFE-85ED93CDB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0302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8570DA-0E91-4E0A-1A11-77E03FD05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0C0DB87-B578-DA8F-A467-45A205A97D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3D2819-9948-2CBE-315A-119AD4BE6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E05CB7-2295-2E62-C191-8C56C65EB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3F1A4A-5B2C-0852-EAAE-795CEB24E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825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AF56C9-5053-A565-6B55-7E7322B52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FD9525-B151-D88F-CABE-0631EFD31A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BAC3673-F9CB-345E-10EC-F3FB086A6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4191AE-AF1E-4B81-3C23-A80D6E7A6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6BFAAC-626F-E554-206C-E39324C02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5DEFA6-0D3E-E5D6-320E-70E890DF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2405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7F72C7-F50C-7B27-7D0C-E674F8EC8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E3C02B1-4430-875F-A983-3CB5DDA04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134EAE7-827A-3EFE-28A0-AABF3C20F1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95FCA10-5C86-401B-3BEE-B187E747D9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0E4DC23-88A5-D355-23A5-AD71B9EC70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86AAA6E-FA08-1E24-B110-A65BD74D3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379A7EE-103D-493E-A7E2-2B9ABB5D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B484B07-5E5D-529A-AAFF-2627A464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8049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C7D645-4558-A685-34E7-AB9665EF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8912631-3F2F-9C70-9028-C55603B26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170DBA3-B716-9962-69D8-68467460D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C61EFAB-E678-517B-EF10-537C6CA96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2967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9124A10-66EC-13B6-8593-6282C9469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6A9E725-C6EA-B8A1-7041-FD026AB6E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6FA2342-7BC1-2C78-95F1-5983DAC79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39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932E7C-EDB1-57B4-7529-2B0554344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CCAFF7-CAA4-8676-961E-9C1D39FB8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28159A-5336-2395-9B62-4B0FA1769A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3E9BF08-FC12-0F9D-20EB-669B72460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0334AD-CCDD-8FA5-3823-5BA8A3568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28E2C0F-2A1C-6BD9-3E58-F1528D991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3021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07C650-157F-02EC-FBCC-F247DFBDF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AD7FDD9-88C4-E2B0-0744-1379C0D8C5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AFC351-85E7-95C0-4F2E-1E637000E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0A470C7-A127-8A57-DF0F-32497038A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F25DFA7-65B0-8984-542C-72DA67C0B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B264A52-A89D-D2FB-25E2-9345F3A72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429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C12052-C657-F749-8897-139431FDB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A6F3A59-8AD9-32D6-9752-C8C31B5803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5D69E4-437D-20EC-43D8-08E123F7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701824-B0D8-68EA-7BAB-F65597AF1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CB4002-7C7D-8A61-7DE7-AB66C0D63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0876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132C4C2-B2B8-3D5A-7894-51D4D2E42B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B109DC-9ABE-6CCB-262D-8248D382DB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B62B22-36E8-420F-B475-CAC5675B3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D8C1B40-E971-78D5-9676-6D1DCB7A9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4E47632-3700-5FD0-9BE4-5F2533F8C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541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83E0D94-DD81-ED92-2847-658354EA7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B6ADD21-F36E-AD6F-788D-0D4BAEAA7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8BB52B-CB11-44BD-DCFE-7451AFA8C4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BB45A4-B792-4418-9F1E-7C691C836D9B}" type="datetimeFigureOut">
              <a:rPr kumimoji="1" lang="ja-JP" altLang="en-US" smtClean="0"/>
              <a:t>2026/6/28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F4EE9B-1C0A-1AF1-3C33-9FBB4B05FE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51DDB1-C1F2-F429-C9B1-59DB705C76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36797-0AB7-41B0-839D-7D3047F1615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4240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nkou.jp/hischool/school/124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inkou.jp/hischool/school/124/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nkou.jp/hischool/school/3402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inkou.jp/hischool/school/3402/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nkou.jp/hischool/school/123/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inkou.jp/hischool/school/123/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nkou.jp/hischool/school/52/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inkou.jp/hischool/school/52/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6E522C84-5A1D-D1D2-7E31-3EDDEC6EA5EE}"/>
              </a:ext>
            </a:extLst>
          </p:cNvPr>
          <p:cNvSpPr/>
          <p:nvPr/>
        </p:nvSpPr>
        <p:spPr>
          <a:xfrm>
            <a:off x="9652000" y="-1524000"/>
            <a:ext cx="5334000" cy="5334000"/>
          </a:xfrm>
          <a:prstGeom prst="ellipse">
            <a:avLst/>
          </a:prstGeom>
          <a:solidFill>
            <a:srgbClr val="2A3A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3201DA0-5C28-9B8E-30A4-5DF00317B53F}"/>
              </a:ext>
            </a:extLst>
          </p:cNvPr>
          <p:cNvSpPr/>
          <p:nvPr/>
        </p:nvSpPr>
        <p:spPr>
          <a:xfrm>
            <a:off x="-1778000" y="4572000"/>
            <a:ext cx="4572000" cy="4572000"/>
          </a:xfrm>
          <a:prstGeom prst="ellipse">
            <a:avLst/>
          </a:prstGeom>
          <a:solidFill>
            <a:srgbClr val="2A3A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48012512-8CDA-4A19-DF74-4C945FA01C90}"/>
              </a:ext>
            </a:extLst>
          </p:cNvPr>
          <p:cNvSpPr/>
          <p:nvPr/>
        </p:nvSpPr>
        <p:spPr>
          <a:xfrm>
            <a:off x="762000" y="812800"/>
            <a:ext cx="812800" cy="8128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9E3CEDD-1E5A-DAF3-EA42-D2A5ACFB122B}"/>
              </a:ext>
            </a:extLst>
          </p:cNvPr>
          <p:cNvSpPr txBox="1"/>
          <p:nvPr/>
        </p:nvSpPr>
        <p:spPr>
          <a:xfrm>
            <a:off x="762000" y="762000"/>
            <a:ext cx="7620000" cy="271869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600">
                <a:solidFill>
                  <a:srgbClr val="CADCFC"/>
                </a:solidFill>
                <a:latin typeface="Meiryo" panose="020B0604030504040204" pitchFamily="50" charset="-128"/>
              </a:rPr>
              <a:t>五郎レポート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6DEC5B-5945-F278-628D-6A5930BC3D0A}"/>
              </a:ext>
            </a:extLst>
          </p:cNvPr>
          <p:cNvSpPr txBox="1"/>
          <p:nvPr/>
        </p:nvSpPr>
        <p:spPr>
          <a:xfrm>
            <a:off x="762000" y="2133600"/>
            <a:ext cx="10922000" cy="61042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3800" b="1">
                <a:solidFill>
                  <a:srgbClr val="FFFFFF"/>
                </a:solidFill>
                <a:latin typeface="Meiryo" panose="020B0604030504040204" pitchFamily="50" charset="-128"/>
              </a:rPr>
              <a:t>紗衣の 高校さがし ＜公立編・くわしく版＞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BE8880-8CE1-BB87-4EB3-E3B24537597B}"/>
              </a:ext>
            </a:extLst>
          </p:cNvPr>
          <p:cNvSpPr txBox="1"/>
          <p:nvPr/>
        </p:nvSpPr>
        <p:spPr>
          <a:xfrm>
            <a:off x="812800" y="3810000"/>
            <a:ext cx="10922000" cy="271869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600">
                <a:solidFill>
                  <a:srgbClr val="CADCFC"/>
                </a:solidFill>
                <a:latin typeface="Meiryo" panose="020B0604030504040204" pitchFamily="50" charset="-128"/>
              </a:rPr>
              <a:t>公立の候補</a:t>
            </a:r>
            <a:r>
              <a:rPr kumimoji="1" lang="en-US" altLang="ja-JP" sz="1600">
                <a:solidFill>
                  <a:srgbClr val="CADCFC"/>
                </a:solidFill>
                <a:latin typeface="Meiryo" panose="020B0604030504040204" pitchFamily="50" charset="-128"/>
              </a:rPr>
              <a:t>4</a:t>
            </a:r>
            <a:r>
              <a:rPr kumimoji="1" lang="ja-JP" altLang="en-US" sz="1600">
                <a:solidFill>
                  <a:srgbClr val="CADCFC"/>
                </a:solidFill>
                <a:latin typeface="Meiryo" panose="020B0604030504040204" pitchFamily="50" charset="-128"/>
              </a:rPr>
              <a:t>校（北区から通えるエリア）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89E2664-5E21-189D-F53A-6BA390305975}"/>
              </a:ext>
            </a:extLst>
          </p:cNvPr>
          <p:cNvSpPr txBox="1"/>
          <p:nvPr/>
        </p:nvSpPr>
        <p:spPr>
          <a:xfrm>
            <a:off x="762000" y="5969000"/>
            <a:ext cx="109220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9DB0E8"/>
                </a:solidFill>
                <a:latin typeface="Meiryo" panose="020B0604030504040204" pitchFamily="50" charset="-128"/>
              </a:rPr>
              <a:t>作成：五郎（</a:t>
            </a:r>
            <a:r>
              <a:rPr kumimoji="1" lang="en-US" altLang="ja-JP" sz="1300">
                <a:solidFill>
                  <a:srgbClr val="9DB0E8"/>
                </a:solidFill>
                <a:latin typeface="Meiryo" panose="020B0604030504040204" pitchFamily="50" charset="-128"/>
              </a:rPr>
              <a:t>AI</a:t>
            </a:r>
            <a:r>
              <a:rPr kumimoji="1" lang="ja-JP" altLang="en-US" sz="1300">
                <a:solidFill>
                  <a:srgbClr val="9DB0E8"/>
                </a:solidFill>
                <a:latin typeface="Meiryo" panose="020B0604030504040204" pitchFamily="50" charset="-128"/>
              </a:rPr>
              <a:t>秘書）　</a:t>
            </a:r>
            <a:r>
              <a:rPr kumimoji="1" lang="en-US" altLang="ja-JP" sz="1300">
                <a:solidFill>
                  <a:srgbClr val="9DB0E8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300">
                <a:solidFill>
                  <a:srgbClr val="9DB0E8"/>
                </a:solidFill>
                <a:latin typeface="Meiryo" panose="020B0604030504040204" pitchFamily="50" charset="-128"/>
              </a:rPr>
              <a:t>年</a:t>
            </a:r>
            <a:r>
              <a:rPr kumimoji="1" lang="en-US" altLang="ja-JP" sz="1300">
                <a:solidFill>
                  <a:srgbClr val="9DB0E8"/>
                </a:solidFill>
                <a:latin typeface="Meiryo" panose="020B0604030504040204" pitchFamily="50" charset="-128"/>
              </a:rPr>
              <a:t>6</a:t>
            </a:r>
            <a:r>
              <a:rPr kumimoji="1" lang="ja-JP" altLang="en-US" sz="1300">
                <a:solidFill>
                  <a:srgbClr val="9DB0E8"/>
                </a:solidFill>
                <a:latin typeface="Meiryo" panose="020B0604030504040204" pitchFamily="50" charset="-128"/>
              </a:rPr>
              <a:t>月　自宅</a:t>
            </a:r>
            <a:r>
              <a:rPr kumimoji="1" lang="en-US" altLang="ja-JP" sz="1300">
                <a:solidFill>
                  <a:srgbClr val="9DB0E8"/>
                </a:solidFill>
                <a:latin typeface="Meiryo" panose="020B0604030504040204" pitchFamily="50" charset="-128"/>
              </a:rPr>
              <a:t>PC</a:t>
            </a:r>
            <a:r>
              <a:rPr kumimoji="1" lang="ja-JP" altLang="en-US" sz="1300">
                <a:solidFill>
                  <a:srgbClr val="9DB0E8"/>
                </a:solidFill>
                <a:latin typeface="Meiryo" panose="020B0604030504040204" pitchFamily="50" charset="-128"/>
              </a:rPr>
              <a:t>（名古屋市北区鳩岡）にて</a:t>
            </a:r>
          </a:p>
        </p:txBody>
      </p:sp>
    </p:spTree>
    <p:extLst>
      <p:ext uri="{BB962C8B-B14F-4D97-AF65-F5344CB8AC3E}">
        <p14:creationId xmlns:p14="http://schemas.microsoft.com/office/powerpoint/2010/main" val="3525490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7122F38-FD7A-F139-3F33-0181DC35E5CE}"/>
              </a:ext>
            </a:extLst>
          </p:cNvPr>
          <p:cNvSpPr txBox="1"/>
          <p:nvPr/>
        </p:nvSpPr>
        <p:spPr>
          <a:xfrm>
            <a:off x="508000" y="381000"/>
            <a:ext cx="11176000" cy="4873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3000" b="1">
                <a:solidFill>
                  <a:srgbClr val="1E2761"/>
                </a:solidFill>
                <a:latin typeface="Meiryo" panose="020B0604030504040204" pitchFamily="50" charset="-128"/>
              </a:rPr>
              <a:t>さがした条件（</a:t>
            </a:r>
            <a:r>
              <a:rPr kumimoji="1" lang="en-US" altLang="ja-JP" sz="3000" b="1">
                <a:solidFill>
                  <a:srgbClr val="1E2761"/>
                </a:solidFill>
                <a:latin typeface="Meiryo" panose="020B0604030504040204" pitchFamily="50" charset="-128"/>
              </a:rPr>
              <a:t>6</a:t>
            </a:r>
            <a:r>
              <a:rPr kumimoji="1" lang="ja-JP" altLang="en-US" sz="3000" b="1">
                <a:solidFill>
                  <a:srgbClr val="1E2761"/>
                </a:solidFill>
                <a:latin typeface="Meiryo" panose="020B0604030504040204" pitchFamily="50" charset="-128"/>
              </a:rPr>
              <a:t>つ ＋ エリア）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44F17A6-05AA-1206-0CB8-B00A9082BD60}"/>
              </a:ext>
            </a:extLst>
          </p:cNvPr>
          <p:cNvSpPr/>
          <p:nvPr/>
        </p:nvSpPr>
        <p:spPr>
          <a:xfrm>
            <a:off x="508000" y="1168400"/>
            <a:ext cx="35560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0C7E07B0-7E0B-F5ED-B19B-54B2B832B923}"/>
              </a:ext>
            </a:extLst>
          </p:cNvPr>
          <p:cNvSpPr/>
          <p:nvPr/>
        </p:nvSpPr>
        <p:spPr>
          <a:xfrm>
            <a:off x="736600" y="1397000"/>
            <a:ext cx="533400" cy="5334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0BD453-01AB-E748-92C5-03ECBA6DA553}"/>
              </a:ext>
            </a:extLst>
          </p:cNvPr>
          <p:cNvSpPr txBox="1"/>
          <p:nvPr/>
        </p:nvSpPr>
        <p:spPr>
          <a:xfrm>
            <a:off x="736600" y="1373917"/>
            <a:ext cx="533400" cy="3488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100" b="1">
                <a:solidFill>
                  <a:srgbClr val="FFFFFF"/>
                </a:solidFill>
                <a:latin typeface="Meiryo" panose="020B0604030504040204" pitchFamily="50" charset="-128"/>
              </a:rPr>
              <a:t>1</a:t>
            </a:r>
            <a:endParaRPr kumimoji="1" lang="ja-JP" altLang="en-US" sz="21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03D2A01-CF37-66B8-6D9E-CA90F4BA2BAA}"/>
              </a:ext>
            </a:extLst>
          </p:cNvPr>
          <p:cNvSpPr txBox="1"/>
          <p:nvPr/>
        </p:nvSpPr>
        <p:spPr>
          <a:xfrm>
            <a:off x="1422400" y="1404694"/>
            <a:ext cx="2463800" cy="2872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700" b="1">
                <a:solidFill>
                  <a:srgbClr val="1E2761"/>
                </a:solidFill>
                <a:latin typeface="Meiryo" panose="020B0604030504040204" pitchFamily="50" charset="-128"/>
              </a:rPr>
              <a:t>公立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68F472A-76DB-1F2E-841A-F46C0A46E7FE}"/>
              </a:ext>
            </a:extLst>
          </p:cNvPr>
          <p:cNvSpPr txBox="1"/>
          <p:nvPr/>
        </p:nvSpPr>
        <p:spPr>
          <a:xfrm>
            <a:off x="762000" y="2006600"/>
            <a:ext cx="3098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私立ではなく公立校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FB3A016D-E1B6-F6A0-FBFF-D34A199EF443}"/>
              </a:ext>
            </a:extLst>
          </p:cNvPr>
          <p:cNvSpPr/>
          <p:nvPr/>
        </p:nvSpPr>
        <p:spPr>
          <a:xfrm>
            <a:off x="4318000" y="1168400"/>
            <a:ext cx="35560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C5678059-B75A-8C0C-0828-CC6FA87AD93F}"/>
              </a:ext>
            </a:extLst>
          </p:cNvPr>
          <p:cNvSpPr/>
          <p:nvPr/>
        </p:nvSpPr>
        <p:spPr>
          <a:xfrm>
            <a:off x="4546600" y="1397000"/>
            <a:ext cx="533400" cy="5334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17D403-710D-A331-BD2F-D6F59A57D32E}"/>
              </a:ext>
            </a:extLst>
          </p:cNvPr>
          <p:cNvSpPr txBox="1"/>
          <p:nvPr/>
        </p:nvSpPr>
        <p:spPr>
          <a:xfrm>
            <a:off x="4546600" y="1373917"/>
            <a:ext cx="533400" cy="3488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100" b="1">
                <a:solidFill>
                  <a:srgbClr val="FFFFFF"/>
                </a:solidFill>
                <a:latin typeface="Meiryo" panose="020B0604030504040204" pitchFamily="50" charset="-128"/>
              </a:rPr>
              <a:t>2</a:t>
            </a:r>
            <a:endParaRPr kumimoji="1" lang="ja-JP" altLang="en-US" sz="21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0B6ED21-B48F-FF81-CDB3-A899E907A41D}"/>
              </a:ext>
            </a:extLst>
          </p:cNvPr>
          <p:cNvSpPr txBox="1"/>
          <p:nvPr/>
        </p:nvSpPr>
        <p:spPr>
          <a:xfrm>
            <a:off x="5232400" y="1404694"/>
            <a:ext cx="2463800" cy="2872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700" b="1">
                <a:solidFill>
                  <a:srgbClr val="1E2761"/>
                </a:solidFill>
                <a:latin typeface="Meiryo" panose="020B0604030504040204" pitchFamily="50" charset="-128"/>
              </a:rPr>
              <a:t>共学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EB0F491-F9A2-8EF5-0D58-F7BA04C167CC}"/>
              </a:ext>
            </a:extLst>
          </p:cNvPr>
          <p:cNvSpPr txBox="1"/>
          <p:nvPr/>
        </p:nvSpPr>
        <p:spPr>
          <a:xfrm>
            <a:off x="4572000" y="2006600"/>
            <a:ext cx="3098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男女いっしょに学ぶ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B720F09-2869-910D-AB48-BDA3B3F144AA}"/>
              </a:ext>
            </a:extLst>
          </p:cNvPr>
          <p:cNvSpPr/>
          <p:nvPr/>
        </p:nvSpPr>
        <p:spPr>
          <a:xfrm>
            <a:off x="8128000" y="1168400"/>
            <a:ext cx="35560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F3948B16-32EA-8378-CCE3-7D2DD1731017}"/>
              </a:ext>
            </a:extLst>
          </p:cNvPr>
          <p:cNvSpPr/>
          <p:nvPr/>
        </p:nvSpPr>
        <p:spPr>
          <a:xfrm>
            <a:off x="8356600" y="1397000"/>
            <a:ext cx="533400" cy="5334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9E4ABB2-0448-FD5F-5C3A-A3B0989D77E5}"/>
              </a:ext>
            </a:extLst>
          </p:cNvPr>
          <p:cNvSpPr txBox="1"/>
          <p:nvPr/>
        </p:nvSpPr>
        <p:spPr>
          <a:xfrm>
            <a:off x="8356600" y="1373917"/>
            <a:ext cx="533400" cy="3488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100" b="1">
                <a:solidFill>
                  <a:srgbClr val="FFFFFF"/>
                </a:solidFill>
                <a:latin typeface="Meiryo" panose="020B0604030504040204" pitchFamily="50" charset="-128"/>
              </a:rPr>
              <a:t>3</a:t>
            </a:r>
            <a:endParaRPr kumimoji="1" lang="ja-JP" altLang="en-US" sz="21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B92861A-E0C7-313C-DDE5-6417EF72F98D}"/>
              </a:ext>
            </a:extLst>
          </p:cNvPr>
          <p:cNvSpPr txBox="1"/>
          <p:nvPr/>
        </p:nvSpPr>
        <p:spPr>
          <a:xfrm>
            <a:off x="9042400" y="1404694"/>
            <a:ext cx="2463800" cy="2872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700" b="1">
                <a:solidFill>
                  <a:srgbClr val="1E2761"/>
                </a:solidFill>
                <a:latin typeface="Meiryo" panose="020B0604030504040204" pitchFamily="50" charset="-128"/>
              </a:rPr>
              <a:t>偏差値 </a:t>
            </a:r>
            <a:r>
              <a:rPr kumimoji="1" lang="en-US" altLang="ja-JP" sz="1700" b="1">
                <a:solidFill>
                  <a:srgbClr val="1E2761"/>
                </a:solidFill>
                <a:latin typeface="Meiryo" panose="020B0604030504040204" pitchFamily="50" charset="-128"/>
              </a:rPr>
              <a:t>50</a:t>
            </a:r>
            <a:r>
              <a:rPr kumimoji="1" lang="ja-JP" altLang="en-US" sz="1700" b="1">
                <a:solidFill>
                  <a:srgbClr val="1E2761"/>
                </a:solidFill>
                <a:latin typeface="Meiryo" panose="020B0604030504040204" pitchFamily="50" charset="-128"/>
              </a:rPr>
              <a:t>前後</a:t>
            </a:r>
            <a:r>
              <a:rPr kumimoji="1" lang="en-US" altLang="ja-JP" sz="1700" b="1">
                <a:solidFill>
                  <a:srgbClr val="1E2761"/>
                </a:solidFill>
                <a:latin typeface="Meiryo" panose="020B0604030504040204" pitchFamily="50" charset="-128"/>
              </a:rPr>
              <a:t>〜</a:t>
            </a:r>
            <a:endParaRPr kumimoji="1" lang="ja-JP" altLang="en-US" sz="1700" b="1">
              <a:solidFill>
                <a:srgbClr val="1E2761"/>
              </a:solidFill>
              <a:latin typeface="Meiryo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BF73359-567B-403C-E5BC-26FC76E34AC8}"/>
              </a:ext>
            </a:extLst>
          </p:cNvPr>
          <p:cNvSpPr txBox="1"/>
          <p:nvPr/>
        </p:nvSpPr>
        <p:spPr>
          <a:xfrm>
            <a:off x="8382000" y="2006600"/>
            <a:ext cx="3098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学力・内申の目安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0E97BB39-8DAF-3D77-315D-1DB736B1D426}"/>
              </a:ext>
            </a:extLst>
          </p:cNvPr>
          <p:cNvSpPr/>
          <p:nvPr/>
        </p:nvSpPr>
        <p:spPr>
          <a:xfrm>
            <a:off x="508000" y="2819400"/>
            <a:ext cx="35560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F68B2FAB-B7A6-5319-13E6-730DA6DFC6AC}"/>
              </a:ext>
            </a:extLst>
          </p:cNvPr>
          <p:cNvSpPr/>
          <p:nvPr/>
        </p:nvSpPr>
        <p:spPr>
          <a:xfrm>
            <a:off x="736600" y="3048000"/>
            <a:ext cx="533400" cy="5334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DEA55D3-9348-5E25-4EE3-7856A6849D9C}"/>
              </a:ext>
            </a:extLst>
          </p:cNvPr>
          <p:cNvSpPr txBox="1"/>
          <p:nvPr/>
        </p:nvSpPr>
        <p:spPr>
          <a:xfrm>
            <a:off x="736600" y="3024917"/>
            <a:ext cx="533400" cy="3488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100" b="1">
                <a:solidFill>
                  <a:srgbClr val="FFFFFF"/>
                </a:solidFill>
                <a:latin typeface="Meiryo" panose="020B0604030504040204" pitchFamily="50" charset="-128"/>
              </a:rPr>
              <a:t>4</a:t>
            </a:r>
            <a:endParaRPr kumimoji="1" lang="ja-JP" altLang="en-US" sz="21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7C07846-6282-75E9-280F-9F89413F12F1}"/>
              </a:ext>
            </a:extLst>
          </p:cNvPr>
          <p:cNvSpPr txBox="1"/>
          <p:nvPr/>
        </p:nvSpPr>
        <p:spPr>
          <a:xfrm>
            <a:off x="1422400" y="3055694"/>
            <a:ext cx="2463800" cy="2872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700" b="1">
                <a:solidFill>
                  <a:srgbClr val="1E2761"/>
                </a:solidFill>
                <a:latin typeface="Meiryo" panose="020B0604030504040204" pitchFamily="50" charset="-128"/>
              </a:rPr>
              <a:t>部活・行事が活発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F9325D5-6F9B-D1A3-EA03-AAF9778D5720}"/>
              </a:ext>
            </a:extLst>
          </p:cNvPr>
          <p:cNvSpPr txBox="1"/>
          <p:nvPr/>
        </p:nvSpPr>
        <p:spPr>
          <a:xfrm>
            <a:off x="762000" y="3657600"/>
            <a:ext cx="3098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打ち込める部活・楽しい行事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62FBFC65-7468-B1B7-944D-BC16F6413BDB}"/>
              </a:ext>
            </a:extLst>
          </p:cNvPr>
          <p:cNvSpPr/>
          <p:nvPr/>
        </p:nvSpPr>
        <p:spPr>
          <a:xfrm>
            <a:off x="4318000" y="2819400"/>
            <a:ext cx="35560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2D96C116-F47C-ACB7-7D0E-ED6B67B55EBB}"/>
              </a:ext>
            </a:extLst>
          </p:cNvPr>
          <p:cNvSpPr/>
          <p:nvPr/>
        </p:nvSpPr>
        <p:spPr>
          <a:xfrm>
            <a:off x="4546600" y="3048000"/>
            <a:ext cx="533400" cy="5334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7380C3B-A281-1227-138A-A730158E38FB}"/>
              </a:ext>
            </a:extLst>
          </p:cNvPr>
          <p:cNvSpPr txBox="1"/>
          <p:nvPr/>
        </p:nvSpPr>
        <p:spPr>
          <a:xfrm>
            <a:off x="4546600" y="3024917"/>
            <a:ext cx="533400" cy="3488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100" b="1">
                <a:solidFill>
                  <a:srgbClr val="FFFFFF"/>
                </a:solidFill>
                <a:latin typeface="Meiryo" panose="020B0604030504040204" pitchFamily="50" charset="-128"/>
              </a:rPr>
              <a:t>5</a:t>
            </a:r>
            <a:endParaRPr kumimoji="1" lang="ja-JP" altLang="en-US" sz="21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AC4D2C1-EBF9-7E0B-E180-A0411CA12CBA}"/>
              </a:ext>
            </a:extLst>
          </p:cNvPr>
          <p:cNvSpPr txBox="1"/>
          <p:nvPr/>
        </p:nvSpPr>
        <p:spPr>
          <a:xfrm>
            <a:off x="5232400" y="3055694"/>
            <a:ext cx="2463800" cy="2872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700" b="1">
                <a:solidFill>
                  <a:srgbClr val="1E2761"/>
                </a:solidFill>
                <a:latin typeface="Meiryo" panose="020B0604030504040204" pitchFamily="50" charset="-128"/>
              </a:rPr>
              <a:t>評判・特色がいい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0E3A489-5768-994D-833F-C550C4F3622A}"/>
              </a:ext>
            </a:extLst>
          </p:cNvPr>
          <p:cNvSpPr txBox="1"/>
          <p:nvPr/>
        </p:nvSpPr>
        <p:spPr>
          <a:xfrm>
            <a:off x="4572000" y="3657600"/>
            <a:ext cx="3098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通ってよかったと思える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60DE682E-B87F-C6B3-EE64-1CF3C59DDB7A}"/>
              </a:ext>
            </a:extLst>
          </p:cNvPr>
          <p:cNvSpPr/>
          <p:nvPr/>
        </p:nvSpPr>
        <p:spPr>
          <a:xfrm>
            <a:off x="8128000" y="2819400"/>
            <a:ext cx="3556000" cy="1422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013F6A1D-C7A3-8AAB-F167-148CC39DE5B0}"/>
              </a:ext>
            </a:extLst>
          </p:cNvPr>
          <p:cNvSpPr/>
          <p:nvPr/>
        </p:nvSpPr>
        <p:spPr>
          <a:xfrm>
            <a:off x="8356600" y="3048000"/>
            <a:ext cx="533400" cy="5334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CFC1A453-3F33-4BED-9936-C5D51C1C6BD0}"/>
              </a:ext>
            </a:extLst>
          </p:cNvPr>
          <p:cNvSpPr txBox="1"/>
          <p:nvPr/>
        </p:nvSpPr>
        <p:spPr>
          <a:xfrm>
            <a:off x="8356600" y="3024917"/>
            <a:ext cx="533400" cy="3488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100" b="1">
                <a:solidFill>
                  <a:srgbClr val="FFFFFF"/>
                </a:solidFill>
                <a:latin typeface="Meiryo" panose="020B0604030504040204" pitchFamily="50" charset="-128"/>
              </a:rPr>
              <a:t>6</a:t>
            </a:r>
            <a:endParaRPr kumimoji="1" lang="ja-JP" altLang="en-US" sz="21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6FADF9E-F29C-0CD4-7276-1FD7AFF2E6A8}"/>
              </a:ext>
            </a:extLst>
          </p:cNvPr>
          <p:cNvSpPr txBox="1"/>
          <p:nvPr/>
        </p:nvSpPr>
        <p:spPr>
          <a:xfrm>
            <a:off x="9042400" y="3055694"/>
            <a:ext cx="2463800" cy="2872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700" b="1">
                <a:solidFill>
                  <a:srgbClr val="1E2761"/>
                </a:solidFill>
                <a:latin typeface="Meiryo" panose="020B0604030504040204" pitchFamily="50" charset="-128"/>
              </a:rPr>
              <a:t>通いやすい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1CA14B3-41A7-33E9-CC91-E233322C79FA}"/>
              </a:ext>
            </a:extLst>
          </p:cNvPr>
          <p:cNvSpPr txBox="1"/>
          <p:nvPr/>
        </p:nvSpPr>
        <p:spPr>
          <a:xfrm>
            <a:off x="8382000" y="3657600"/>
            <a:ext cx="3098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自宅</a:t>
            </a:r>
            <a:r>
              <a:rPr kumimoji="1" lang="en-US" altLang="ja-JP" sz="13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北区</a:t>
            </a:r>
            <a:r>
              <a:rPr kumimoji="1" lang="en-US" altLang="ja-JP" sz="13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300">
                <a:solidFill>
                  <a:srgbClr val="222B45"/>
                </a:solidFill>
                <a:latin typeface="Meiryo" panose="020B0604030504040204" pitchFamily="50" charset="-128"/>
              </a:rPr>
              <a:t>から通えること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55FED967-A7C7-42F1-1FAC-654814A5CFC4}"/>
              </a:ext>
            </a:extLst>
          </p:cNvPr>
          <p:cNvSpPr/>
          <p:nvPr/>
        </p:nvSpPr>
        <p:spPr>
          <a:xfrm>
            <a:off x="508000" y="4724400"/>
            <a:ext cx="11176000" cy="838200"/>
          </a:xfrm>
          <a:prstGeom prst="roundRect">
            <a:avLst/>
          </a:prstGeom>
          <a:solidFill>
            <a:srgbClr val="E9E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265091-F893-86DA-5E53-7AA57AC36A2F}"/>
              </a:ext>
            </a:extLst>
          </p:cNvPr>
          <p:cNvSpPr txBox="1"/>
          <p:nvPr/>
        </p:nvSpPr>
        <p:spPr>
          <a:xfrm>
            <a:off x="762000" y="4632067"/>
            <a:ext cx="10795000" cy="4873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500" b="1">
                <a:solidFill>
                  <a:srgbClr val="1E2761"/>
                </a:solidFill>
                <a:latin typeface="Meiryo" panose="020B0604030504040204" pitchFamily="50" charset="-128"/>
              </a:rPr>
              <a:t>エリア：自宅＝名古屋市北区鳩岡。地下鉄「黒川」駅</a:t>
            </a:r>
            <a:r>
              <a:rPr kumimoji="1" lang="en-US" altLang="ja-JP" sz="1500" b="1">
                <a:solidFill>
                  <a:srgbClr val="1E2761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500" b="1">
                <a:solidFill>
                  <a:srgbClr val="1E2761"/>
                </a:solidFill>
                <a:latin typeface="Meiryo" panose="020B0604030504040204" pitchFamily="50" charset="-128"/>
              </a:rPr>
              <a:t>名城線</a:t>
            </a:r>
            <a:r>
              <a:rPr kumimoji="1" lang="en-US" altLang="ja-JP" sz="1500" b="1">
                <a:solidFill>
                  <a:srgbClr val="1E2761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500" b="1">
                <a:solidFill>
                  <a:srgbClr val="1E2761"/>
                </a:solidFill>
                <a:latin typeface="Meiryo" panose="020B0604030504040204" pitchFamily="50" charset="-128"/>
              </a:rPr>
              <a:t>／名鉄小牧線「上飯田」／市バスはバス停「城北小学校</a:t>
            </a:r>
            <a:r>
              <a:rPr kumimoji="1" lang="en-US" altLang="ja-JP" sz="1500" b="1">
                <a:solidFill>
                  <a:srgbClr val="1E2761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500" b="1">
                <a:solidFill>
                  <a:srgbClr val="1E2761"/>
                </a:solidFill>
                <a:latin typeface="Meiryo" panose="020B0604030504040204" pitchFamily="50" charset="-128"/>
              </a:rPr>
              <a:t>北</a:t>
            </a:r>
            <a:r>
              <a:rPr kumimoji="1" lang="en-US" altLang="ja-JP" sz="1500" b="1">
                <a:solidFill>
                  <a:srgbClr val="1E2761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500" b="1">
                <a:solidFill>
                  <a:srgbClr val="1E2761"/>
                </a:solidFill>
                <a:latin typeface="Meiryo" panose="020B0604030504040204" pitchFamily="50" charset="-128"/>
              </a:rPr>
              <a:t>」を起点に通学。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1CDBFF45-2FF0-F3EB-3562-75B911F408E7}"/>
              </a:ext>
            </a:extLst>
          </p:cNvPr>
          <p:cNvSpPr txBox="1"/>
          <p:nvPr/>
        </p:nvSpPr>
        <p:spPr>
          <a:xfrm>
            <a:off x="508000" y="5740400"/>
            <a:ext cx="1117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en-US" altLang="ja-JP" sz="1200">
                <a:solidFill>
                  <a:srgbClr val="6B7280"/>
                </a:solidFill>
                <a:latin typeface="Meiryo" panose="020B0604030504040204" pitchFamily="50" charset="-128"/>
              </a:rPr>
              <a:t>※</a:t>
            </a:r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各校</a:t>
            </a:r>
            <a:r>
              <a:rPr kumimoji="1" lang="en-US" altLang="ja-JP" sz="1200">
                <a:solidFill>
                  <a:srgbClr val="6B7280"/>
                </a:solidFill>
                <a:latin typeface="Meiryo" panose="020B0604030504040204" pitchFamily="50" charset="-128"/>
              </a:rPr>
              <a:t>2</a:t>
            </a:r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ページ構成</a:t>
            </a:r>
            <a:r>
              <a:rPr kumimoji="1" lang="en-US" altLang="ja-JP" sz="1200">
                <a:solidFill>
                  <a:srgbClr val="6B7280"/>
                </a:solidFill>
                <a:latin typeface="Meiryo" panose="020B0604030504040204" pitchFamily="50" charset="-128"/>
              </a:rPr>
              <a:t>(①</a:t>
            </a:r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基本・進学・制服 ②部活動・校風校則・口コミ・</a:t>
            </a:r>
            <a:r>
              <a:rPr kumimoji="1" lang="en-US" altLang="ja-JP" sz="1200">
                <a:solidFill>
                  <a:srgbClr val="6B7280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日程</a:t>
            </a:r>
            <a:r>
              <a:rPr kumimoji="1" lang="en-US" altLang="ja-JP" sz="1200">
                <a:solidFill>
                  <a:srgbClr val="6B7280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。名古屋西は偏差値</a:t>
            </a:r>
            <a:r>
              <a:rPr kumimoji="1" lang="en-US" altLang="ja-JP" sz="1200">
                <a:solidFill>
                  <a:srgbClr val="6B7280"/>
                </a:solidFill>
                <a:latin typeface="Meiryo" panose="020B0604030504040204" pitchFamily="50" charset="-128"/>
              </a:rPr>
              <a:t>60</a:t>
            </a:r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と高めの上位校。最新は各校公式で確認を。</a:t>
            </a:r>
          </a:p>
        </p:txBody>
      </p:sp>
    </p:spTree>
    <p:extLst>
      <p:ext uri="{BB962C8B-B14F-4D97-AF65-F5344CB8AC3E}">
        <p14:creationId xmlns:p14="http://schemas.microsoft.com/office/powerpoint/2010/main" val="299027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B1D1B1F-7C82-0930-286F-FD4CF9DA0C85}"/>
              </a:ext>
            </a:extLst>
          </p:cNvPr>
          <p:cNvSpPr txBox="1"/>
          <p:nvPr/>
        </p:nvSpPr>
        <p:spPr>
          <a:xfrm>
            <a:off x="508000" y="355600"/>
            <a:ext cx="11176000" cy="36420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2200" b="1">
                <a:solidFill>
                  <a:srgbClr val="1E2761"/>
                </a:solidFill>
                <a:latin typeface="Meiryo" panose="020B0604030504040204" pitchFamily="50" charset="-128"/>
              </a:rPr>
              <a:t>公立の候補</a:t>
            </a:r>
            <a:r>
              <a:rPr kumimoji="1" lang="en-US" altLang="ja-JP" sz="2200" b="1">
                <a:solidFill>
                  <a:srgbClr val="1E2761"/>
                </a:solidFill>
                <a:latin typeface="Meiryo" panose="020B0604030504040204" pitchFamily="50" charset="-128"/>
              </a:rPr>
              <a:t>4</a:t>
            </a:r>
            <a:r>
              <a:rPr kumimoji="1" lang="ja-JP" altLang="en-US" sz="2200" b="1">
                <a:solidFill>
                  <a:srgbClr val="1E2761"/>
                </a:solidFill>
                <a:latin typeface="Meiryo" panose="020B0604030504040204" pitchFamily="50" charset="-128"/>
              </a:rPr>
              <a:t>校（北区から通えるエリア）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A1F76AF-F8C4-0667-D993-5EE21B32953F}"/>
              </a:ext>
            </a:extLst>
          </p:cNvPr>
          <p:cNvSpPr/>
          <p:nvPr/>
        </p:nvSpPr>
        <p:spPr>
          <a:xfrm>
            <a:off x="508000" y="1117600"/>
            <a:ext cx="2667000" cy="482600"/>
          </a:xfrm>
          <a:prstGeom prst="rect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FAEF669-B1F3-9B83-FB9C-E62DB9AC8589}"/>
              </a:ext>
            </a:extLst>
          </p:cNvPr>
          <p:cNvSpPr txBox="1"/>
          <p:nvPr/>
        </p:nvSpPr>
        <p:spPr>
          <a:xfrm>
            <a:off x="508000" y="1148377"/>
            <a:ext cx="2667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FFFFFF"/>
                </a:solidFill>
                <a:latin typeface="Meiryo" panose="020B0604030504040204" pitchFamily="50" charset="-128"/>
              </a:rPr>
              <a:t>学校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C5FCB15-6269-AAD3-0DCA-04DFF4510C49}"/>
              </a:ext>
            </a:extLst>
          </p:cNvPr>
          <p:cNvSpPr/>
          <p:nvPr/>
        </p:nvSpPr>
        <p:spPr>
          <a:xfrm>
            <a:off x="3175000" y="1117600"/>
            <a:ext cx="1397000" cy="482600"/>
          </a:xfrm>
          <a:prstGeom prst="rect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EB689CB-7127-2C3D-4A6B-39C654F992C4}"/>
              </a:ext>
            </a:extLst>
          </p:cNvPr>
          <p:cNvSpPr txBox="1"/>
          <p:nvPr/>
        </p:nvSpPr>
        <p:spPr>
          <a:xfrm>
            <a:off x="3175000" y="1148377"/>
            <a:ext cx="1397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FFFFFF"/>
                </a:solidFill>
                <a:latin typeface="Meiryo" panose="020B0604030504040204" pitchFamily="50" charset="-128"/>
              </a:rPr>
              <a:t>区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0A10371-BB0C-BA73-F1C5-8EA4EADF0B3A}"/>
              </a:ext>
            </a:extLst>
          </p:cNvPr>
          <p:cNvSpPr/>
          <p:nvPr/>
        </p:nvSpPr>
        <p:spPr>
          <a:xfrm>
            <a:off x="4572000" y="1117600"/>
            <a:ext cx="1524000" cy="482600"/>
          </a:xfrm>
          <a:prstGeom prst="rect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89F753A-8F22-AEA4-71A3-9C99FF38E61E}"/>
              </a:ext>
            </a:extLst>
          </p:cNvPr>
          <p:cNvSpPr txBox="1"/>
          <p:nvPr/>
        </p:nvSpPr>
        <p:spPr>
          <a:xfrm>
            <a:off x="4572000" y="1148377"/>
            <a:ext cx="1524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FFFFFF"/>
                </a:solidFill>
                <a:latin typeface="Meiryo" panose="020B0604030504040204" pitchFamily="50" charset="-128"/>
              </a:rPr>
              <a:t>偏差値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24E8C1F-8731-A1B2-E513-D5FF2490078B}"/>
              </a:ext>
            </a:extLst>
          </p:cNvPr>
          <p:cNvSpPr/>
          <p:nvPr/>
        </p:nvSpPr>
        <p:spPr>
          <a:xfrm>
            <a:off x="6096000" y="1117600"/>
            <a:ext cx="1905000" cy="482600"/>
          </a:xfrm>
          <a:prstGeom prst="rect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3F4DC90-9FE7-9D88-5DEC-CFAE4152C90B}"/>
              </a:ext>
            </a:extLst>
          </p:cNvPr>
          <p:cNvSpPr txBox="1"/>
          <p:nvPr/>
        </p:nvSpPr>
        <p:spPr>
          <a:xfrm>
            <a:off x="6096000" y="1148377"/>
            <a:ext cx="1905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FFFFFF"/>
                </a:solidFill>
                <a:latin typeface="Meiryo" panose="020B0604030504040204" pitchFamily="50" charset="-128"/>
              </a:rPr>
              <a:t>部活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16BCB16-E4CC-FB3C-8B82-A4ABB5C177E9}"/>
              </a:ext>
            </a:extLst>
          </p:cNvPr>
          <p:cNvSpPr/>
          <p:nvPr/>
        </p:nvSpPr>
        <p:spPr>
          <a:xfrm>
            <a:off x="8001000" y="1117600"/>
            <a:ext cx="1143000" cy="482600"/>
          </a:xfrm>
          <a:prstGeom prst="rect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3AD2BA5-129F-9A29-4827-4C167CF49001}"/>
              </a:ext>
            </a:extLst>
          </p:cNvPr>
          <p:cNvSpPr txBox="1"/>
          <p:nvPr/>
        </p:nvSpPr>
        <p:spPr>
          <a:xfrm>
            <a:off x="8001000" y="1148377"/>
            <a:ext cx="1143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FFFFFF"/>
                </a:solidFill>
                <a:latin typeface="Meiryo" panose="020B0604030504040204" pitchFamily="50" charset="-128"/>
              </a:rPr>
              <a:t>評判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66D0E98-B9AD-F6D6-9496-A083DEAAA14D}"/>
              </a:ext>
            </a:extLst>
          </p:cNvPr>
          <p:cNvSpPr/>
          <p:nvPr/>
        </p:nvSpPr>
        <p:spPr>
          <a:xfrm>
            <a:off x="9144000" y="1117600"/>
            <a:ext cx="1651000" cy="482600"/>
          </a:xfrm>
          <a:prstGeom prst="rect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47A7E5F-6F95-B8F4-1DF3-DC2A8BFFBA4D}"/>
              </a:ext>
            </a:extLst>
          </p:cNvPr>
          <p:cNvSpPr txBox="1"/>
          <p:nvPr/>
        </p:nvSpPr>
        <p:spPr>
          <a:xfrm>
            <a:off x="9144000" y="1148377"/>
            <a:ext cx="1651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400" b="1">
                <a:solidFill>
                  <a:srgbClr val="FFFFFF"/>
                </a:solidFill>
                <a:latin typeface="Meiryo" panose="020B0604030504040204" pitchFamily="50" charset="-128"/>
              </a:rPr>
              <a:t>通学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A761268-5472-2EB7-3F82-7B1504352CB0}"/>
              </a:ext>
            </a:extLst>
          </p:cNvPr>
          <p:cNvSpPr/>
          <p:nvPr/>
        </p:nvSpPr>
        <p:spPr>
          <a:xfrm>
            <a:off x="508000" y="1600200"/>
            <a:ext cx="2667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979CDE71-E80F-DCF2-7C12-874470D2F678}"/>
              </a:ext>
            </a:extLst>
          </p:cNvPr>
          <p:cNvSpPr/>
          <p:nvPr/>
        </p:nvSpPr>
        <p:spPr>
          <a:xfrm>
            <a:off x="609600" y="1892300"/>
            <a:ext cx="152400" cy="152400"/>
          </a:xfrm>
          <a:prstGeom prst="ellipse">
            <a:avLst/>
          </a:prstGeom>
          <a:solidFill>
            <a:srgbClr val="0E8C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E876B71-33F4-B908-275C-CA1535E52BE8}"/>
              </a:ext>
            </a:extLst>
          </p:cNvPr>
          <p:cNvSpPr txBox="1"/>
          <p:nvPr/>
        </p:nvSpPr>
        <p:spPr>
          <a:xfrm>
            <a:off x="838200" y="1646366"/>
            <a:ext cx="228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zh-TW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愛知県立 名古屋西</a:t>
            </a:r>
            <a:endParaRPr kumimoji="1" lang="ja-JP" altLang="en-US" sz="1200" b="1">
              <a:solidFill>
                <a:srgbClr val="1E2761"/>
              </a:solidFill>
              <a:latin typeface="Meiryo" panose="020B0604030504040204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980319D-589E-C7EB-42B3-F9610F8B4C78}"/>
              </a:ext>
            </a:extLst>
          </p:cNvPr>
          <p:cNvSpPr/>
          <p:nvPr/>
        </p:nvSpPr>
        <p:spPr>
          <a:xfrm>
            <a:off x="3175000" y="1600200"/>
            <a:ext cx="1397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B414309-9899-20FE-F5A6-6DB8FD2B8686}"/>
              </a:ext>
            </a:extLst>
          </p:cNvPr>
          <p:cNvSpPr txBox="1"/>
          <p:nvPr/>
        </p:nvSpPr>
        <p:spPr>
          <a:xfrm>
            <a:off x="3175000" y="1646366"/>
            <a:ext cx="1397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西区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D9E6ED1-0E5F-454E-9C29-46EFA5DDA3A7}"/>
              </a:ext>
            </a:extLst>
          </p:cNvPr>
          <p:cNvSpPr/>
          <p:nvPr/>
        </p:nvSpPr>
        <p:spPr>
          <a:xfrm>
            <a:off x="4572000" y="1600200"/>
            <a:ext cx="1524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197E222-4D84-B559-23BE-DA520C61364D}"/>
              </a:ext>
            </a:extLst>
          </p:cNvPr>
          <p:cNvSpPr txBox="1"/>
          <p:nvPr/>
        </p:nvSpPr>
        <p:spPr>
          <a:xfrm>
            <a:off x="4572000" y="1623283"/>
            <a:ext cx="1524000" cy="2564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500" b="1">
                <a:solidFill>
                  <a:srgbClr val="0E8C8B"/>
                </a:solidFill>
                <a:latin typeface="Meiryo" panose="020B0604030504040204" pitchFamily="50" charset="-128"/>
              </a:rPr>
              <a:t>60</a:t>
            </a:r>
            <a:endParaRPr kumimoji="1" lang="ja-JP" altLang="en-US" sz="1500" b="1">
              <a:solidFill>
                <a:srgbClr val="0E8C8B"/>
              </a:solidFill>
              <a:latin typeface="Meiryo" panose="020B0604030504040204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C8EEA3B1-2B21-59FC-F2E5-DFD749495399}"/>
              </a:ext>
            </a:extLst>
          </p:cNvPr>
          <p:cNvSpPr/>
          <p:nvPr/>
        </p:nvSpPr>
        <p:spPr>
          <a:xfrm>
            <a:off x="6096000" y="1600200"/>
            <a:ext cx="1905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056660E-4D23-FB4C-9AD1-A8FBB9DFB677}"/>
              </a:ext>
            </a:extLst>
          </p:cNvPr>
          <p:cNvSpPr txBox="1"/>
          <p:nvPr/>
        </p:nvSpPr>
        <p:spPr>
          <a:xfrm>
            <a:off x="6096000" y="1646366"/>
            <a:ext cx="1905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陸上 国体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D022FE8-6216-AE3F-F2FF-BD318DB0524A}"/>
              </a:ext>
            </a:extLst>
          </p:cNvPr>
          <p:cNvSpPr/>
          <p:nvPr/>
        </p:nvSpPr>
        <p:spPr>
          <a:xfrm>
            <a:off x="8001000" y="1600200"/>
            <a:ext cx="1143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D4080804-8982-ED88-D17F-36A2E5037B2C}"/>
              </a:ext>
            </a:extLst>
          </p:cNvPr>
          <p:cNvSpPr txBox="1"/>
          <p:nvPr/>
        </p:nvSpPr>
        <p:spPr>
          <a:xfrm>
            <a:off x="8001000" y="1646366"/>
            <a:ext cx="1143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3.7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ADF69A6-B6DB-AA69-049A-BCCB0594CFCA}"/>
              </a:ext>
            </a:extLst>
          </p:cNvPr>
          <p:cNvSpPr/>
          <p:nvPr/>
        </p:nvSpPr>
        <p:spPr>
          <a:xfrm>
            <a:off x="9144000" y="1600200"/>
            <a:ext cx="1651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B459CBC-0071-6792-4F30-707006D42654}"/>
              </a:ext>
            </a:extLst>
          </p:cNvPr>
          <p:cNvSpPr txBox="1"/>
          <p:nvPr/>
        </p:nvSpPr>
        <p:spPr>
          <a:xfrm>
            <a:off x="9144000" y="1646366"/>
            <a:ext cx="1651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〇浄心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F0FB7C9-EAB8-C19D-9439-24EF082174E8}"/>
              </a:ext>
            </a:extLst>
          </p:cNvPr>
          <p:cNvSpPr/>
          <p:nvPr/>
        </p:nvSpPr>
        <p:spPr>
          <a:xfrm>
            <a:off x="508000" y="2336800"/>
            <a:ext cx="2667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4371F1A5-E02E-5804-E349-3163645DE865}"/>
              </a:ext>
            </a:extLst>
          </p:cNvPr>
          <p:cNvSpPr/>
          <p:nvPr/>
        </p:nvSpPr>
        <p:spPr>
          <a:xfrm>
            <a:off x="609600" y="2628900"/>
            <a:ext cx="152400" cy="152400"/>
          </a:xfrm>
          <a:prstGeom prst="ellipse">
            <a:avLst/>
          </a:prstGeom>
          <a:solidFill>
            <a:srgbClr val="E8633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CDDA243-5142-BEBF-D5AD-750BF707CEAE}"/>
              </a:ext>
            </a:extLst>
          </p:cNvPr>
          <p:cNvSpPr txBox="1"/>
          <p:nvPr/>
        </p:nvSpPr>
        <p:spPr>
          <a:xfrm>
            <a:off x="838200" y="2382966"/>
            <a:ext cx="228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名古屋市立 山田高校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EC902DED-BD43-E879-D84D-22CCA0D0944C}"/>
              </a:ext>
            </a:extLst>
          </p:cNvPr>
          <p:cNvSpPr/>
          <p:nvPr/>
        </p:nvSpPr>
        <p:spPr>
          <a:xfrm>
            <a:off x="3175000" y="2336800"/>
            <a:ext cx="1397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6050CE2-AFBD-DF34-1103-95BA4D6F80C0}"/>
              </a:ext>
            </a:extLst>
          </p:cNvPr>
          <p:cNvSpPr txBox="1"/>
          <p:nvPr/>
        </p:nvSpPr>
        <p:spPr>
          <a:xfrm>
            <a:off x="3175000" y="2382966"/>
            <a:ext cx="1397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西区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A8C7CC94-8BA8-58F8-5F57-C899657FF011}"/>
              </a:ext>
            </a:extLst>
          </p:cNvPr>
          <p:cNvSpPr/>
          <p:nvPr/>
        </p:nvSpPr>
        <p:spPr>
          <a:xfrm>
            <a:off x="4572000" y="2336800"/>
            <a:ext cx="1524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DBAB77A-492D-AACE-F5FE-7010999A828B}"/>
              </a:ext>
            </a:extLst>
          </p:cNvPr>
          <p:cNvSpPr txBox="1"/>
          <p:nvPr/>
        </p:nvSpPr>
        <p:spPr>
          <a:xfrm>
            <a:off x="4572000" y="2359883"/>
            <a:ext cx="1524000" cy="2564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500" b="1">
                <a:solidFill>
                  <a:srgbClr val="E8633F"/>
                </a:solidFill>
                <a:latin typeface="Meiryo" panose="020B0604030504040204" pitchFamily="50" charset="-128"/>
              </a:rPr>
              <a:t>49</a:t>
            </a:r>
            <a:endParaRPr kumimoji="1" lang="ja-JP" altLang="en-US" sz="1500" b="1">
              <a:solidFill>
                <a:srgbClr val="E8633F"/>
              </a:solidFill>
              <a:latin typeface="Meiryo" panose="020B0604030504040204" pitchFamily="50" charset="-128"/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DF8D3966-8973-6344-9CA1-2DE5DBCCD314}"/>
              </a:ext>
            </a:extLst>
          </p:cNvPr>
          <p:cNvSpPr/>
          <p:nvPr/>
        </p:nvSpPr>
        <p:spPr>
          <a:xfrm>
            <a:off x="6096000" y="2336800"/>
            <a:ext cx="1905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CCAD7F7-D597-AC64-1BE1-848DD57F9E62}"/>
              </a:ext>
            </a:extLst>
          </p:cNvPr>
          <p:cNvSpPr txBox="1"/>
          <p:nvPr/>
        </p:nvSpPr>
        <p:spPr>
          <a:xfrm>
            <a:off x="6096000" y="2382966"/>
            <a:ext cx="1905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ダンス全国</a:t>
            </a: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A6148556-1175-A321-514A-89C2C538D5B9}"/>
              </a:ext>
            </a:extLst>
          </p:cNvPr>
          <p:cNvSpPr/>
          <p:nvPr/>
        </p:nvSpPr>
        <p:spPr>
          <a:xfrm>
            <a:off x="8001000" y="2336800"/>
            <a:ext cx="1143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0EC3E37-05D8-5E80-8DB0-495F6E6DE0B1}"/>
              </a:ext>
            </a:extLst>
          </p:cNvPr>
          <p:cNvSpPr txBox="1"/>
          <p:nvPr/>
        </p:nvSpPr>
        <p:spPr>
          <a:xfrm>
            <a:off x="8001000" y="2382966"/>
            <a:ext cx="1143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3.5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5AB4D56-41C4-EB94-6ED8-23D1B8726666}"/>
              </a:ext>
            </a:extLst>
          </p:cNvPr>
          <p:cNvSpPr/>
          <p:nvPr/>
        </p:nvSpPr>
        <p:spPr>
          <a:xfrm>
            <a:off x="9144000" y="2336800"/>
            <a:ext cx="1651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4A8028CD-849E-8235-EC20-95985AFD1A92}"/>
              </a:ext>
            </a:extLst>
          </p:cNvPr>
          <p:cNvSpPr txBox="1"/>
          <p:nvPr/>
        </p:nvSpPr>
        <p:spPr>
          <a:xfrm>
            <a:off x="9144000" y="2382966"/>
            <a:ext cx="1651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〇上小田井</a:t>
            </a: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2DE77A7F-90CB-C667-30D0-E898FEA7FAFF}"/>
              </a:ext>
            </a:extLst>
          </p:cNvPr>
          <p:cNvSpPr/>
          <p:nvPr/>
        </p:nvSpPr>
        <p:spPr>
          <a:xfrm>
            <a:off x="508000" y="3073400"/>
            <a:ext cx="2667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楕円 41">
            <a:extLst>
              <a:ext uri="{FF2B5EF4-FFF2-40B4-BE49-F238E27FC236}">
                <a16:creationId xmlns:a16="http://schemas.microsoft.com/office/drawing/2014/main" id="{A319E872-D1CA-B7B8-996C-48CA6CDA360E}"/>
              </a:ext>
            </a:extLst>
          </p:cNvPr>
          <p:cNvSpPr/>
          <p:nvPr/>
        </p:nvSpPr>
        <p:spPr>
          <a:xfrm>
            <a:off x="609600" y="3365500"/>
            <a:ext cx="152400" cy="152400"/>
          </a:xfrm>
          <a:prstGeom prst="ellipse">
            <a:avLst/>
          </a:prstGeom>
          <a:solidFill>
            <a:srgbClr val="7B5E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EBA37604-699E-55A1-9157-09A88B0ADDFC}"/>
              </a:ext>
            </a:extLst>
          </p:cNvPr>
          <p:cNvSpPr txBox="1"/>
          <p:nvPr/>
        </p:nvSpPr>
        <p:spPr>
          <a:xfrm>
            <a:off x="838200" y="3119566"/>
            <a:ext cx="228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zh-TW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愛知県立 中村高校</a:t>
            </a:r>
            <a:endParaRPr kumimoji="1" lang="ja-JP" altLang="en-US" sz="1200" b="1">
              <a:solidFill>
                <a:srgbClr val="1E2761"/>
              </a:solidFill>
              <a:latin typeface="Meiryo" panose="020B0604030504040204" pitchFamily="50" charset="-128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4A8CE311-F89D-3E69-3C24-875834885DAA}"/>
              </a:ext>
            </a:extLst>
          </p:cNvPr>
          <p:cNvSpPr/>
          <p:nvPr/>
        </p:nvSpPr>
        <p:spPr>
          <a:xfrm>
            <a:off x="3175000" y="3073400"/>
            <a:ext cx="1397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92842C5B-BAC5-5E6A-4AEB-1E60C81AE087}"/>
              </a:ext>
            </a:extLst>
          </p:cNvPr>
          <p:cNvSpPr txBox="1"/>
          <p:nvPr/>
        </p:nvSpPr>
        <p:spPr>
          <a:xfrm>
            <a:off x="3175000" y="3119566"/>
            <a:ext cx="1397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中村区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67B1BBD-083D-5833-0FCC-F36DD281FB2E}"/>
              </a:ext>
            </a:extLst>
          </p:cNvPr>
          <p:cNvSpPr/>
          <p:nvPr/>
        </p:nvSpPr>
        <p:spPr>
          <a:xfrm>
            <a:off x="4572000" y="3073400"/>
            <a:ext cx="1524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8A5051-3A42-E2E2-BAD2-CD062F59985E}"/>
              </a:ext>
            </a:extLst>
          </p:cNvPr>
          <p:cNvSpPr txBox="1"/>
          <p:nvPr/>
        </p:nvSpPr>
        <p:spPr>
          <a:xfrm>
            <a:off x="4572000" y="3096483"/>
            <a:ext cx="1524000" cy="2564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500" b="1">
                <a:solidFill>
                  <a:srgbClr val="7B5EA7"/>
                </a:solidFill>
                <a:latin typeface="Meiryo" panose="020B0604030504040204" pitchFamily="50" charset="-128"/>
              </a:rPr>
              <a:t>50</a:t>
            </a:r>
            <a:endParaRPr kumimoji="1" lang="ja-JP" altLang="en-US" sz="1500" b="1">
              <a:solidFill>
                <a:srgbClr val="7B5EA7"/>
              </a:solidFill>
              <a:latin typeface="Meiryo" panose="020B0604030504040204" pitchFamily="50" charset="-128"/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8730306-254C-6379-AA0F-B3328702A5EC}"/>
              </a:ext>
            </a:extLst>
          </p:cNvPr>
          <p:cNvSpPr/>
          <p:nvPr/>
        </p:nvSpPr>
        <p:spPr>
          <a:xfrm>
            <a:off x="6096000" y="3073400"/>
            <a:ext cx="1905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97FC614-CC41-B7C8-78D9-727790B427EF}"/>
              </a:ext>
            </a:extLst>
          </p:cNvPr>
          <p:cNvSpPr txBox="1"/>
          <p:nvPr/>
        </p:nvSpPr>
        <p:spPr>
          <a:xfrm>
            <a:off x="6096000" y="3119566"/>
            <a:ext cx="1905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文化も充実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E5A60E98-4896-4594-7A09-64FCC6E5DC93}"/>
              </a:ext>
            </a:extLst>
          </p:cNvPr>
          <p:cNvSpPr/>
          <p:nvPr/>
        </p:nvSpPr>
        <p:spPr>
          <a:xfrm>
            <a:off x="8001000" y="3073400"/>
            <a:ext cx="1143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0AEE7B4F-B723-D310-C06D-03F1D06A883C}"/>
              </a:ext>
            </a:extLst>
          </p:cNvPr>
          <p:cNvSpPr txBox="1"/>
          <p:nvPr/>
        </p:nvSpPr>
        <p:spPr>
          <a:xfrm>
            <a:off x="8001000" y="3119566"/>
            <a:ext cx="1143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--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58719D56-034E-3C1B-D97B-CA4539113CA5}"/>
              </a:ext>
            </a:extLst>
          </p:cNvPr>
          <p:cNvSpPr/>
          <p:nvPr/>
        </p:nvSpPr>
        <p:spPr>
          <a:xfrm>
            <a:off x="9144000" y="3073400"/>
            <a:ext cx="16510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B18D1114-6B7B-ED5E-D736-EBDB23CCA69B}"/>
              </a:ext>
            </a:extLst>
          </p:cNvPr>
          <p:cNvSpPr txBox="1"/>
          <p:nvPr/>
        </p:nvSpPr>
        <p:spPr>
          <a:xfrm>
            <a:off x="9144000" y="3119566"/>
            <a:ext cx="1651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〇中村区</a:t>
            </a: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15E86B27-A267-80E4-0776-4735F0103FDF}"/>
              </a:ext>
            </a:extLst>
          </p:cNvPr>
          <p:cNvSpPr/>
          <p:nvPr/>
        </p:nvSpPr>
        <p:spPr>
          <a:xfrm>
            <a:off x="508000" y="3810000"/>
            <a:ext cx="2667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ABCBA079-D082-6D84-7BC4-A20A390F4386}"/>
              </a:ext>
            </a:extLst>
          </p:cNvPr>
          <p:cNvSpPr/>
          <p:nvPr/>
        </p:nvSpPr>
        <p:spPr>
          <a:xfrm>
            <a:off x="609600" y="4102100"/>
            <a:ext cx="152400" cy="1524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881B3DF9-9B94-E3EC-A2F5-E6DF05A8A8FF}"/>
              </a:ext>
            </a:extLst>
          </p:cNvPr>
          <p:cNvSpPr txBox="1"/>
          <p:nvPr/>
        </p:nvSpPr>
        <p:spPr>
          <a:xfrm>
            <a:off x="838200" y="3856166"/>
            <a:ext cx="228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zh-TW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愛知県立 春日井南</a:t>
            </a:r>
            <a:endParaRPr kumimoji="1" lang="ja-JP" altLang="en-US" sz="1200" b="1">
              <a:solidFill>
                <a:srgbClr val="1E2761"/>
              </a:solidFill>
              <a:latin typeface="Meiryo" panose="020B0604030504040204" pitchFamily="50" charset="-128"/>
            </a:endParaRP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1C7BC68C-2C59-35A6-9A32-628D660B0DAF}"/>
              </a:ext>
            </a:extLst>
          </p:cNvPr>
          <p:cNvSpPr/>
          <p:nvPr/>
        </p:nvSpPr>
        <p:spPr>
          <a:xfrm>
            <a:off x="3175000" y="3810000"/>
            <a:ext cx="1397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DF6FAE1-2BE9-353B-7984-BA0AD6DC1F69}"/>
              </a:ext>
            </a:extLst>
          </p:cNvPr>
          <p:cNvSpPr txBox="1"/>
          <p:nvPr/>
        </p:nvSpPr>
        <p:spPr>
          <a:xfrm>
            <a:off x="3175000" y="3856166"/>
            <a:ext cx="1397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春日井市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09EBAC4E-D2F4-55C4-6906-319F453C1989}"/>
              </a:ext>
            </a:extLst>
          </p:cNvPr>
          <p:cNvSpPr/>
          <p:nvPr/>
        </p:nvSpPr>
        <p:spPr>
          <a:xfrm>
            <a:off x="4572000" y="3810000"/>
            <a:ext cx="1524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926C1BBE-35B0-4554-0064-DEE962D0D2A7}"/>
              </a:ext>
            </a:extLst>
          </p:cNvPr>
          <p:cNvSpPr txBox="1"/>
          <p:nvPr/>
        </p:nvSpPr>
        <p:spPr>
          <a:xfrm>
            <a:off x="4572000" y="3833083"/>
            <a:ext cx="1524000" cy="2564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500" b="1">
                <a:solidFill>
                  <a:srgbClr val="2E8B57"/>
                </a:solidFill>
                <a:latin typeface="Meiryo" panose="020B0604030504040204" pitchFamily="50" charset="-128"/>
              </a:rPr>
              <a:t>54</a:t>
            </a:r>
            <a:endParaRPr kumimoji="1" lang="ja-JP" altLang="en-US" sz="1500" b="1">
              <a:solidFill>
                <a:srgbClr val="2E8B57"/>
              </a:solidFill>
              <a:latin typeface="Meiryo" panose="020B0604030504040204" pitchFamily="50" charset="-128"/>
            </a:endParaRP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5E18831E-5FDF-B9DF-BE03-141139B51386}"/>
              </a:ext>
            </a:extLst>
          </p:cNvPr>
          <p:cNvSpPr/>
          <p:nvPr/>
        </p:nvSpPr>
        <p:spPr>
          <a:xfrm>
            <a:off x="6096000" y="3810000"/>
            <a:ext cx="1905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9E9D7720-618F-205A-11F0-77B77EEE1217}"/>
              </a:ext>
            </a:extLst>
          </p:cNvPr>
          <p:cNvSpPr txBox="1"/>
          <p:nvPr/>
        </p:nvSpPr>
        <p:spPr>
          <a:xfrm>
            <a:off x="6096000" y="3856166"/>
            <a:ext cx="1905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ハンド全国</a:t>
            </a:r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9E848B51-A3F3-E718-1FC7-AE8157F7FBCF}"/>
              </a:ext>
            </a:extLst>
          </p:cNvPr>
          <p:cNvSpPr/>
          <p:nvPr/>
        </p:nvSpPr>
        <p:spPr>
          <a:xfrm>
            <a:off x="8001000" y="3810000"/>
            <a:ext cx="1143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F0AD5121-22B1-05CF-2564-63D439BA59A0}"/>
              </a:ext>
            </a:extLst>
          </p:cNvPr>
          <p:cNvSpPr txBox="1"/>
          <p:nvPr/>
        </p:nvSpPr>
        <p:spPr>
          <a:xfrm>
            <a:off x="8001000" y="3856166"/>
            <a:ext cx="1143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3.9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C114CD80-3BC5-0C58-DF3D-62D54A90F824}"/>
              </a:ext>
            </a:extLst>
          </p:cNvPr>
          <p:cNvSpPr/>
          <p:nvPr/>
        </p:nvSpPr>
        <p:spPr>
          <a:xfrm>
            <a:off x="9144000" y="3810000"/>
            <a:ext cx="1651000" cy="7366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75532524-0E41-BD9D-7747-893DB5A0B4CF}"/>
              </a:ext>
            </a:extLst>
          </p:cNvPr>
          <p:cNvSpPr txBox="1"/>
          <p:nvPr/>
        </p:nvSpPr>
        <p:spPr>
          <a:xfrm>
            <a:off x="9144000" y="3856166"/>
            <a:ext cx="1651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△市外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CA0F0BB8-D2E1-0160-6D9D-14BCCC91F7EE}"/>
              </a:ext>
            </a:extLst>
          </p:cNvPr>
          <p:cNvSpPr txBox="1"/>
          <p:nvPr/>
        </p:nvSpPr>
        <p:spPr>
          <a:xfrm>
            <a:off x="508000" y="46482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※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「評判」はみんなの高校情報の総合評価</a:t>
            </a:r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(5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点満点</a:t>
            </a:r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。所要時間は自宅</a:t>
            </a:r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北区鳩岡</a:t>
            </a:r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からの目安。各校くわしくは次ページ以降</a:t>
            </a:r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(1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校</a:t>
            </a:r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2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ページ</a:t>
            </a:r>
            <a:r>
              <a:rPr kumimoji="1" lang="en-US" altLang="ja-JP" sz="1100">
                <a:solidFill>
                  <a:srgbClr val="6B7280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100">
                <a:solidFill>
                  <a:srgbClr val="6B7280"/>
                </a:solidFill>
                <a:latin typeface="Meiryo" panose="020B0604030504040204" pitchFamily="50" charset="-128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36185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CC86FF6-5EE1-35A5-5233-2A4D1DCEA712}"/>
              </a:ext>
            </a:extLst>
          </p:cNvPr>
          <p:cNvSpPr/>
          <p:nvPr/>
        </p:nvSpPr>
        <p:spPr>
          <a:xfrm>
            <a:off x="508000" y="330200"/>
            <a:ext cx="7924800" cy="635000"/>
          </a:xfrm>
          <a:prstGeom prst="roundRect">
            <a:avLst/>
          </a:prstGeom>
          <a:solidFill>
            <a:srgbClr val="0E8C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58F2B36-CC25-B345-BBC3-45E98DB767B4}"/>
              </a:ext>
            </a:extLst>
          </p:cNvPr>
          <p:cNvSpPr txBox="1"/>
          <p:nvPr/>
        </p:nvSpPr>
        <p:spPr>
          <a:xfrm>
            <a:off x="736600" y="314811"/>
            <a:ext cx="7620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zh-TW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愛知県立 名古屋西高校　①基本</a:t>
            </a:r>
            <a:endParaRPr kumimoji="1" lang="ja-JP" altLang="en-US" sz="20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A73867-9DAF-DAF5-700D-F63CF516E32B}"/>
              </a:ext>
            </a:extLst>
          </p:cNvPr>
          <p:cNvSpPr txBox="1"/>
          <p:nvPr/>
        </p:nvSpPr>
        <p:spPr>
          <a:xfrm>
            <a:off x="558800" y="1016000"/>
            <a:ext cx="7924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6B7280"/>
                </a:solidFill>
                <a:latin typeface="Meiryo" panose="020B0604030504040204" pitchFamily="50" charset="-128"/>
              </a:rPr>
              <a:t>名古屋市西区天神山町／評判◎の伝統校</a:t>
            </a:r>
            <a:r>
              <a:rPr kumimoji="1" lang="en-US" altLang="ja-JP" sz="1300">
                <a:solidFill>
                  <a:srgbClr val="6B7280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300">
                <a:solidFill>
                  <a:srgbClr val="6B7280"/>
                </a:solidFill>
                <a:latin typeface="Meiryo" panose="020B0604030504040204" pitchFamily="50" charset="-128"/>
              </a:rPr>
              <a:t>共学</a:t>
            </a:r>
            <a:r>
              <a:rPr kumimoji="1" lang="en-US" altLang="ja-JP" sz="1300">
                <a:solidFill>
                  <a:srgbClr val="6B7280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300">
              <a:solidFill>
                <a:srgbClr val="6B7280"/>
              </a:solidFill>
              <a:latin typeface="Meiryo" panose="020B0604030504040204" pitchFamily="50" charset="-128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507CE401-3D3E-7A5B-7F8D-859BF71FF178}"/>
              </a:ext>
            </a:extLst>
          </p:cNvPr>
          <p:cNvSpPr/>
          <p:nvPr/>
        </p:nvSpPr>
        <p:spPr>
          <a:xfrm>
            <a:off x="8712200" y="330200"/>
            <a:ext cx="2971800" cy="965200"/>
          </a:xfrm>
          <a:prstGeom prst="roundRect">
            <a:avLst/>
          </a:prstGeom>
          <a:solidFill>
            <a:srgbClr val="F2F5FC"/>
          </a:solidFill>
          <a:ln w="15875">
            <a:solidFill>
              <a:srgbClr val="0E8C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B80FFB7-200F-BD38-E2AA-68994D2C9E9A}"/>
              </a:ext>
            </a:extLst>
          </p:cNvPr>
          <p:cNvSpPr txBox="1"/>
          <p:nvPr/>
        </p:nvSpPr>
        <p:spPr>
          <a:xfrm>
            <a:off x="8712200" y="406400"/>
            <a:ext cx="2971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偏差値（目安）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5E21898-49D6-3A94-CC97-44143CC6D1FF}"/>
              </a:ext>
            </a:extLst>
          </p:cNvPr>
          <p:cNvSpPr txBox="1"/>
          <p:nvPr/>
        </p:nvSpPr>
        <p:spPr>
          <a:xfrm>
            <a:off x="8712200" y="584200"/>
            <a:ext cx="2971800" cy="4257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en-US" altLang="ja-JP" sz="2600" b="1">
                <a:solidFill>
                  <a:srgbClr val="0E8C8B"/>
                </a:solidFill>
                <a:latin typeface="Meiryo" panose="020B0604030504040204" pitchFamily="50" charset="-128"/>
              </a:rPr>
              <a:t>60</a:t>
            </a:r>
            <a:endParaRPr kumimoji="1" lang="ja-JP" altLang="en-US" sz="2600" b="1">
              <a:solidFill>
                <a:srgbClr val="0E8C8B"/>
              </a:solidFill>
              <a:latin typeface="Meiryo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C026625-2FE2-E8B3-0C83-542F9132B211}"/>
              </a:ext>
            </a:extLst>
          </p:cNvPr>
          <p:cNvSpPr txBox="1"/>
          <p:nvPr/>
        </p:nvSpPr>
        <p:spPr>
          <a:xfrm>
            <a:off x="8712200" y="1066800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000">
                <a:solidFill>
                  <a:srgbClr val="6B7280"/>
                </a:solidFill>
                <a:latin typeface="Meiryo" panose="020B0604030504040204" pitchFamily="50" charset="-128"/>
              </a:rPr>
              <a:t>普通科＋創造表現コース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5782A14C-F9FB-BB9B-59CB-A8885FCAF494}"/>
              </a:ext>
            </a:extLst>
          </p:cNvPr>
          <p:cNvSpPr/>
          <p:nvPr/>
        </p:nvSpPr>
        <p:spPr>
          <a:xfrm>
            <a:off x="8712200" y="1371600"/>
            <a:ext cx="2971800" cy="355600"/>
          </a:xfrm>
          <a:prstGeom prst="roundRect">
            <a:avLst/>
          </a:prstGeom>
          <a:solidFill>
            <a:srgbClr val="0E8C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1AC0A8D-2FF3-824D-F841-6C8776457D76}"/>
              </a:ext>
            </a:extLst>
          </p:cNvPr>
          <p:cNvSpPr txBox="1"/>
          <p:nvPr/>
        </p:nvSpPr>
        <p:spPr>
          <a:xfrm>
            <a:off x="8712200" y="1433155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000" b="1">
                <a:solidFill>
                  <a:srgbClr val="FFFFFF"/>
                </a:solidFill>
                <a:latin typeface="Meiryo" panose="020B0604030504040204" pitchFamily="50" charset="-128"/>
              </a:rPr>
              <a:t>評判◎・国公立に強い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E32C166A-BF3A-3B30-DBC0-34834FB877A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500" y="1828800"/>
            <a:ext cx="2235200" cy="2235200"/>
          </a:xfrm>
          <a:prstGeom prst="rect">
            <a:avLst/>
          </a:prstGeom>
          <a:ln w="38100">
            <a:solidFill>
              <a:srgbClr val="FFFFFF"/>
            </a:solidFill>
          </a:ln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7CD789C-8359-5EB2-5269-5EDE84298716}"/>
              </a:ext>
            </a:extLst>
          </p:cNvPr>
          <p:cNvSpPr txBox="1"/>
          <p:nvPr/>
        </p:nvSpPr>
        <p:spPr>
          <a:xfrm>
            <a:off x="8712200" y="4089400"/>
            <a:ext cx="2971800" cy="302647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900">
                <a:solidFill>
                  <a:srgbClr val="6B7280"/>
                </a:solidFill>
                <a:latin typeface="Meiryo" panose="020B0604030504040204" pitchFamily="50" charset="-128"/>
              </a:rPr>
              <a:t>制服＝黒リボンのセーラー服（参考写真）出典：制服市場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11A1226-F628-82AF-E356-D6D493A4B255}"/>
              </a:ext>
            </a:extLst>
          </p:cNvPr>
          <p:cNvSpPr/>
          <p:nvPr/>
        </p:nvSpPr>
        <p:spPr>
          <a:xfrm>
            <a:off x="508000" y="1473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74C7482-937C-58CC-5C50-676C7DA127C8}"/>
              </a:ext>
            </a:extLst>
          </p:cNvPr>
          <p:cNvSpPr txBox="1"/>
          <p:nvPr/>
        </p:nvSpPr>
        <p:spPr>
          <a:xfrm>
            <a:off x="660400" y="1511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0E8C8B"/>
                </a:solidFill>
                <a:latin typeface="Meiryo" panose="020B0604030504040204" pitchFamily="50" charset="-128"/>
              </a:rPr>
              <a:t>学科・コース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76B82A6-53C6-585B-205B-91DBAA9012FF}"/>
              </a:ext>
            </a:extLst>
          </p:cNvPr>
          <p:cNvSpPr txBox="1"/>
          <p:nvPr/>
        </p:nvSpPr>
        <p:spPr>
          <a:xfrm>
            <a:off x="2286000" y="1519367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普通科＋創造表現コース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演劇・ダンス・表現を学ぶ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。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1915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年創立の伝統校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16AEACF5-AB0F-62A9-4A94-8F1E840AB0DC}"/>
              </a:ext>
            </a:extLst>
          </p:cNvPr>
          <p:cNvSpPr/>
          <p:nvPr/>
        </p:nvSpPr>
        <p:spPr>
          <a:xfrm>
            <a:off x="508000" y="2235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4C05F33-968D-EEA0-BFEC-2EF4D9D9F039}"/>
              </a:ext>
            </a:extLst>
          </p:cNvPr>
          <p:cNvSpPr txBox="1"/>
          <p:nvPr/>
        </p:nvSpPr>
        <p:spPr>
          <a:xfrm>
            <a:off x="660400" y="2273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0E8C8B"/>
                </a:solidFill>
                <a:latin typeface="Meiryo" panose="020B0604030504040204" pitchFamily="50" charset="-128"/>
              </a:rPr>
              <a:t>進学・特色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690DED7-86F0-21FC-E9D9-A4D15041989C}"/>
              </a:ext>
            </a:extLst>
          </p:cNvPr>
          <p:cNvSpPr txBox="1"/>
          <p:nvPr/>
        </p:nvSpPr>
        <p:spPr>
          <a:xfrm>
            <a:off x="2286000" y="2189034"/>
            <a:ext cx="6146800" cy="3949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国公立に多数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(2025: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愛知県立大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12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・名市大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8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・三重大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8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・岐阜大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7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・愛知教育大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6 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ほか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。陸上・作画研究部が活躍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22B320E2-823C-1F42-3BF0-06AB65E1517F}"/>
              </a:ext>
            </a:extLst>
          </p:cNvPr>
          <p:cNvSpPr/>
          <p:nvPr/>
        </p:nvSpPr>
        <p:spPr>
          <a:xfrm>
            <a:off x="508000" y="2997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EFCF83-82DD-0C8A-BD83-38CFC0F4911D}"/>
              </a:ext>
            </a:extLst>
          </p:cNvPr>
          <p:cNvSpPr txBox="1"/>
          <p:nvPr/>
        </p:nvSpPr>
        <p:spPr>
          <a:xfrm>
            <a:off x="660400" y="3035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0E8C8B"/>
                </a:solidFill>
                <a:latin typeface="Meiryo" panose="020B0604030504040204" pitchFamily="50" charset="-128"/>
              </a:rPr>
              <a:t>最寄り駅・自宅から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7CE8ED8-3D93-4093-6307-318B7BF12309}"/>
              </a:ext>
            </a:extLst>
          </p:cNvPr>
          <p:cNvSpPr txBox="1"/>
          <p:nvPr/>
        </p:nvSpPr>
        <p:spPr>
          <a:xfrm>
            <a:off x="2286000" y="2951033"/>
            <a:ext cx="6146800" cy="3949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地下鉄鶴舞線「浄心」駅 徒歩約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10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分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西区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。黒川→名城線→上前津→鶴舞線で約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30〜35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分／バス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城北小学校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も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目安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】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7A6AA16F-4D7F-A71C-5B1D-F9C27C0899FC}"/>
              </a:ext>
            </a:extLst>
          </p:cNvPr>
          <p:cNvSpPr/>
          <p:nvPr/>
        </p:nvSpPr>
        <p:spPr>
          <a:xfrm>
            <a:off x="508000" y="3759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E1FC953-3B29-2D54-4AE2-301F44C8D9A8}"/>
              </a:ext>
            </a:extLst>
          </p:cNvPr>
          <p:cNvSpPr txBox="1"/>
          <p:nvPr/>
        </p:nvSpPr>
        <p:spPr>
          <a:xfrm>
            <a:off x="660400" y="3797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0E8C8B"/>
                </a:solidFill>
                <a:latin typeface="Meiryo" panose="020B0604030504040204" pitchFamily="50" charset="-128"/>
              </a:rPr>
              <a:t>通学・その他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E980EEC-617D-C850-B503-29775944AC87}"/>
              </a:ext>
            </a:extLst>
          </p:cNvPr>
          <p:cNvSpPr txBox="1"/>
          <p:nvPr/>
        </p:nvSpPr>
        <p:spPr>
          <a:xfrm>
            <a:off x="2286000" y="3805367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公立で学費が抑えられる。お弁当＋購買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食堂は要確認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。黒リボンのセーラー服が人気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29BF9363-3B76-8EB4-58F0-9029D5FA1906}"/>
              </a:ext>
            </a:extLst>
          </p:cNvPr>
          <p:cNvSpPr/>
          <p:nvPr/>
        </p:nvSpPr>
        <p:spPr>
          <a:xfrm>
            <a:off x="508000" y="4724400"/>
            <a:ext cx="11176000" cy="508000"/>
          </a:xfrm>
          <a:prstGeom prst="roundRect">
            <a:avLst/>
          </a:prstGeom>
          <a:solidFill>
            <a:srgbClr val="E9E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C06C3E0-730E-C2D9-C338-27310F092542}"/>
              </a:ext>
            </a:extLst>
          </p:cNvPr>
          <p:cNvSpPr txBox="1"/>
          <p:nvPr/>
        </p:nvSpPr>
        <p:spPr>
          <a:xfrm>
            <a:off x="685800" y="4770567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▶ 次のページ②に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部活動・校風校則・口コミの良い点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/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気になる点・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年度の日程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】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を掲載しています。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B86C5695-40BE-A6B8-F5EE-A7F078C441F4}"/>
              </a:ext>
            </a:extLst>
          </p:cNvPr>
          <p:cNvSpPr/>
          <p:nvPr/>
        </p:nvSpPr>
        <p:spPr>
          <a:xfrm>
            <a:off x="508000" y="6172200"/>
            <a:ext cx="11176000" cy="4064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4E5C5CF-54D6-2635-C317-E3D48B9BD33F}"/>
              </a:ext>
            </a:extLst>
          </p:cNvPr>
          <p:cNvSpPr txBox="1"/>
          <p:nvPr/>
        </p:nvSpPr>
        <p:spPr>
          <a:xfrm>
            <a:off x="685800" y="6218366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1A56C4"/>
                </a:solidFill>
                <a:latin typeface="Meiryo" panose="020B0604030504040204" pitchFamily="50" charset="-128"/>
                <a:hlinkClick r:id="rId3"/>
              </a:rPr>
              <a:t>▶ 名古屋西高校のくわしい情報（口コミ・偏差値・制服）はこちら（みんなの高校情報）</a:t>
            </a:r>
            <a:endParaRPr kumimoji="1" lang="ja-JP" altLang="en-US" sz="12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396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D76F9AC-2A57-C516-1FE3-16FF20095C4D}"/>
              </a:ext>
            </a:extLst>
          </p:cNvPr>
          <p:cNvSpPr/>
          <p:nvPr/>
        </p:nvSpPr>
        <p:spPr>
          <a:xfrm>
            <a:off x="508000" y="330200"/>
            <a:ext cx="11176000" cy="584200"/>
          </a:xfrm>
          <a:prstGeom prst="roundRect">
            <a:avLst/>
          </a:prstGeom>
          <a:solidFill>
            <a:srgbClr val="0E8C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67AFF5-0596-CA72-E9F5-C26D249F8002}"/>
              </a:ext>
            </a:extLst>
          </p:cNvPr>
          <p:cNvSpPr txBox="1"/>
          <p:nvPr/>
        </p:nvSpPr>
        <p:spPr>
          <a:xfrm>
            <a:off x="736600" y="314811"/>
            <a:ext cx="10922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愛知県立 名古屋西高校　②部活・校風・口コミ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D7B20D1-1B18-7CBE-C02F-26A544514EBD}"/>
              </a:ext>
            </a:extLst>
          </p:cNvPr>
          <p:cNvSpPr/>
          <p:nvPr/>
        </p:nvSpPr>
        <p:spPr>
          <a:xfrm>
            <a:off x="508000" y="1066800"/>
            <a:ext cx="5461000" cy="1930400"/>
          </a:xfrm>
          <a:prstGeom prst="roundRect">
            <a:avLst/>
          </a:prstGeom>
          <a:solidFill>
            <a:srgbClr val="EA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94D13AE-E441-DDAB-150D-BBF05721E669}"/>
              </a:ext>
            </a:extLst>
          </p:cNvPr>
          <p:cNvSpPr txBox="1"/>
          <p:nvPr/>
        </p:nvSpPr>
        <p:spPr>
          <a:xfrm>
            <a:off x="711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2761"/>
                </a:solidFill>
                <a:latin typeface="Meiryo" panose="020B0604030504040204" pitchFamily="50" charset="-128"/>
              </a:rPr>
              <a:t>■ 部活動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D95923-067F-25C6-835D-C1C9C8BC9B61}"/>
              </a:ext>
            </a:extLst>
          </p:cNvPr>
          <p:cNvSpPr txBox="1"/>
          <p:nvPr/>
        </p:nvSpPr>
        <p:spPr>
          <a:xfrm>
            <a:off x="711200" y="1498600"/>
            <a:ext cx="5130800" cy="55656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・陸上競技部が国体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4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位の実績で活躍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・作画研究部が全国高校漫画選手権の本戦出場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・運動部・文化部とも活動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詳細は要確認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15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E7952A3D-FDB1-48B2-F89C-16139773021C}"/>
              </a:ext>
            </a:extLst>
          </p:cNvPr>
          <p:cNvSpPr/>
          <p:nvPr/>
        </p:nvSpPr>
        <p:spPr>
          <a:xfrm>
            <a:off x="6223000" y="1066800"/>
            <a:ext cx="5461000" cy="1930400"/>
          </a:xfrm>
          <a:prstGeom prst="roundRect">
            <a:avLst/>
          </a:prstGeom>
          <a:solidFill>
            <a:srgbClr val="F3EF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9981AD-675F-BE86-EE2A-352521ADACA7}"/>
              </a:ext>
            </a:extLst>
          </p:cNvPr>
          <p:cNvSpPr txBox="1"/>
          <p:nvPr/>
        </p:nvSpPr>
        <p:spPr>
          <a:xfrm>
            <a:off x="6426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6B46A8"/>
                </a:solidFill>
                <a:latin typeface="Meiryo" panose="020B0604030504040204" pitchFamily="50" charset="-128"/>
              </a:rPr>
              <a:t>■ 校風・校則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D974208-3CA2-CAD8-9025-2572776FE09D}"/>
              </a:ext>
            </a:extLst>
          </p:cNvPr>
          <p:cNvSpPr txBox="1"/>
          <p:nvPr/>
        </p:nvSpPr>
        <p:spPr>
          <a:xfrm>
            <a:off x="6426200" y="14986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生徒想いの先生が多い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落ち着いた伝統校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・校則は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ちょうどいい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との評価が中心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・ただし化粧・スカート丈は指導あり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近年やや厳しめとの声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・スマホ・アルバイトの規定は要確認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1AF9BCC8-F3F6-D023-6D9B-05D49FD6383B}"/>
              </a:ext>
            </a:extLst>
          </p:cNvPr>
          <p:cNvSpPr/>
          <p:nvPr/>
        </p:nvSpPr>
        <p:spPr>
          <a:xfrm>
            <a:off x="508000" y="3124200"/>
            <a:ext cx="5461000" cy="1905000"/>
          </a:xfrm>
          <a:prstGeom prst="roundRect">
            <a:avLst/>
          </a:prstGeom>
          <a:solidFill>
            <a:srgbClr val="E7F6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BF0C24E-958F-C3C0-E96C-CF9FF0E6DB4C}"/>
              </a:ext>
            </a:extLst>
          </p:cNvPr>
          <p:cNvSpPr txBox="1"/>
          <p:nvPr/>
        </p:nvSpPr>
        <p:spPr>
          <a:xfrm>
            <a:off x="711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7A43"/>
                </a:solidFill>
                <a:latin typeface="Meiryo" panose="020B0604030504040204" pitchFamily="50" charset="-128"/>
              </a:rPr>
              <a:t>■ 口コミの良い点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D6B493D-C7D1-FD81-E4CA-AD52A66BA1FA}"/>
              </a:ext>
            </a:extLst>
          </p:cNvPr>
          <p:cNvSpPr txBox="1"/>
          <p:nvPr/>
        </p:nvSpPr>
        <p:spPr>
          <a:xfrm>
            <a:off x="711200" y="35560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・評判が高い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口コミ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3.7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・県内上位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・国公立進学に強い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・創造表現コースなど特色ある学び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・公立で学費が抑えられる／黒リボンのセーラー服が人気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810E9497-BC6A-4834-8FE6-875779C12041}"/>
              </a:ext>
            </a:extLst>
          </p:cNvPr>
          <p:cNvSpPr/>
          <p:nvPr/>
        </p:nvSpPr>
        <p:spPr>
          <a:xfrm>
            <a:off x="6223000" y="3124200"/>
            <a:ext cx="5461000" cy="1905000"/>
          </a:xfrm>
          <a:prstGeom prst="roundRect">
            <a:avLst/>
          </a:prstGeom>
          <a:solidFill>
            <a:srgbClr val="FBEA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18D32F8-5CD3-2D82-F9BA-DA6EEBF5AD3A}"/>
              </a:ext>
            </a:extLst>
          </p:cNvPr>
          <p:cNvSpPr txBox="1"/>
          <p:nvPr/>
        </p:nvSpPr>
        <p:spPr>
          <a:xfrm>
            <a:off x="6426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B23B3B"/>
                </a:solidFill>
                <a:latin typeface="Meiryo" panose="020B0604030504040204" pitchFamily="50" charset="-128"/>
              </a:rPr>
              <a:t>■ 気になる点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CFF970E-C085-A17F-142E-D7BBE5BB971E}"/>
              </a:ext>
            </a:extLst>
          </p:cNvPr>
          <p:cNvSpPr txBox="1"/>
          <p:nvPr/>
        </p:nvSpPr>
        <p:spPr>
          <a:xfrm>
            <a:off x="6426200" y="3556000"/>
            <a:ext cx="5130800" cy="55656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・偏差値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60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と高め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しっかり対策が必要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・化粧・服装の指導はある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・食堂は要確認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基本はお弁当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15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E62774-AA47-DE76-BDDB-B35C2760BC43}"/>
              </a:ext>
            </a:extLst>
          </p:cNvPr>
          <p:cNvSpPr/>
          <p:nvPr/>
        </p:nvSpPr>
        <p:spPr>
          <a:xfrm>
            <a:off x="508000" y="5156200"/>
            <a:ext cx="11176000" cy="889000"/>
          </a:xfrm>
          <a:prstGeom prst="roundRect">
            <a:avLst/>
          </a:prstGeom>
          <a:solidFill>
            <a:srgbClr val="FFF4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4E1A296-694A-E949-57A6-AD06AA524AC9}"/>
              </a:ext>
            </a:extLst>
          </p:cNvPr>
          <p:cNvSpPr txBox="1"/>
          <p:nvPr/>
        </p:nvSpPr>
        <p:spPr>
          <a:xfrm>
            <a:off x="685800" y="5207000"/>
            <a:ext cx="1117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■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年度（令和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8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年度）の日程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※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最新は公式で要確認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C8D4DEC-1C71-6BD0-B9AB-1BC37E42CDD4}"/>
              </a:ext>
            </a:extLst>
          </p:cNvPr>
          <p:cNvSpPr txBox="1"/>
          <p:nvPr/>
        </p:nvSpPr>
        <p:spPr>
          <a:xfrm>
            <a:off x="685800" y="5486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説明会・見学：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年度の説明会・見学会は公式サイトで要確認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現時点 未発表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FCDF79F-5630-4069-F6A5-63C1FFF71F43}"/>
              </a:ext>
            </a:extLst>
          </p:cNvPr>
          <p:cNvSpPr txBox="1"/>
          <p:nvPr/>
        </p:nvSpPr>
        <p:spPr>
          <a:xfrm>
            <a:off x="685800" y="5740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文化祭：文化祭＝例年秋・要確認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B9EF089-5D12-8236-21D3-A3A5E9710C59}"/>
              </a:ext>
            </a:extLst>
          </p:cNvPr>
          <p:cNvSpPr/>
          <p:nvPr/>
        </p:nvSpPr>
        <p:spPr>
          <a:xfrm>
            <a:off x="508000" y="6146800"/>
            <a:ext cx="11176000" cy="3810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558D880-FDD8-A9F9-732D-89C62A2EA350}"/>
              </a:ext>
            </a:extLst>
          </p:cNvPr>
          <p:cNvSpPr txBox="1"/>
          <p:nvPr/>
        </p:nvSpPr>
        <p:spPr>
          <a:xfrm>
            <a:off x="685800" y="6200661"/>
            <a:ext cx="109982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100">
                <a:solidFill>
                  <a:srgbClr val="1A56C4"/>
                </a:solidFill>
                <a:latin typeface="Meiryo" panose="020B0604030504040204" pitchFamily="50" charset="-128"/>
                <a:hlinkClick r:id="rId2"/>
              </a:rPr>
              <a:t>▶ 名古屋西高校のくわしい情報（口コミ・偏差値・制服）はこちら（みんなの高校情報）</a:t>
            </a:r>
            <a:endParaRPr kumimoji="1" lang="ja-JP" altLang="en-US" sz="11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82991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56C2092-3050-71BD-51B5-6357BF895C2F}"/>
              </a:ext>
            </a:extLst>
          </p:cNvPr>
          <p:cNvSpPr/>
          <p:nvPr/>
        </p:nvSpPr>
        <p:spPr>
          <a:xfrm>
            <a:off x="508000" y="330200"/>
            <a:ext cx="7924800" cy="635000"/>
          </a:xfrm>
          <a:prstGeom prst="roundRect">
            <a:avLst/>
          </a:prstGeom>
          <a:solidFill>
            <a:srgbClr val="E8633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91CDA11-1B68-A07A-103F-B27D6AD8918C}"/>
              </a:ext>
            </a:extLst>
          </p:cNvPr>
          <p:cNvSpPr txBox="1"/>
          <p:nvPr/>
        </p:nvSpPr>
        <p:spPr>
          <a:xfrm>
            <a:off x="736600" y="314811"/>
            <a:ext cx="7620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名古屋市立 山田高校　①基本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EACDC2-848E-1B41-147E-6CB79FAC615A}"/>
              </a:ext>
            </a:extLst>
          </p:cNvPr>
          <p:cNvSpPr txBox="1"/>
          <p:nvPr/>
        </p:nvSpPr>
        <p:spPr>
          <a:xfrm>
            <a:off x="558800" y="1016000"/>
            <a:ext cx="7924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6B7280"/>
                </a:solidFill>
                <a:latin typeface="Meiryo" panose="020B0604030504040204" pitchFamily="50" charset="-128"/>
              </a:rPr>
              <a:t>名古屋市西区二方町／最寄り 上小田井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E46E1AF-076F-E409-9020-9EBFD3893F33}"/>
              </a:ext>
            </a:extLst>
          </p:cNvPr>
          <p:cNvSpPr/>
          <p:nvPr/>
        </p:nvSpPr>
        <p:spPr>
          <a:xfrm>
            <a:off x="8712200" y="330200"/>
            <a:ext cx="2971800" cy="965200"/>
          </a:xfrm>
          <a:prstGeom prst="roundRect">
            <a:avLst/>
          </a:prstGeom>
          <a:solidFill>
            <a:srgbClr val="F2F5FC"/>
          </a:solidFill>
          <a:ln w="15875">
            <a:solidFill>
              <a:srgbClr val="E863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CEB114-0CF4-0326-6210-8B136D678296}"/>
              </a:ext>
            </a:extLst>
          </p:cNvPr>
          <p:cNvSpPr txBox="1"/>
          <p:nvPr/>
        </p:nvSpPr>
        <p:spPr>
          <a:xfrm>
            <a:off x="8712200" y="406400"/>
            <a:ext cx="2971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偏差値（目安）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BF14A3D-5F6C-F861-DBC8-ED5F7BA8620E}"/>
              </a:ext>
            </a:extLst>
          </p:cNvPr>
          <p:cNvSpPr txBox="1"/>
          <p:nvPr/>
        </p:nvSpPr>
        <p:spPr>
          <a:xfrm>
            <a:off x="8712200" y="584200"/>
            <a:ext cx="2971800" cy="4257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en-US" altLang="ja-JP" sz="2600" b="1">
                <a:solidFill>
                  <a:srgbClr val="E8633F"/>
                </a:solidFill>
                <a:latin typeface="Meiryo" panose="020B0604030504040204" pitchFamily="50" charset="-128"/>
              </a:rPr>
              <a:t>49</a:t>
            </a:r>
            <a:endParaRPr kumimoji="1" lang="ja-JP" altLang="en-US" sz="2600" b="1">
              <a:solidFill>
                <a:srgbClr val="E8633F"/>
              </a:solidFill>
              <a:latin typeface="Meiryo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5EE0DBB-4A30-E5AF-5415-F46D8004756B}"/>
              </a:ext>
            </a:extLst>
          </p:cNvPr>
          <p:cNvSpPr txBox="1"/>
          <p:nvPr/>
        </p:nvSpPr>
        <p:spPr>
          <a:xfrm>
            <a:off x="8712200" y="1066800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000">
                <a:solidFill>
                  <a:srgbClr val="6B7280"/>
                </a:solidFill>
                <a:latin typeface="Meiryo" panose="020B0604030504040204" pitchFamily="50" charset="-128"/>
              </a:rPr>
              <a:t>普通科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9C7B1E7-02C0-EE0A-638C-73F077A05A1E}"/>
              </a:ext>
            </a:extLst>
          </p:cNvPr>
          <p:cNvSpPr/>
          <p:nvPr/>
        </p:nvSpPr>
        <p:spPr>
          <a:xfrm>
            <a:off x="8712200" y="1371600"/>
            <a:ext cx="2971800" cy="355600"/>
          </a:xfrm>
          <a:prstGeom prst="roundRect">
            <a:avLst/>
          </a:prstGeom>
          <a:solidFill>
            <a:srgbClr val="E8633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824FF45-5E64-538F-FAF2-A7E8D7E83A1F}"/>
              </a:ext>
            </a:extLst>
          </p:cNvPr>
          <p:cNvSpPr txBox="1"/>
          <p:nvPr/>
        </p:nvSpPr>
        <p:spPr>
          <a:xfrm>
            <a:off x="8712200" y="1433155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000" b="1">
                <a:solidFill>
                  <a:srgbClr val="FFFFFF"/>
                </a:solidFill>
                <a:latin typeface="Meiryo" panose="020B0604030504040204" pitchFamily="50" charset="-128"/>
              </a:rPr>
              <a:t>明るい校風・行事が活発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E11C4482-0BA4-9534-B4B3-E36AC056126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200" y="1831975"/>
            <a:ext cx="2971800" cy="2228850"/>
          </a:xfrm>
          <a:prstGeom prst="rect">
            <a:avLst/>
          </a:prstGeom>
          <a:ln w="38100">
            <a:solidFill>
              <a:srgbClr val="FFFFFF"/>
            </a:solidFill>
          </a:ln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8326131-54A1-0D3A-D974-7C5859122D28}"/>
              </a:ext>
            </a:extLst>
          </p:cNvPr>
          <p:cNvSpPr txBox="1"/>
          <p:nvPr/>
        </p:nvSpPr>
        <p:spPr>
          <a:xfrm>
            <a:off x="8712200" y="4089400"/>
            <a:ext cx="2971800" cy="16414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zh-CN" altLang="en-US" sz="900">
                <a:solidFill>
                  <a:srgbClr val="6B7280"/>
                </a:solidFill>
                <a:latin typeface="Meiryo" panose="020B0604030504040204" pitchFamily="50" charset="-128"/>
              </a:rPr>
              <a:t>制服（参考写真）出典：</a:t>
            </a:r>
            <a:r>
              <a:rPr kumimoji="1" lang="en-US" altLang="zh-CN" sz="900">
                <a:solidFill>
                  <a:srgbClr val="6B7280"/>
                </a:solidFill>
                <a:latin typeface="Meiryo" panose="020B0604030504040204" pitchFamily="50" charset="-128"/>
              </a:rPr>
              <a:t>A-</a:t>
            </a:r>
            <a:r>
              <a:rPr kumimoji="1" lang="zh-CN" altLang="en-US" sz="900">
                <a:solidFill>
                  <a:srgbClr val="6B7280"/>
                </a:solidFill>
                <a:latin typeface="Meiryo" panose="020B0604030504040204" pitchFamily="50" charset="-128"/>
              </a:rPr>
              <a:t>制服店</a:t>
            </a:r>
            <a:r>
              <a:rPr kumimoji="1" lang="en-US" altLang="zh-CN" sz="900">
                <a:solidFill>
                  <a:srgbClr val="6B7280"/>
                </a:solidFill>
                <a:latin typeface="Meiryo" panose="020B0604030504040204" pitchFamily="50" charset="-128"/>
              </a:rPr>
              <a:t>.com</a:t>
            </a:r>
            <a:endParaRPr kumimoji="1" lang="ja-JP" altLang="en-US" sz="900">
              <a:solidFill>
                <a:srgbClr val="6B7280"/>
              </a:solidFill>
              <a:latin typeface="Meiryo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7E79052F-7D12-5786-01E7-2C4C38F62842}"/>
              </a:ext>
            </a:extLst>
          </p:cNvPr>
          <p:cNvSpPr/>
          <p:nvPr/>
        </p:nvSpPr>
        <p:spPr>
          <a:xfrm>
            <a:off x="508000" y="1473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4D59049-7EFA-5D85-FE92-A3352F551DAE}"/>
              </a:ext>
            </a:extLst>
          </p:cNvPr>
          <p:cNvSpPr txBox="1"/>
          <p:nvPr/>
        </p:nvSpPr>
        <p:spPr>
          <a:xfrm>
            <a:off x="660400" y="1511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E8633F"/>
                </a:solidFill>
                <a:latin typeface="Meiryo" panose="020B0604030504040204" pitchFamily="50" charset="-128"/>
              </a:rPr>
              <a:t>学科・コース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C827AC6-50E3-E784-0F0D-C7519811A7F0}"/>
              </a:ext>
            </a:extLst>
          </p:cNvPr>
          <p:cNvSpPr txBox="1"/>
          <p:nvPr/>
        </p:nvSpPr>
        <p:spPr>
          <a:xfrm>
            <a:off x="2286000" y="1519366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普通科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C42B5B78-A145-3342-BF0A-414839C05DC7}"/>
              </a:ext>
            </a:extLst>
          </p:cNvPr>
          <p:cNvSpPr/>
          <p:nvPr/>
        </p:nvSpPr>
        <p:spPr>
          <a:xfrm>
            <a:off x="508000" y="2235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717D967-4AEC-47BA-B719-9AC8F1408715}"/>
              </a:ext>
            </a:extLst>
          </p:cNvPr>
          <p:cNvSpPr txBox="1"/>
          <p:nvPr/>
        </p:nvSpPr>
        <p:spPr>
          <a:xfrm>
            <a:off x="660400" y="2273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E8633F"/>
                </a:solidFill>
                <a:latin typeface="Meiryo" panose="020B0604030504040204" pitchFamily="50" charset="-128"/>
              </a:rPr>
              <a:t>進学・特色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3777B45-2000-65A9-4DF1-34B9A3F4BE11}"/>
              </a:ext>
            </a:extLst>
          </p:cNvPr>
          <p:cNvSpPr txBox="1"/>
          <p:nvPr/>
        </p:nvSpPr>
        <p:spPr>
          <a:xfrm>
            <a:off x="2286000" y="2281367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同志社・立命館・関西・愛知工大など私大中心。ダンス部が全国常連で行事も活発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CC8A7A4-D872-88DD-D900-7511B60F2689}"/>
              </a:ext>
            </a:extLst>
          </p:cNvPr>
          <p:cNvSpPr/>
          <p:nvPr/>
        </p:nvSpPr>
        <p:spPr>
          <a:xfrm>
            <a:off x="508000" y="2997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7B5605A-86CC-C141-7EF4-788F02C39B69}"/>
              </a:ext>
            </a:extLst>
          </p:cNvPr>
          <p:cNvSpPr txBox="1"/>
          <p:nvPr/>
        </p:nvSpPr>
        <p:spPr>
          <a:xfrm>
            <a:off x="660400" y="3035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E8633F"/>
                </a:solidFill>
                <a:latin typeface="Meiryo" panose="020B0604030504040204" pitchFamily="50" charset="-128"/>
              </a:rPr>
              <a:t>最寄り駅・自宅から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6EB9CD6-1BF8-7A7A-144F-F42E4CE10F43}"/>
              </a:ext>
            </a:extLst>
          </p:cNvPr>
          <p:cNvSpPr txBox="1"/>
          <p:nvPr/>
        </p:nvSpPr>
        <p:spPr>
          <a:xfrm>
            <a:off x="2286000" y="2951033"/>
            <a:ext cx="6146800" cy="3949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地下鉄鶴舞線・名鉄犬山線「上小田井」駅 徒歩約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12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分。黒川→名城線→乗換で約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40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分／バス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城北小学校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』→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地下鉄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目安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】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CA2C320-8741-4BD1-AA76-C01ED059B775}"/>
              </a:ext>
            </a:extLst>
          </p:cNvPr>
          <p:cNvSpPr/>
          <p:nvPr/>
        </p:nvSpPr>
        <p:spPr>
          <a:xfrm>
            <a:off x="508000" y="3759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F8D1F3C-B7F3-0008-0A6C-6202067A7EE9}"/>
              </a:ext>
            </a:extLst>
          </p:cNvPr>
          <p:cNvSpPr txBox="1"/>
          <p:nvPr/>
        </p:nvSpPr>
        <p:spPr>
          <a:xfrm>
            <a:off x="660400" y="3797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E8633F"/>
                </a:solidFill>
                <a:latin typeface="Meiryo" panose="020B0604030504040204" pitchFamily="50" charset="-128"/>
              </a:rPr>
              <a:t>通学・その他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08E9916-ECB0-FB8D-67DB-5ACB5A9590E7}"/>
              </a:ext>
            </a:extLst>
          </p:cNvPr>
          <p:cNvSpPr txBox="1"/>
          <p:nvPr/>
        </p:nvSpPr>
        <p:spPr>
          <a:xfrm>
            <a:off x="2286000" y="3805366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公立で学費が抑えられる。お弁当＋購買。制服が人気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EF6EED9-C060-8089-1EE7-AA1CA25B6384}"/>
              </a:ext>
            </a:extLst>
          </p:cNvPr>
          <p:cNvSpPr/>
          <p:nvPr/>
        </p:nvSpPr>
        <p:spPr>
          <a:xfrm>
            <a:off x="508000" y="4724400"/>
            <a:ext cx="11176000" cy="508000"/>
          </a:xfrm>
          <a:prstGeom prst="roundRect">
            <a:avLst/>
          </a:prstGeom>
          <a:solidFill>
            <a:srgbClr val="E9E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CB7463D-43C7-A00B-CF63-79EB5E3ACC5E}"/>
              </a:ext>
            </a:extLst>
          </p:cNvPr>
          <p:cNvSpPr txBox="1"/>
          <p:nvPr/>
        </p:nvSpPr>
        <p:spPr>
          <a:xfrm>
            <a:off x="685800" y="4770567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▶ 次のページ②に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部活動・校風校則・口コミの良い点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/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気になる点・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年度の日程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】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を掲載しています。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1FFEB4CC-5547-BBE8-F7C9-C6348B20712E}"/>
              </a:ext>
            </a:extLst>
          </p:cNvPr>
          <p:cNvSpPr/>
          <p:nvPr/>
        </p:nvSpPr>
        <p:spPr>
          <a:xfrm>
            <a:off x="508000" y="6172200"/>
            <a:ext cx="11176000" cy="4064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CFC50A32-57AF-7CD5-88C3-A5C76FC49C6F}"/>
              </a:ext>
            </a:extLst>
          </p:cNvPr>
          <p:cNvSpPr txBox="1"/>
          <p:nvPr/>
        </p:nvSpPr>
        <p:spPr>
          <a:xfrm>
            <a:off x="685800" y="6218366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1A56C4"/>
                </a:solidFill>
                <a:latin typeface="Meiryo" panose="020B0604030504040204" pitchFamily="50" charset="-128"/>
                <a:hlinkClick r:id="rId3"/>
              </a:rPr>
              <a:t>▶ 山田高校のくわしい情報（口コミ・偏差値・制服）はこちら（みんなの高校情報）</a:t>
            </a:r>
            <a:endParaRPr kumimoji="1" lang="ja-JP" altLang="en-US" sz="12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1282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D9A5EDF-563F-F143-E6AE-0256D5CB1C2F}"/>
              </a:ext>
            </a:extLst>
          </p:cNvPr>
          <p:cNvSpPr/>
          <p:nvPr/>
        </p:nvSpPr>
        <p:spPr>
          <a:xfrm>
            <a:off x="508000" y="330200"/>
            <a:ext cx="11176000" cy="584200"/>
          </a:xfrm>
          <a:prstGeom prst="roundRect">
            <a:avLst/>
          </a:prstGeom>
          <a:solidFill>
            <a:srgbClr val="E8633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A095CAF-6E5B-51B5-BD28-0DB44F6D3D5E}"/>
              </a:ext>
            </a:extLst>
          </p:cNvPr>
          <p:cNvSpPr txBox="1"/>
          <p:nvPr/>
        </p:nvSpPr>
        <p:spPr>
          <a:xfrm>
            <a:off x="736600" y="314811"/>
            <a:ext cx="10922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名古屋市立 山田高校　②部活・校風・口コミ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FCF3B31-E75A-BA9A-AABC-6A73D31905B4}"/>
              </a:ext>
            </a:extLst>
          </p:cNvPr>
          <p:cNvSpPr/>
          <p:nvPr/>
        </p:nvSpPr>
        <p:spPr>
          <a:xfrm>
            <a:off x="508000" y="1066800"/>
            <a:ext cx="5461000" cy="1930400"/>
          </a:xfrm>
          <a:prstGeom prst="roundRect">
            <a:avLst/>
          </a:prstGeom>
          <a:solidFill>
            <a:srgbClr val="EA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85D8C0-5AE5-3D96-7B15-2F8F9C5E6DC4}"/>
              </a:ext>
            </a:extLst>
          </p:cNvPr>
          <p:cNvSpPr txBox="1"/>
          <p:nvPr/>
        </p:nvSpPr>
        <p:spPr>
          <a:xfrm>
            <a:off x="711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2761"/>
                </a:solidFill>
                <a:latin typeface="Meiryo" panose="020B0604030504040204" pitchFamily="50" charset="-128"/>
              </a:rPr>
              <a:t>■ 部活動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0FB6C8C-30AF-98C8-77BB-B58F0CFD4220}"/>
              </a:ext>
            </a:extLst>
          </p:cNvPr>
          <p:cNvSpPr txBox="1"/>
          <p:nvPr/>
        </p:nvSpPr>
        <p:spPr>
          <a:xfrm>
            <a:off x="711200" y="1498600"/>
            <a:ext cx="5130800" cy="55656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・部活動の満足度が高い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口コミ評価◎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・ダンス部が全国常連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・運動部・文化部とも活発で行事も盛ん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9B75A1A-AC9A-D956-3D57-E3EB1170C71A}"/>
              </a:ext>
            </a:extLst>
          </p:cNvPr>
          <p:cNvSpPr/>
          <p:nvPr/>
        </p:nvSpPr>
        <p:spPr>
          <a:xfrm>
            <a:off x="6223000" y="1066800"/>
            <a:ext cx="5461000" cy="1930400"/>
          </a:xfrm>
          <a:prstGeom prst="roundRect">
            <a:avLst/>
          </a:prstGeom>
          <a:solidFill>
            <a:srgbClr val="F3EF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38E713A-A173-644E-71E1-39C6E83C24F6}"/>
              </a:ext>
            </a:extLst>
          </p:cNvPr>
          <p:cNvSpPr txBox="1"/>
          <p:nvPr/>
        </p:nvSpPr>
        <p:spPr>
          <a:xfrm>
            <a:off x="6426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6B46A8"/>
                </a:solidFill>
                <a:latin typeface="Meiryo" panose="020B0604030504040204" pitchFamily="50" charset="-128"/>
              </a:rPr>
              <a:t>■ 校風・校則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11FCE2F-54EA-AD12-CCD7-24E29CE71686}"/>
              </a:ext>
            </a:extLst>
          </p:cNvPr>
          <p:cNvSpPr txBox="1"/>
          <p:nvPr/>
        </p:nvSpPr>
        <p:spPr>
          <a:xfrm>
            <a:off x="6426200" y="14986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・明るく楽しい雰囲気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説明会から明るいとの声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・服装は厳しめ：スカート丈・ピアスは没収例あり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・カラコン没収、メイクは指導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その場で落とす例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派手になりすぎ注意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との声も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4B233B8B-1F7F-43F8-E6C3-B8F6C1759200}"/>
              </a:ext>
            </a:extLst>
          </p:cNvPr>
          <p:cNvSpPr/>
          <p:nvPr/>
        </p:nvSpPr>
        <p:spPr>
          <a:xfrm>
            <a:off x="508000" y="3124200"/>
            <a:ext cx="5461000" cy="1905000"/>
          </a:xfrm>
          <a:prstGeom prst="roundRect">
            <a:avLst/>
          </a:prstGeom>
          <a:solidFill>
            <a:srgbClr val="E7F6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8B91836-82E2-9DA1-6B40-40C3BAA68116}"/>
              </a:ext>
            </a:extLst>
          </p:cNvPr>
          <p:cNvSpPr txBox="1"/>
          <p:nvPr/>
        </p:nvSpPr>
        <p:spPr>
          <a:xfrm>
            <a:off x="711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7A43"/>
                </a:solidFill>
                <a:latin typeface="Meiryo" panose="020B0604030504040204" pitchFamily="50" charset="-128"/>
              </a:rPr>
              <a:t>■ 口コミの良い点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8A927EE-F4B6-D36E-CC78-161BF5D16F96}"/>
              </a:ext>
            </a:extLst>
          </p:cNvPr>
          <p:cNvSpPr txBox="1"/>
          <p:nvPr/>
        </p:nvSpPr>
        <p:spPr>
          <a:xfrm>
            <a:off x="711200" y="35560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・とにかく明るく楽しい校風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・部活・行事が盛ん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・制服がかわいいと人気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・公立で学費が抑えられる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828FAF81-C4CE-7A2D-F4DA-4821A6814B20}"/>
              </a:ext>
            </a:extLst>
          </p:cNvPr>
          <p:cNvSpPr/>
          <p:nvPr/>
        </p:nvSpPr>
        <p:spPr>
          <a:xfrm>
            <a:off x="6223000" y="3124200"/>
            <a:ext cx="5461000" cy="1905000"/>
          </a:xfrm>
          <a:prstGeom prst="roundRect">
            <a:avLst/>
          </a:prstGeom>
          <a:solidFill>
            <a:srgbClr val="FBEA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54699FD-279A-8E17-DC11-D02A3D0E9DBE}"/>
              </a:ext>
            </a:extLst>
          </p:cNvPr>
          <p:cNvSpPr txBox="1"/>
          <p:nvPr/>
        </p:nvSpPr>
        <p:spPr>
          <a:xfrm>
            <a:off x="6426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B23B3B"/>
                </a:solidFill>
                <a:latin typeface="Meiryo" panose="020B0604030504040204" pitchFamily="50" charset="-128"/>
              </a:rPr>
              <a:t>■ 気になる点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6BFEF56-3ECB-2F28-E559-4A5FB0E81450}"/>
              </a:ext>
            </a:extLst>
          </p:cNvPr>
          <p:cNvSpPr txBox="1"/>
          <p:nvPr/>
        </p:nvSpPr>
        <p:spPr>
          <a:xfrm>
            <a:off x="6426200" y="3556000"/>
            <a:ext cx="5130800" cy="379591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・勉強面の手厚さは控えめとの声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・服装・メイクの校則は厳しめ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202C8BE4-5DEF-A45F-A1E4-A56E905618E2}"/>
              </a:ext>
            </a:extLst>
          </p:cNvPr>
          <p:cNvSpPr/>
          <p:nvPr/>
        </p:nvSpPr>
        <p:spPr>
          <a:xfrm>
            <a:off x="508000" y="5156200"/>
            <a:ext cx="11176000" cy="889000"/>
          </a:xfrm>
          <a:prstGeom prst="roundRect">
            <a:avLst/>
          </a:prstGeom>
          <a:solidFill>
            <a:srgbClr val="FFF4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82674F5-AA02-A2D3-B50E-4B09638FC6B0}"/>
              </a:ext>
            </a:extLst>
          </p:cNvPr>
          <p:cNvSpPr txBox="1"/>
          <p:nvPr/>
        </p:nvSpPr>
        <p:spPr>
          <a:xfrm>
            <a:off x="685800" y="5207000"/>
            <a:ext cx="1117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■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年度（令和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8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年度）の日程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※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最新は公式で要確認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86356BC-7F16-11EE-6876-AE2F952A589C}"/>
              </a:ext>
            </a:extLst>
          </p:cNvPr>
          <p:cNvSpPr txBox="1"/>
          <p:nvPr/>
        </p:nvSpPr>
        <p:spPr>
          <a:xfrm>
            <a:off x="685800" y="5486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説明会・見学：日程は公式サイト・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SNS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で要確認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例年 夏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〜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秋に説明会・体験入学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AC6DF06-23C7-002C-2AD4-4E1F5FEEB8BC}"/>
              </a:ext>
            </a:extLst>
          </p:cNvPr>
          <p:cNvSpPr txBox="1"/>
          <p:nvPr/>
        </p:nvSpPr>
        <p:spPr>
          <a:xfrm>
            <a:off x="685800" y="5740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文化祭：山高祭＝例年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9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月頃・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2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日間・要確認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04117C45-3234-39FE-3A1A-934326C7C744}"/>
              </a:ext>
            </a:extLst>
          </p:cNvPr>
          <p:cNvSpPr/>
          <p:nvPr/>
        </p:nvSpPr>
        <p:spPr>
          <a:xfrm>
            <a:off x="508000" y="6146800"/>
            <a:ext cx="11176000" cy="3810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1500291-B6B8-B64B-8353-0BF1A949790F}"/>
              </a:ext>
            </a:extLst>
          </p:cNvPr>
          <p:cNvSpPr txBox="1"/>
          <p:nvPr/>
        </p:nvSpPr>
        <p:spPr>
          <a:xfrm>
            <a:off x="685800" y="6200661"/>
            <a:ext cx="109982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100">
                <a:solidFill>
                  <a:srgbClr val="1A56C4"/>
                </a:solidFill>
                <a:latin typeface="Meiryo" panose="020B0604030504040204" pitchFamily="50" charset="-128"/>
                <a:hlinkClick r:id="rId2"/>
              </a:rPr>
              <a:t>▶ 山田高校のくわしい情報（口コミ・偏差値・制服）はこちら（みんなの高校情報）</a:t>
            </a:r>
            <a:endParaRPr kumimoji="1" lang="ja-JP" altLang="en-US" sz="11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82128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C8027DB-A570-A430-C7BA-F8B0700E4EB6}"/>
              </a:ext>
            </a:extLst>
          </p:cNvPr>
          <p:cNvSpPr/>
          <p:nvPr/>
        </p:nvSpPr>
        <p:spPr>
          <a:xfrm>
            <a:off x="508000" y="330200"/>
            <a:ext cx="7924800" cy="635000"/>
          </a:xfrm>
          <a:prstGeom prst="roundRect">
            <a:avLst/>
          </a:prstGeom>
          <a:solidFill>
            <a:srgbClr val="7B5E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828BAF-F02A-7106-ED04-07ADA4EEFB6E}"/>
              </a:ext>
            </a:extLst>
          </p:cNvPr>
          <p:cNvSpPr txBox="1"/>
          <p:nvPr/>
        </p:nvSpPr>
        <p:spPr>
          <a:xfrm>
            <a:off x="736600" y="314811"/>
            <a:ext cx="7620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zh-TW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愛知県立 中村高校　①基本</a:t>
            </a:r>
            <a:endParaRPr kumimoji="1" lang="ja-JP" altLang="en-US" sz="20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68939AF-4C55-70F2-A15E-DD22A9A0F252}"/>
              </a:ext>
            </a:extLst>
          </p:cNvPr>
          <p:cNvSpPr txBox="1"/>
          <p:nvPr/>
        </p:nvSpPr>
        <p:spPr>
          <a:xfrm>
            <a:off x="558800" y="1016000"/>
            <a:ext cx="7924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6B7280"/>
                </a:solidFill>
                <a:latin typeface="Meiryo" panose="020B0604030504040204" pitchFamily="50" charset="-128"/>
              </a:rPr>
              <a:t>名古屋市中村区／自由な校風（</a:t>
            </a:r>
            <a:r>
              <a:rPr kumimoji="1" lang="en-US" altLang="ja-JP" sz="1300">
                <a:solidFill>
                  <a:srgbClr val="6B7280"/>
                </a:solidFill>
                <a:latin typeface="Meiryo" panose="020B0604030504040204" pitchFamily="50" charset="-128"/>
              </a:rPr>
              <a:t>1953</a:t>
            </a:r>
            <a:r>
              <a:rPr kumimoji="1" lang="ja-JP" altLang="en-US" sz="1300">
                <a:solidFill>
                  <a:srgbClr val="6B7280"/>
                </a:solidFill>
                <a:latin typeface="Meiryo" panose="020B0604030504040204" pitchFamily="50" charset="-128"/>
              </a:rPr>
              <a:t>開校）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D98488E-4CD6-5C61-B1C0-697CFCBAD9EF}"/>
              </a:ext>
            </a:extLst>
          </p:cNvPr>
          <p:cNvSpPr/>
          <p:nvPr/>
        </p:nvSpPr>
        <p:spPr>
          <a:xfrm>
            <a:off x="8712200" y="330200"/>
            <a:ext cx="2971800" cy="965200"/>
          </a:xfrm>
          <a:prstGeom prst="roundRect">
            <a:avLst/>
          </a:prstGeom>
          <a:solidFill>
            <a:srgbClr val="F2F5FC"/>
          </a:solidFill>
          <a:ln w="15875">
            <a:solidFill>
              <a:srgbClr val="7B5E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80FB53F-66C2-E267-5186-7F3AD8E941B9}"/>
              </a:ext>
            </a:extLst>
          </p:cNvPr>
          <p:cNvSpPr txBox="1"/>
          <p:nvPr/>
        </p:nvSpPr>
        <p:spPr>
          <a:xfrm>
            <a:off x="8712200" y="406400"/>
            <a:ext cx="2971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偏差値（目安）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B624951-FFF0-1909-FABA-119CF537060B}"/>
              </a:ext>
            </a:extLst>
          </p:cNvPr>
          <p:cNvSpPr txBox="1"/>
          <p:nvPr/>
        </p:nvSpPr>
        <p:spPr>
          <a:xfrm>
            <a:off x="8712200" y="584200"/>
            <a:ext cx="2971800" cy="4257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en-US" altLang="ja-JP" sz="2600" b="1">
                <a:solidFill>
                  <a:srgbClr val="7B5EA7"/>
                </a:solidFill>
                <a:latin typeface="Meiryo" panose="020B0604030504040204" pitchFamily="50" charset="-128"/>
              </a:rPr>
              <a:t>50</a:t>
            </a:r>
            <a:endParaRPr kumimoji="1" lang="ja-JP" altLang="en-US" sz="2600" b="1">
              <a:solidFill>
                <a:srgbClr val="7B5EA7"/>
              </a:solidFill>
              <a:latin typeface="Meiryo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D8A620E-67D1-5AF6-4749-C27C9FD58C50}"/>
              </a:ext>
            </a:extLst>
          </p:cNvPr>
          <p:cNvSpPr txBox="1"/>
          <p:nvPr/>
        </p:nvSpPr>
        <p:spPr>
          <a:xfrm>
            <a:off x="8712200" y="1066800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000">
                <a:solidFill>
                  <a:srgbClr val="6B7280"/>
                </a:solidFill>
                <a:latin typeface="Meiryo" panose="020B0604030504040204" pitchFamily="50" charset="-128"/>
              </a:rPr>
              <a:t>普通科</a:t>
            </a:r>
            <a:r>
              <a:rPr kumimoji="1" lang="en-US" altLang="ja-JP" sz="1000">
                <a:solidFill>
                  <a:srgbClr val="6B7280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000">
                <a:solidFill>
                  <a:srgbClr val="6B7280"/>
                </a:solidFill>
                <a:latin typeface="Meiryo" panose="020B0604030504040204" pitchFamily="50" charset="-128"/>
              </a:rPr>
              <a:t>ほか美術科</a:t>
            </a:r>
            <a:r>
              <a:rPr kumimoji="1" lang="en-US" altLang="ja-JP" sz="1000">
                <a:solidFill>
                  <a:srgbClr val="6B7280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000">
              <a:solidFill>
                <a:srgbClr val="6B7280"/>
              </a:solidFill>
              <a:latin typeface="Meiryo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81E8F400-6830-243C-7789-9B19B9897820}"/>
              </a:ext>
            </a:extLst>
          </p:cNvPr>
          <p:cNvSpPr/>
          <p:nvPr/>
        </p:nvSpPr>
        <p:spPr>
          <a:xfrm>
            <a:off x="8712200" y="1371600"/>
            <a:ext cx="2971800" cy="355600"/>
          </a:xfrm>
          <a:prstGeom prst="roundRect">
            <a:avLst/>
          </a:prstGeom>
          <a:solidFill>
            <a:srgbClr val="7B5E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3257C5-4716-787A-AF7D-F6F425CE7282}"/>
              </a:ext>
            </a:extLst>
          </p:cNvPr>
          <p:cNvSpPr txBox="1"/>
          <p:nvPr/>
        </p:nvSpPr>
        <p:spPr>
          <a:xfrm>
            <a:off x="8712200" y="1433155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000" b="1">
                <a:solidFill>
                  <a:srgbClr val="FFFFFF"/>
                </a:solidFill>
                <a:latin typeface="Meiryo" panose="020B0604030504040204" pitchFamily="50" charset="-128"/>
              </a:rPr>
              <a:t>自由な校風・伝統校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E2570D1F-9C90-29F5-03A0-943967D08B5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2200" y="1831975"/>
            <a:ext cx="2971800" cy="2228850"/>
          </a:xfrm>
          <a:prstGeom prst="rect">
            <a:avLst/>
          </a:prstGeom>
          <a:ln w="38100">
            <a:solidFill>
              <a:srgbClr val="FFFFFF"/>
            </a:solidFill>
          </a:ln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082E01C-C63C-C32D-FF09-39B9AEE116C1}"/>
              </a:ext>
            </a:extLst>
          </p:cNvPr>
          <p:cNvSpPr txBox="1"/>
          <p:nvPr/>
        </p:nvSpPr>
        <p:spPr>
          <a:xfrm>
            <a:off x="8712200" y="4089400"/>
            <a:ext cx="2971800" cy="16414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900">
                <a:solidFill>
                  <a:srgbClr val="6B7280"/>
                </a:solidFill>
                <a:latin typeface="Meiryo" panose="020B0604030504040204" pitchFamily="50" charset="-128"/>
              </a:rPr>
              <a:t>制服＝紺セーラー服（参考写真）出典：</a:t>
            </a:r>
            <a:r>
              <a:rPr kumimoji="1" lang="en-US" altLang="ja-JP" sz="900">
                <a:solidFill>
                  <a:srgbClr val="6B7280"/>
                </a:solidFill>
                <a:latin typeface="Meiryo" panose="020B0604030504040204" pitchFamily="50" charset="-128"/>
              </a:rPr>
              <a:t>A-</a:t>
            </a:r>
            <a:r>
              <a:rPr kumimoji="1" lang="ja-JP" altLang="en-US" sz="900">
                <a:solidFill>
                  <a:srgbClr val="6B7280"/>
                </a:solidFill>
                <a:latin typeface="Meiryo" panose="020B0604030504040204" pitchFamily="50" charset="-128"/>
              </a:rPr>
              <a:t>制服店</a:t>
            </a:r>
            <a:r>
              <a:rPr kumimoji="1" lang="en-US" altLang="ja-JP" sz="900">
                <a:solidFill>
                  <a:srgbClr val="6B7280"/>
                </a:solidFill>
                <a:latin typeface="Meiryo" panose="020B0604030504040204" pitchFamily="50" charset="-128"/>
              </a:rPr>
              <a:t>.com</a:t>
            </a:r>
            <a:endParaRPr kumimoji="1" lang="ja-JP" altLang="en-US" sz="900">
              <a:solidFill>
                <a:srgbClr val="6B7280"/>
              </a:solidFill>
              <a:latin typeface="Meiryo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3B99E67-E21C-B7BC-1B49-C0A7B852C456}"/>
              </a:ext>
            </a:extLst>
          </p:cNvPr>
          <p:cNvSpPr/>
          <p:nvPr/>
        </p:nvSpPr>
        <p:spPr>
          <a:xfrm>
            <a:off x="508000" y="1473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8C1DD-905C-58A4-8C54-DB7E76BB9D78}"/>
              </a:ext>
            </a:extLst>
          </p:cNvPr>
          <p:cNvSpPr txBox="1"/>
          <p:nvPr/>
        </p:nvSpPr>
        <p:spPr>
          <a:xfrm>
            <a:off x="660400" y="1511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7B5EA7"/>
                </a:solidFill>
                <a:latin typeface="Meiryo" panose="020B0604030504040204" pitchFamily="50" charset="-128"/>
              </a:rPr>
              <a:t>学科・コース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BDE1A81-ECBC-7B95-6AC0-457AE2A95C4C}"/>
              </a:ext>
            </a:extLst>
          </p:cNvPr>
          <p:cNvSpPr txBox="1"/>
          <p:nvPr/>
        </p:nvSpPr>
        <p:spPr>
          <a:xfrm>
            <a:off x="2286000" y="1519366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普通科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ほかに美術科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。制服は紺のセーラー服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5EEBB44C-F9A3-3F05-B03D-8A9FE6004FD8}"/>
              </a:ext>
            </a:extLst>
          </p:cNvPr>
          <p:cNvSpPr/>
          <p:nvPr/>
        </p:nvSpPr>
        <p:spPr>
          <a:xfrm>
            <a:off x="508000" y="2235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A91185D-90E6-4DDB-2E77-7062522A218A}"/>
              </a:ext>
            </a:extLst>
          </p:cNvPr>
          <p:cNvSpPr txBox="1"/>
          <p:nvPr/>
        </p:nvSpPr>
        <p:spPr>
          <a:xfrm>
            <a:off x="660400" y="2273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7B5EA7"/>
                </a:solidFill>
                <a:latin typeface="Meiryo" panose="020B0604030504040204" pitchFamily="50" charset="-128"/>
              </a:rPr>
              <a:t>進学・特色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4D6DDC9-4AEA-CC0F-DEB5-A2B1C157FF2B}"/>
              </a:ext>
            </a:extLst>
          </p:cNvPr>
          <p:cNvSpPr txBox="1"/>
          <p:nvPr/>
        </p:nvSpPr>
        <p:spPr>
          <a:xfrm>
            <a:off x="2286000" y="2281366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私立大学中心に幅広く進学。自主自律の伝統校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(1953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開校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5B82D9B-2A4F-0C7F-94A9-058414172795}"/>
              </a:ext>
            </a:extLst>
          </p:cNvPr>
          <p:cNvSpPr/>
          <p:nvPr/>
        </p:nvSpPr>
        <p:spPr>
          <a:xfrm>
            <a:off x="508000" y="2997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4B4E27F-5BB9-D60A-3167-F2B549FBF864}"/>
              </a:ext>
            </a:extLst>
          </p:cNvPr>
          <p:cNvSpPr txBox="1"/>
          <p:nvPr/>
        </p:nvSpPr>
        <p:spPr>
          <a:xfrm>
            <a:off x="660400" y="3035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7B5EA7"/>
                </a:solidFill>
                <a:latin typeface="Meiryo" panose="020B0604030504040204" pitchFamily="50" charset="-128"/>
              </a:rPr>
              <a:t>最寄り駅・自宅から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881C39D-65B0-1C66-8D47-0C0FC81022B6}"/>
              </a:ext>
            </a:extLst>
          </p:cNvPr>
          <p:cNvSpPr txBox="1"/>
          <p:nvPr/>
        </p:nvSpPr>
        <p:spPr>
          <a:xfrm>
            <a:off x="2286000" y="2951034"/>
            <a:ext cx="6146800" cy="3949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地下鉄東山線「中村公園」ほか。黒川→名城線→栄→東山線で約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30〜35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分／バス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城北小学校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』→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黒川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目安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】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C7418049-A86C-7C8E-DD00-E692F38926E1}"/>
              </a:ext>
            </a:extLst>
          </p:cNvPr>
          <p:cNvSpPr/>
          <p:nvPr/>
        </p:nvSpPr>
        <p:spPr>
          <a:xfrm>
            <a:off x="508000" y="3759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184E186-EE9D-F7A3-58F5-DF695B8A7448}"/>
              </a:ext>
            </a:extLst>
          </p:cNvPr>
          <p:cNvSpPr txBox="1"/>
          <p:nvPr/>
        </p:nvSpPr>
        <p:spPr>
          <a:xfrm>
            <a:off x="660400" y="3797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7B5EA7"/>
                </a:solidFill>
                <a:latin typeface="Meiryo" panose="020B0604030504040204" pitchFamily="50" charset="-128"/>
              </a:rPr>
              <a:t>通学・その他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294252EC-AF9C-72FD-6675-05191481F839}"/>
              </a:ext>
            </a:extLst>
          </p:cNvPr>
          <p:cNvSpPr txBox="1"/>
          <p:nvPr/>
        </p:nvSpPr>
        <p:spPr>
          <a:xfrm>
            <a:off x="2286000" y="3805366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公立で学費が抑えられる。お弁当＋購買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F1D74733-25A1-6254-E4AE-325CE9153114}"/>
              </a:ext>
            </a:extLst>
          </p:cNvPr>
          <p:cNvSpPr/>
          <p:nvPr/>
        </p:nvSpPr>
        <p:spPr>
          <a:xfrm>
            <a:off x="508000" y="4724400"/>
            <a:ext cx="11176000" cy="508000"/>
          </a:xfrm>
          <a:prstGeom prst="roundRect">
            <a:avLst/>
          </a:prstGeom>
          <a:solidFill>
            <a:srgbClr val="E9E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65B4B33-AFEA-1012-580C-67E581BDD953}"/>
              </a:ext>
            </a:extLst>
          </p:cNvPr>
          <p:cNvSpPr txBox="1"/>
          <p:nvPr/>
        </p:nvSpPr>
        <p:spPr>
          <a:xfrm>
            <a:off x="685800" y="4770567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▶ 次のページ②に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部活動・校風校則・口コミの良い点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/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気になる点・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年度の日程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】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を掲載しています。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7B3D3B22-2C63-71D0-0289-4FC5E1FE41CA}"/>
              </a:ext>
            </a:extLst>
          </p:cNvPr>
          <p:cNvSpPr/>
          <p:nvPr/>
        </p:nvSpPr>
        <p:spPr>
          <a:xfrm>
            <a:off x="508000" y="6172200"/>
            <a:ext cx="11176000" cy="4064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41A2AD7-7E31-3428-349F-ED8B3D42B965}"/>
              </a:ext>
            </a:extLst>
          </p:cNvPr>
          <p:cNvSpPr txBox="1"/>
          <p:nvPr/>
        </p:nvSpPr>
        <p:spPr>
          <a:xfrm>
            <a:off x="685800" y="6218366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1A56C4"/>
                </a:solidFill>
                <a:latin typeface="Meiryo" panose="020B0604030504040204" pitchFamily="50" charset="-128"/>
                <a:hlinkClick r:id="rId3"/>
              </a:rPr>
              <a:t>▶ 中村高校のくわしい情報（口コミ・偏差値・制服）はこちら（みんなの高校情報）</a:t>
            </a:r>
            <a:endParaRPr kumimoji="1" lang="ja-JP" altLang="en-US" sz="12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25877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900DB6D-E6D7-FD7C-4637-374B9136DD27}"/>
              </a:ext>
            </a:extLst>
          </p:cNvPr>
          <p:cNvSpPr/>
          <p:nvPr/>
        </p:nvSpPr>
        <p:spPr>
          <a:xfrm>
            <a:off x="508000" y="330200"/>
            <a:ext cx="11176000" cy="584200"/>
          </a:xfrm>
          <a:prstGeom prst="roundRect">
            <a:avLst/>
          </a:prstGeom>
          <a:solidFill>
            <a:srgbClr val="7B5E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59BBA1-9419-02F8-57EB-EF390A19CDBD}"/>
              </a:ext>
            </a:extLst>
          </p:cNvPr>
          <p:cNvSpPr txBox="1"/>
          <p:nvPr/>
        </p:nvSpPr>
        <p:spPr>
          <a:xfrm>
            <a:off x="736600" y="314811"/>
            <a:ext cx="10922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愛知県立 中村高校　②部活・校風・口コミ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F4420203-6A40-86F3-DE2A-43D6E54D6407}"/>
              </a:ext>
            </a:extLst>
          </p:cNvPr>
          <p:cNvSpPr/>
          <p:nvPr/>
        </p:nvSpPr>
        <p:spPr>
          <a:xfrm>
            <a:off x="508000" y="1066800"/>
            <a:ext cx="5461000" cy="1930400"/>
          </a:xfrm>
          <a:prstGeom prst="roundRect">
            <a:avLst/>
          </a:prstGeom>
          <a:solidFill>
            <a:srgbClr val="EA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E68197-D72F-0656-EEDA-675F1F7341F6}"/>
              </a:ext>
            </a:extLst>
          </p:cNvPr>
          <p:cNvSpPr txBox="1"/>
          <p:nvPr/>
        </p:nvSpPr>
        <p:spPr>
          <a:xfrm>
            <a:off x="711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2761"/>
                </a:solidFill>
                <a:latin typeface="Meiryo" panose="020B0604030504040204" pitchFamily="50" charset="-128"/>
              </a:rPr>
              <a:t>■ 部活動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88C99F8-0AB6-3AD1-603E-CC5DB6B4E7BD}"/>
              </a:ext>
            </a:extLst>
          </p:cNvPr>
          <p:cNvSpPr txBox="1"/>
          <p:nvPr/>
        </p:nvSpPr>
        <p:spPr>
          <a:xfrm>
            <a:off x="711200" y="14986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・運動部だけでなく文化部も充実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・陸上部・体操部が県大会出場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・吹奏楽部・芸術部・メディア創造部など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一風変わった部活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もあるのが特徴</a:t>
            </a: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F358F7C-7A04-97DF-995B-0B08A2BC8C1F}"/>
              </a:ext>
            </a:extLst>
          </p:cNvPr>
          <p:cNvSpPr/>
          <p:nvPr/>
        </p:nvSpPr>
        <p:spPr>
          <a:xfrm>
            <a:off x="6223000" y="1066800"/>
            <a:ext cx="5461000" cy="1930400"/>
          </a:xfrm>
          <a:prstGeom prst="roundRect">
            <a:avLst/>
          </a:prstGeom>
          <a:solidFill>
            <a:srgbClr val="F3EF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1E38807-55DD-9759-C85D-321DBFBDB211}"/>
              </a:ext>
            </a:extLst>
          </p:cNvPr>
          <p:cNvSpPr txBox="1"/>
          <p:nvPr/>
        </p:nvSpPr>
        <p:spPr>
          <a:xfrm>
            <a:off x="6426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6B46A8"/>
                </a:solidFill>
                <a:latin typeface="Meiryo" panose="020B0604030504040204" pitchFamily="50" charset="-128"/>
              </a:rPr>
              <a:t>■ 校風・校則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27E83B7-77C6-A9DD-DFDB-52E19B7F9776}"/>
              </a:ext>
            </a:extLst>
          </p:cNvPr>
          <p:cNvSpPr txBox="1"/>
          <p:nvPr/>
        </p:nvSpPr>
        <p:spPr>
          <a:xfrm>
            <a:off x="6426200" y="1498600"/>
            <a:ext cx="5130800" cy="55656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自由でのびのび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との評判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・ただしスカート丈・メイク・ピアスは注意指導あり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・髪飾りも注意される例／学年で厳しさに差との声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FDFB6B5-C1FC-A56D-81DF-8CD71406D166}"/>
              </a:ext>
            </a:extLst>
          </p:cNvPr>
          <p:cNvSpPr/>
          <p:nvPr/>
        </p:nvSpPr>
        <p:spPr>
          <a:xfrm>
            <a:off x="508000" y="3124200"/>
            <a:ext cx="5461000" cy="1905000"/>
          </a:xfrm>
          <a:prstGeom prst="roundRect">
            <a:avLst/>
          </a:prstGeom>
          <a:solidFill>
            <a:srgbClr val="E7F6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EE14E0A-8F27-B391-577F-02084779156F}"/>
              </a:ext>
            </a:extLst>
          </p:cNvPr>
          <p:cNvSpPr txBox="1"/>
          <p:nvPr/>
        </p:nvSpPr>
        <p:spPr>
          <a:xfrm>
            <a:off x="711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7A43"/>
                </a:solidFill>
                <a:latin typeface="Meiryo" panose="020B0604030504040204" pitchFamily="50" charset="-128"/>
              </a:rPr>
              <a:t>■ 口コミの良い点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F686BB6-B2FE-F938-6DAB-4868AA2EF703}"/>
              </a:ext>
            </a:extLst>
          </p:cNvPr>
          <p:cNvSpPr txBox="1"/>
          <p:nvPr/>
        </p:nvSpPr>
        <p:spPr>
          <a:xfrm>
            <a:off x="711200" y="35560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・自由でのびのびした校風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・部活に打ち込みやすい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文化部も充実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・伝統と落ち着き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・公立で学費が抑えられる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9162854-1EEE-0F91-5607-2517A6C7DF84}"/>
              </a:ext>
            </a:extLst>
          </p:cNvPr>
          <p:cNvSpPr/>
          <p:nvPr/>
        </p:nvSpPr>
        <p:spPr>
          <a:xfrm>
            <a:off x="6223000" y="3124200"/>
            <a:ext cx="5461000" cy="1905000"/>
          </a:xfrm>
          <a:prstGeom prst="roundRect">
            <a:avLst/>
          </a:prstGeom>
          <a:solidFill>
            <a:srgbClr val="FBEA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E31D9C3-CDA2-6787-0187-D3B18FD48D60}"/>
              </a:ext>
            </a:extLst>
          </p:cNvPr>
          <p:cNvSpPr txBox="1"/>
          <p:nvPr/>
        </p:nvSpPr>
        <p:spPr>
          <a:xfrm>
            <a:off x="6426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B23B3B"/>
                </a:solidFill>
                <a:latin typeface="Meiryo" panose="020B0604030504040204" pitchFamily="50" charset="-128"/>
              </a:rPr>
              <a:t>■ 気になる点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6E77B16-AE80-D315-9700-1AC23ABFB3A4}"/>
              </a:ext>
            </a:extLst>
          </p:cNvPr>
          <p:cNvSpPr txBox="1"/>
          <p:nvPr/>
        </p:nvSpPr>
        <p:spPr>
          <a:xfrm>
            <a:off x="6426200" y="3556000"/>
            <a:ext cx="5130800" cy="55656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・校舎・設備は年季あり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・自由ゆえ自己管理が必要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・学年で校則の運用差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DC576FF7-31F4-34C9-9ED8-A54A9C7A6D15}"/>
              </a:ext>
            </a:extLst>
          </p:cNvPr>
          <p:cNvSpPr/>
          <p:nvPr/>
        </p:nvSpPr>
        <p:spPr>
          <a:xfrm>
            <a:off x="508000" y="5156200"/>
            <a:ext cx="11176000" cy="889000"/>
          </a:xfrm>
          <a:prstGeom prst="roundRect">
            <a:avLst/>
          </a:prstGeom>
          <a:solidFill>
            <a:srgbClr val="FFF4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A884872-0396-1565-3E4D-36CDC7082F28}"/>
              </a:ext>
            </a:extLst>
          </p:cNvPr>
          <p:cNvSpPr txBox="1"/>
          <p:nvPr/>
        </p:nvSpPr>
        <p:spPr>
          <a:xfrm>
            <a:off x="685800" y="5207000"/>
            <a:ext cx="1117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■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年度（令和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8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年度）の日程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※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最新は公式で要確認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24E597C-EA5D-067B-2914-F0BE09AB8B6A}"/>
              </a:ext>
            </a:extLst>
          </p:cNvPr>
          <p:cNvSpPr txBox="1"/>
          <p:nvPr/>
        </p:nvSpPr>
        <p:spPr>
          <a:xfrm>
            <a:off x="685800" y="5486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説明会・見学：体験入学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普通科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) 8/8(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金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午前 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※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要確認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美術科 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7/22)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EF878B4-7E82-7AC1-AF03-A24D5C840452}"/>
              </a:ext>
            </a:extLst>
          </p:cNvPr>
          <p:cNvSpPr txBox="1"/>
          <p:nvPr/>
        </p:nvSpPr>
        <p:spPr>
          <a:xfrm>
            <a:off x="685800" y="5740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zh-CN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文化祭：学校祭</a:t>
            </a:r>
            <a:r>
              <a:rPr kumimoji="1" lang="en-US" altLang="zh-CN" sz="11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zh-CN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体育祭＋文化祭</a:t>
            </a:r>
            <a:r>
              <a:rPr kumimoji="1" lang="en-US" altLang="zh-CN" sz="11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zh-CN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＝例年</a:t>
            </a:r>
            <a:r>
              <a:rPr kumimoji="1" lang="en-US" altLang="zh-CN" sz="1100">
                <a:solidFill>
                  <a:srgbClr val="222B45"/>
                </a:solidFill>
                <a:latin typeface="Meiryo" panose="020B0604030504040204" pitchFamily="50" charset="-128"/>
              </a:rPr>
              <a:t>9</a:t>
            </a:r>
            <a:r>
              <a:rPr kumimoji="1" lang="zh-CN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月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44C51FD-F7DF-470E-76CF-6C7A2618EC57}"/>
              </a:ext>
            </a:extLst>
          </p:cNvPr>
          <p:cNvSpPr/>
          <p:nvPr/>
        </p:nvSpPr>
        <p:spPr>
          <a:xfrm>
            <a:off x="508000" y="6146800"/>
            <a:ext cx="11176000" cy="3810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98B8A36-9ABB-B381-87EC-62BAB2C25BE0}"/>
              </a:ext>
            </a:extLst>
          </p:cNvPr>
          <p:cNvSpPr txBox="1"/>
          <p:nvPr/>
        </p:nvSpPr>
        <p:spPr>
          <a:xfrm>
            <a:off x="685800" y="6200661"/>
            <a:ext cx="109982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100">
                <a:solidFill>
                  <a:srgbClr val="1A56C4"/>
                </a:solidFill>
                <a:latin typeface="Meiryo" panose="020B0604030504040204" pitchFamily="50" charset="-128"/>
                <a:hlinkClick r:id="rId2"/>
              </a:rPr>
              <a:t>▶ 中村高校のくわしい情報（口コミ・偏差値・制服）はこちら（みんなの高校情報）</a:t>
            </a:r>
            <a:endParaRPr kumimoji="1" lang="ja-JP" altLang="en-US" sz="11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19197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3B23C53-0F04-F03E-3285-EEE10D096915}"/>
              </a:ext>
            </a:extLst>
          </p:cNvPr>
          <p:cNvSpPr/>
          <p:nvPr/>
        </p:nvSpPr>
        <p:spPr>
          <a:xfrm>
            <a:off x="508000" y="330200"/>
            <a:ext cx="7924800" cy="635000"/>
          </a:xfrm>
          <a:prstGeom prst="round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81CB0EC-F926-D4EC-86D3-6965C0850EDE}"/>
              </a:ext>
            </a:extLst>
          </p:cNvPr>
          <p:cNvSpPr txBox="1"/>
          <p:nvPr/>
        </p:nvSpPr>
        <p:spPr>
          <a:xfrm>
            <a:off x="736600" y="314811"/>
            <a:ext cx="7620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zh-TW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愛知県立 春日井南高校　①基本</a:t>
            </a:r>
            <a:endParaRPr kumimoji="1" lang="ja-JP" altLang="en-US" sz="20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0619F5-0190-63F6-0C16-ACFB1D0A5840}"/>
              </a:ext>
            </a:extLst>
          </p:cNvPr>
          <p:cNvSpPr txBox="1"/>
          <p:nvPr/>
        </p:nvSpPr>
        <p:spPr>
          <a:xfrm>
            <a:off x="558800" y="1016000"/>
            <a:ext cx="79248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6B7280"/>
                </a:solidFill>
                <a:latin typeface="Meiryo" panose="020B0604030504040204" pitchFamily="50" charset="-128"/>
              </a:rPr>
              <a:t>春日井市／文武両道・青春できる学校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F6BE3BB6-B09D-8BD1-5AF7-90C67B31DA3A}"/>
              </a:ext>
            </a:extLst>
          </p:cNvPr>
          <p:cNvSpPr/>
          <p:nvPr/>
        </p:nvSpPr>
        <p:spPr>
          <a:xfrm>
            <a:off x="8712200" y="330200"/>
            <a:ext cx="2971800" cy="965200"/>
          </a:xfrm>
          <a:prstGeom prst="roundRect">
            <a:avLst/>
          </a:prstGeom>
          <a:solidFill>
            <a:srgbClr val="F2F5FC"/>
          </a:solidFill>
          <a:ln w="15875">
            <a:solidFill>
              <a:srgbClr val="2E8B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09ED8CA-9787-47FE-114A-0F67E330D16C}"/>
              </a:ext>
            </a:extLst>
          </p:cNvPr>
          <p:cNvSpPr txBox="1"/>
          <p:nvPr/>
        </p:nvSpPr>
        <p:spPr>
          <a:xfrm>
            <a:off x="8712200" y="406400"/>
            <a:ext cx="2971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200">
                <a:solidFill>
                  <a:srgbClr val="6B7280"/>
                </a:solidFill>
                <a:latin typeface="Meiryo" panose="020B0604030504040204" pitchFamily="50" charset="-128"/>
              </a:rPr>
              <a:t>偏差値（目安）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E2D70A4-6908-EB47-0DF4-A49FF2AA3D76}"/>
              </a:ext>
            </a:extLst>
          </p:cNvPr>
          <p:cNvSpPr txBox="1"/>
          <p:nvPr/>
        </p:nvSpPr>
        <p:spPr>
          <a:xfrm>
            <a:off x="8712200" y="584200"/>
            <a:ext cx="2971800" cy="42575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en-US" altLang="ja-JP" sz="2600" b="1">
                <a:solidFill>
                  <a:srgbClr val="2E8B57"/>
                </a:solidFill>
                <a:latin typeface="Meiryo" panose="020B0604030504040204" pitchFamily="50" charset="-128"/>
              </a:rPr>
              <a:t>54</a:t>
            </a:r>
            <a:endParaRPr kumimoji="1" lang="ja-JP" altLang="en-US" sz="2600" b="1">
              <a:solidFill>
                <a:srgbClr val="2E8B57"/>
              </a:solidFill>
              <a:latin typeface="Meiryo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DF37CB5-7BAD-0AAC-6541-0D97BC217FF0}"/>
              </a:ext>
            </a:extLst>
          </p:cNvPr>
          <p:cNvSpPr txBox="1"/>
          <p:nvPr/>
        </p:nvSpPr>
        <p:spPr>
          <a:xfrm>
            <a:off x="8712200" y="1066800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1000">
                <a:solidFill>
                  <a:srgbClr val="6B7280"/>
                </a:solidFill>
                <a:latin typeface="Meiryo" panose="020B0604030504040204" pitchFamily="50" charset="-128"/>
              </a:rPr>
              <a:t>普通科</a:t>
            </a:r>
            <a:r>
              <a:rPr kumimoji="1" lang="en-US" altLang="ja-JP" sz="1000">
                <a:solidFill>
                  <a:srgbClr val="6B7280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000">
                <a:solidFill>
                  <a:srgbClr val="6B7280"/>
                </a:solidFill>
                <a:latin typeface="Meiryo" panose="020B0604030504040204" pitchFamily="50" charset="-128"/>
              </a:rPr>
              <a:t>やや上</a:t>
            </a:r>
            <a:r>
              <a:rPr kumimoji="1" lang="en-US" altLang="ja-JP" sz="1000">
                <a:solidFill>
                  <a:srgbClr val="6B7280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000">
              <a:solidFill>
                <a:srgbClr val="6B7280"/>
              </a:solidFill>
              <a:latin typeface="Meiryo" panose="020B0604030504040204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881A6624-7334-E86D-DDBB-85FA0F9A2A66}"/>
              </a:ext>
            </a:extLst>
          </p:cNvPr>
          <p:cNvSpPr/>
          <p:nvPr/>
        </p:nvSpPr>
        <p:spPr>
          <a:xfrm>
            <a:off x="8712200" y="1371600"/>
            <a:ext cx="2971800" cy="355600"/>
          </a:xfrm>
          <a:prstGeom prst="round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B237EB5-2014-786F-6535-C2018CE512F3}"/>
              </a:ext>
            </a:extLst>
          </p:cNvPr>
          <p:cNvSpPr txBox="1"/>
          <p:nvPr/>
        </p:nvSpPr>
        <p:spPr>
          <a:xfrm>
            <a:off x="8712200" y="1433155"/>
            <a:ext cx="2971800" cy="179536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000" b="1">
                <a:solidFill>
                  <a:srgbClr val="FFFFFF"/>
                </a:solidFill>
                <a:latin typeface="Meiryo" panose="020B0604030504040204" pitchFamily="50" charset="-128"/>
              </a:rPr>
              <a:t>文武両道・行事が盛ん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8D00D849-B795-6556-9302-B7BFCBD96B3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826" y="1828800"/>
            <a:ext cx="2836548" cy="2235200"/>
          </a:xfrm>
          <a:prstGeom prst="rect">
            <a:avLst/>
          </a:prstGeom>
          <a:ln w="38100">
            <a:solidFill>
              <a:srgbClr val="FFFFFF"/>
            </a:solidFill>
          </a:ln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8FB662A-3F87-241C-7DE2-67FDDA3A1D52}"/>
              </a:ext>
            </a:extLst>
          </p:cNvPr>
          <p:cNvSpPr txBox="1"/>
          <p:nvPr/>
        </p:nvSpPr>
        <p:spPr>
          <a:xfrm>
            <a:off x="8712200" y="4089400"/>
            <a:ext cx="2971800" cy="164148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pPr algn="ctr"/>
            <a:r>
              <a:rPr kumimoji="1" lang="ja-JP" altLang="en-US" sz="900">
                <a:solidFill>
                  <a:srgbClr val="6B7280"/>
                </a:solidFill>
                <a:latin typeface="Meiryo" panose="020B0604030504040204" pitchFamily="50" charset="-128"/>
              </a:rPr>
              <a:t>制服（参考写真・エンジのタイ）出典：制服市場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9620909-3C37-3AD0-2F70-C23503EABD1C}"/>
              </a:ext>
            </a:extLst>
          </p:cNvPr>
          <p:cNvSpPr/>
          <p:nvPr/>
        </p:nvSpPr>
        <p:spPr>
          <a:xfrm>
            <a:off x="508000" y="1473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8D9DC32-C44E-3831-CC49-D31CE79DB3A0}"/>
              </a:ext>
            </a:extLst>
          </p:cNvPr>
          <p:cNvSpPr txBox="1"/>
          <p:nvPr/>
        </p:nvSpPr>
        <p:spPr>
          <a:xfrm>
            <a:off x="660400" y="1511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2E8B57"/>
                </a:solidFill>
                <a:latin typeface="Meiryo" panose="020B0604030504040204" pitchFamily="50" charset="-128"/>
              </a:rPr>
              <a:t>学科・コース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4E3EEF6-B588-08E8-58F9-4E5E126CA2F9}"/>
              </a:ext>
            </a:extLst>
          </p:cNvPr>
          <p:cNvSpPr txBox="1"/>
          <p:nvPr/>
        </p:nvSpPr>
        <p:spPr>
          <a:xfrm>
            <a:off x="2286000" y="1519366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普通科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C11A6891-61DC-4EB0-726A-39FC6D319B77}"/>
              </a:ext>
            </a:extLst>
          </p:cNvPr>
          <p:cNvSpPr/>
          <p:nvPr/>
        </p:nvSpPr>
        <p:spPr>
          <a:xfrm>
            <a:off x="508000" y="2235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8A9834C-2F85-BC05-A2F5-646080722116}"/>
              </a:ext>
            </a:extLst>
          </p:cNvPr>
          <p:cNvSpPr txBox="1"/>
          <p:nvPr/>
        </p:nvSpPr>
        <p:spPr>
          <a:xfrm>
            <a:off x="660400" y="2273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2E8B57"/>
                </a:solidFill>
                <a:latin typeface="Meiryo" panose="020B0604030504040204" pitchFamily="50" charset="-128"/>
              </a:rPr>
              <a:t>進学・特色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9CAC807-FABD-4FEC-CBA6-9585032243DA}"/>
              </a:ext>
            </a:extLst>
          </p:cNvPr>
          <p:cNvSpPr txBox="1"/>
          <p:nvPr/>
        </p:nvSpPr>
        <p:spPr>
          <a:xfrm>
            <a:off x="2286000" y="2281367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国公立に毎年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20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名前後。中部大・名城大・中京大ほか。校舎がきれいで自習室が夜まで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67C3CAED-76AA-A19F-5F19-C34DE5C7C49C}"/>
              </a:ext>
            </a:extLst>
          </p:cNvPr>
          <p:cNvSpPr/>
          <p:nvPr/>
        </p:nvSpPr>
        <p:spPr>
          <a:xfrm>
            <a:off x="508000" y="2997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18D88DE-715B-8D18-F99F-F1B7425E7B38}"/>
              </a:ext>
            </a:extLst>
          </p:cNvPr>
          <p:cNvSpPr txBox="1"/>
          <p:nvPr/>
        </p:nvSpPr>
        <p:spPr>
          <a:xfrm>
            <a:off x="660400" y="3035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2E8B57"/>
                </a:solidFill>
                <a:latin typeface="Meiryo" panose="020B0604030504040204" pitchFamily="50" charset="-128"/>
              </a:rPr>
              <a:t>最寄り駅・自宅から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2D8C059-33C5-BC23-E503-08581E304391}"/>
              </a:ext>
            </a:extLst>
          </p:cNvPr>
          <p:cNvSpPr txBox="1"/>
          <p:nvPr/>
        </p:nvSpPr>
        <p:spPr>
          <a:xfrm>
            <a:off x="2286000" y="2951033"/>
            <a:ext cx="6146800" cy="394980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JR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中央線「春日井」駅ほか。自宅から名鉄小牧線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上飯田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JR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で約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30〜40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分／バス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城北小学校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』→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上飯田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目安</a:t>
            </a:r>
            <a:r>
              <a:rPr kumimoji="1" lang="en-US" altLang="ja-JP" sz="1200">
                <a:solidFill>
                  <a:srgbClr val="222B45"/>
                </a:solidFill>
                <a:latin typeface="Meiryo" panose="020B0604030504040204" pitchFamily="50" charset="-128"/>
              </a:rPr>
              <a:t>】</a:t>
            </a:r>
            <a:endParaRPr kumimoji="1" lang="ja-JP" altLang="en-US" sz="12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189DE424-46F6-54DB-3015-16C9434CC7F2}"/>
              </a:ext>
            </a:extLst>
          </p:cNvPr>
          <p:cNvSpPr/>
          <p:nvPr/>
        </p:nvSpPr>
        <p:spPr>
          <a:xfrm>
            <a:off x="508000" y="3759200"/>
            <a:ext cx="7924800" cy="673100"/>
          </a:xfrm>
          <a:prstGeom prst="roundRect">
            <a:avLst/>
          </a:prstGeom>
          <a:solidFill>
            <a:srgbClr val="F7F9F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C9DF3BE-19A6-A980-676D-94216070499B}"/>
              </a:ext>
            </a:extLst>
          </p:cNvPr>
          <p:cNvSpPr txBox="1"/>
          <p:nvPr/>
        </p:nvSpPr>
        <p:spPr>
          <a:xfrm>
            <a:off x="660400" y="3797672"/>
            <a:ext cx="16256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300" b="1">
                <a:solidFill>
                  <a:srgbClr val="2E8B57"/>
                </a:solidFill>
                <a:latin typeface="Meiryo" panose="020B0604030504040204" pitchFamily="50" charset="-128"/>
              </a:rPr>
              <a:t>通学・その他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9B02D41-C2F6-1432-5522-9BBFCB346D17}"/>
              </a:ext>
            </a:extLst>
          </p:cNvPr>
          <p:cNvSpPr txBox="1"/>
          <p:nvPr/>
        </p:nvSpPr>
        <p:spPr>
          <a:xfrm>
            <a:off x="2286000" y="3805366"/>
            <a:ext cx="61468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222B45"/>
                </a:solidFill>
                <a:latin typeface="Meiryo" panose="020B0604030504040204" pitchFamily="50" charset="-128"/>
              </a:rPr>
              <a:t>公立で学費が抑えられる。市外だが通学圏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2E0BC7A-9D9D-6BA9-D6B2-25E86027A948}"/>
              </a:ext>
            </a:extLst>
          </p:cNvPr>
          <p:cNvSpPr/>
          <p:nvPr/>
        </p:nvSpPr>
        <p:spPr>
          <a:xfrm>
            <a:off x="508000" y="4724400"/>
            <a:ext cx="11176000" cy="508000"/>
          </a:xfrm>
          <a:prstGeom prst="roundRect">
            <a:avLst/>
          </a:prstGeom>
          <a:solidFill>
            <a:srgbClr val="E9EE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AC4A591-631A-43E8-BB98-7FA57CFE5E7E}"/>
              </a:ext>
            </a:extLst>
          </p:cNvPr>
          <p:cNvSpPr txBox="1"/>
          <p:nvPr/>
        </p:nvSpPr>
        <p:spPr>
          <a:xfrm>
            <a:off x="685800" y="4770567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▶ 次のページ②に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【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部活動・校風校則・口コミの良い点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/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気になる点・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年度の日程</a:t>
            </a:r>
            <a:r>
              <a:rPr kumimoji="1" lang="en-US" altLang="ja-JP" sz="1200" b="1">
                <a:solidFill>
                  <a:srgbClr val="1E2761"/>
                </a:solidFill>
                <a:latin typeface="Meiryo" panose="020B0604030504040204" pitchFamily="50" charset="-128"/>
              </a:rPr>
              <a:t>】</a:t>
            </a:r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を掲載しています。</a:t>
            </a: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4430216A-3D42-19FA-8BCE-50B9D6E4B04A}"/>
              </a:ext>
            </a:extLst>
          </p:cNvPr>
          <p:cNvSpPr/>
          <p:nvPr/>
        </p:nvSpPr>
        <p:spPr>
          <a:xfrm>
            <a:off x="508000" y="6172200"/>
            <a:ext cx="11176000" cy="4064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BB54F9E-E084-F1C3-863E-952E32380820}"/>
              </a:ext>
            </a:extLst>
          </p:cNvPr>
          <p:cNvSpPr txBox="1"/>
          <p:nvPr/>
        </p:nvSpPr>
        <p:spPr>
          <a:xfrm>
            <a:off x="685800" y="6218366"/>
            <a:ext cx="10998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>
                <a:solidFill>
                  <a:srgbClr val="1A56C4"/>
                </a:solidFill>
                <a:latin typeface="Meiryo" panose="020B0604030504040204" pitchFamily="50" charset="-128"/>
                <a:hlinkClick r:id="rId3"/>
              </a:rPr>
              <a:t>▶ 春日井南高校のくわしい情報（口コミ・偏差値・制服）はこちら（みんなの高校情報）</a:t>
            </a:r>
            <a:endParaRPr kumimoji="1" lang="ja-JP" altLang="en-US" sz="12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63800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8C53C0-31A8-3654-22ED-0F2467073979}"/>
              </a:ext>
            </a:extLst>
          </p:cNvPr>
          <p:cNvSpPr/>
          <p:nvPr/>
        </p:nvSpPr>
        <p:spPr>
          <a:xfrm>
            <a:off x="508000" y="330200"/>
            <a:ext cx="11176000" cy="584200"/>
          </a:xfrm>
          <a:prstGeom prst="round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36A56C0-EECC-FB92-0384-FC9B30FB8490}"/>
              </a:ext>
            </a:extLst>
          </p:cNvPr>
          <p:cNvSpPr txBox="1"/>
          <p:nvPr/>
        </p:nvSpPr>
        <p:spPr>
          <a:xfrm>
            <a:off x="736600" y="314811"/>
            <a:ext cx="10922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2000" b="1">
                <a:solidFill>
                  <a:srgbClr val="FFFFFF"/>
                </a:solidFill>
                <a:latin typeface="Meiryo" panose="020B0604030504040204" pitchFamily="50" charset="-128"/>
              </a:rPr>
              <a:t>愛知県立 春日井南高校　②部活・校風・口コミ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A5F78F35-FF4C-6A18-867B-A82081344345}"/>
              </a:ext>
            </a:extLst>
          </p:cNvPr>
          <p:cNvSpPr/>
          <p:nvPr/>
        </p:nvSpPr>
        <p:spPr>
          <a:xfrm>
            <a:off x="508000" y="1066800"/>
            <a:ext cx="5461000" cy="1930400"/>
          </a:xfrm>
          <a:prstGeom prst="roundRect">
            <a:avLst/>
          </a:prstGeom>
          <a:solidFill>
            <a:srgbClr val="EA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BE71759-4188-57E0-5050-D524A42FF117}"/>
              </a:ext>
            </a:extLst>
          </p:cNvPr>
          <p:cNvSpPr txBox="1"/>
          <p:nvPr/>
        </p:nvSpPr>
        <p:spPr>
          <a:xfrm>
            <a:off x="711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2761"/>
                </a:solidFill>
                <a:latin typeface="Meiryo" panose="020B0604030504040204" pitchFamily="50" charset="-128"/>
              </a:rPr>
              <a:t>■ 部活動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C9FD34C-8F4C-045D-71A9-935829AE3BCE}"/>
              </a:ext>
            </a:extLst>
          </p:cNvPr>
          <p:cNvSpPr txBox="1"/>
          <p:nvPr/>
        </p:nvSpPr>
        <p:spPr>
          <a:xfrm>
            <a:off x="711200" y="14986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・運動部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14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・文化部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10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と豊富で打ち込める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・ハンドボール部が全国大会の強豪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プロ選手も輩出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・和太鼓部が地域で演奏するなど人気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1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年生は原則全員入部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文武両道の方針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  <a:endParaRPr kumimoji="1" lang="ja-JP" altLang="en-US" sz="115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59A27AF-CC80-DE50-59B3-D42C3135644A}"/>
              </a:ext>
            </a:extLst>
          </p:cNvPr>
          <p:cNvSpPr/>
          <p:nvPr/>
        </p:nvSpPr>
        <p:spPr>
          <a:xfrm>
            <a:off x="6223000" y="1066800"/>
            <a:ext cx="5461000" cy="1930400"/>
          </a:xfrm>
          <a:prstGeom prst="roundRect">
            <a:avLst/>
          </a:prstGeom>
          <a:solidFill>
            <a:srgbClr val="F3EF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1CD884C-08B2-2723-4301-0605E49A4B88}"/>
              </a:ext>
            </a:extLst>
          </p:cNvPr>
          <p:cNvSpPr txBox="1"/>
          <p:nvPr/>
        </p:nvSpPr>
        <p:spPr>
          <a:xfrm>
            <a:off x="6426200" y="11684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6B46A8"/>
                </a:solidFill>
                <a:latin typeface="Meiryo" panose="020B0604030504040204" pitchFamily="50" charset="-128"/>
              </a:rPr>
              <a:t>■ 校風・校則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8C8F741-9BC9-1966-F874-7E2AE26FC71E}"/>
              </a:ext>
            </a:extLst>
          </p:cNvPr>
          <p:cNvSpPr txBox="1"/>
          <p:nvPr/>
        </p:nvSpPr>
        <p:spPr>
          <a:xfrm>
            <a:off x="6426200" y="14986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行事や部活に力／青春できる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校風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・春陵祭・体育祭・球技大会が盛り上がる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・スマホは昼放課中心に使用可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運用はゆるめ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・頭髪検査なし・服装も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やりすぎなければ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でゆるめ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AC5E742A-3626-EF0B-E1D5-D4C8EC52FF15}"/>
              </a:ext>
            </a:extLst>
          </p:cNvPr>
          <p:cNvSpPr/>
          <p:nvPr/>
        </p:nvSpPr>
        <p:spPr>
          <a:xfrm>
            <a:off x="508000" y="3124200"/>
            <a:ext cx="5461000" cy="1905000"/>
          </a:xfrm>
          <a:prstGeom prst="roundRect">
            <a:avLst/>
          </a:prstGeom>
          <a:solidFill>
            <a:srgbClr val="E7F6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A7CAD68-7D84-8E4C-BBCB-CDEA4AE809D8}"/>
              </a:ext>
            </a:extLst>
          </p:cNvPr>
          <p:cNvSpPr txBox="1"/>
          <p:nvPr/>
        </p:nvSpPr>
        <p:spPr>
          <a:xfrm>
            <a:off x="711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1E7A43"/>
                </a:solidFill>
                <a:latin typeface="Meiryo" panose="020B0604030504040204" pitchFamily="50" charset="-128"/>
              </a:rPr>
              <a:t>■ 口コミの良い点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D3F8B3BA-3A4D-2BC9-F286-1CBA29D4047B}"/>
              </a:ext>
            </a:extLst>
          </p:cNvPr>
          <p:cNvSpPr txBox="1"/>
          <p:nvPr/>
        </p:nvSpPr>
        <p:spPr>
          <a:xfrm>
            <a:off x="711200" y="3556000"/>
            <a:ext cx="5130800" cy="73353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・学習環境が良い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自習室・きれいな校舎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・評判が高い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県内上位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)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・部活・行事が活発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・校則がゆるめ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E07D02DA-F2B2-E3B9-9992-12079D6F2D25}"/>
              </a:ext>
            </a:extLst>
          </p:cNvPr>
          <p:cNvSpPr/>
          <p:nvPr/>
        </p:nvSpPr>
        <p:spPr>
          <a:xfrm>
            <a:off x="6223000" y="3124200"/>
            <a:ext cx="5461000" cy="1905000"/>
          </a:xfrm>
          <a:prstGeom prst="roundRect">
            <a:avLst/>
          </a:prstGeom>
          <a:solidFill>
            <a:srgbClr val="FBEA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C7C7536-0824-AB10-9154-77ACEA1DFDBF}"/>
              </a:ext>
            </a:extLst>
          </p:cNvPr>
          <p:cNvSpPr txBox="1"/>
          <p:nvPr/>
        </p:nvSpPr>
        <p:spPr>
          <a:xfrm>
            <a:off x="6426200" y="3225800"/>
            <a:ext cx="5080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 b="1">
                <a:solidFill>
                  <a:srgbClr val="B23B3B"/>
                </a:solidFill>
                <a:latin typeface="Meiryo" panose="020B0604030504040204" pitchFamily="50" charset="-128"/>
              </a:rPr>
              <a:t>■ 気になる点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5C61505-A7C6-ED8F-B7CD-78E29BB3FE65}"/>
              </a:ext>
            </a:extLst>
          </p:cNvPr>
          <p:cNvSpPr txBox="1"/>
          <p:nvPr/>
        </p:nvSpPr>
        <p:spPr>
          <a:xfrm>
            <a:off x="6426200" y="3556000"/>
            <a:ext cx="5130800" cy="55656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・市外で通学はやや遠い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・進学校で課題・勉強量は多め</a:t>
            </a:r>
          </a:p>
          <a:p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・</a:t>
            </a:r>
            <a:r>
              <a:rPr kumimoji="1" lang="en-US" altLang="ja-JP" sz="1150">
                <a:solidFill>
                  <a:srgbClr val="222B45"/>
                </a:solidFill>
                <a:latin typeface="Meiryo" panose="020B0604030504040204" pitchFamily="50" charset="-128"/>
              </a:rPr>
              <a:t>1</a:t>
            </a:r>
            <a:r>
              <a:rPr kumimoji="1" lang="ja-JP" altLang="en-US" sz="1150">
                <a:solidFill>
                  <a:srgbClr val="222B45"/>
                </a:solidFill>
                <a:latin typeface="Meiryo" panose="020B0604030504040204" pitchFamily="50" charset="-128"/>
              </a:rPr>
              <a:t>年は原則全員入部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B8E0436-4C38-CE80-633E-9421F010C33D}"/>
              </a:ext>
            </a:extLst>
          </p:cNvPr>
          <p:cNvSpPr/>
          <p:nvPr/>
        </p:nvSpPr>
        <p:spPr>
          <a:xfrm>
            <a:off x="508000" y="5156200"/>
            <a:ext cx="11176000" cy="889000"/>
          </a:xfrm>
          <a:prstGeom prst="roundRect">
            <a:avLst/>
          </a:prstGeom>
          <a:solidFill>
            <a:srgbClr val="FFF4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D70C502-2490-EB2D-1A37-D538A3099657}"/>
              </a:ext>
            </a:extLst>
          </p:cNvPr>
          <p:cNvSpPr txBox="1"/>
          <p:nvPr/>
        </p:nvSpPr>
        <p:spPr>
          <a:xfrm>
            <a:off x="685800" y="5207000"/>
            <a:ext cx="111760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■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年度（令和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8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年度）の日程 </a:t>
            </a:r>
            <a:r>
              <a:rPr kumimoji="1" lang="en-US" altLang="ja-JP" sz="1200" b="1">
                <a:solidFill>
                  <a:srgbClr val="B5651D"/>
                </a:solidFill>
                <a:latin typeface="Meiryo" panose="020B0604030504040204" pitchFamily="50" charset="-128"/>
              </a:rPr>
              <a:t>※</a:t>
            </a:r>
            <a:r>
              <a:rPr kumimoji="1" lang="ja-JP" altLang="en-US" sz="1200" b="1">
                <a:solidFill>
                  <a:srgbClr val="B5651D"/>
                </a:solidFill>
                <a:latin typeface="Meiryo" panose="020B0604030504040204" pitchFamily="50" charset="-128"/>
              </a:rPr>
              <a:t>最新は公式で要確認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EDC5A74-E8C8-6130-EC9A-F31C56BE2062}"/>
              </a:ext>
            </a:extLst>
          </p:cNvPr>
          <p:cNvSpPr txBox="1"/>
          <p:nvPr/>
        </p:nvSpPr>
        <p:spPr>
          <a:xfrm>
            <a:off x="685800" y="5486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説明会・見学：学校説明会 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8/18(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火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) 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春日井市民会館／学校見学会 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10/11(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日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)9:00-15:00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1444F86-073B-9BA5-B6C8-A46C5A5297A9}"/>
              </a:ext>
            </a:extLst>
          </p:cNvPr>
          <p:cNvSpPr txBox="1"/>
          <p:nvPr/>
        </p:nvSpPr>
        <p:spPr>
          <a:xfrm>
            <a:off x="685800" y="5740400"/>
            <a:ext cx="111760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文化祭：春陵祭＝例年秋・要確認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9FFB1CB-638E-D22A-83BF-E00693C2DF1B}"/>
              </a:ext>
            </a:extLst>
          </p:cNvPr>
          <p:cNvSpPr/>
          <p:nvPr/>
        </p:nvSpPr>
        <p:spPr>
          <a:xfrm>
            <a:off x="508000" y="6146800"/>
            <a:ext cx="11176000" cy="381000"/>
          </a:xfrm>
          <a:prstGeom prst="roundRect">
            <a:avLst/>
          </a:prstGeom>
          <a:solidFill>
            <a:srgbClr val="EEF2F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58EEF37-1F1E-E822-0979-CE4440E52015}"/>
              </a:ext>
            </a:extLst>
          </p:cNvPr>
          <p:cNvSpPr txBox="1"/>
          <p:nvPr/>
        </p:nvSpPr>
        <p:spPr>
          <a:xfrm>
            <a:off x="685800" y="6200661"/>
            <a:ext cx="109982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100">
                <a:solidFill>
                  <a:srgbClr val="1A56C4"/>
                </a:solidFill>
                <a:latin typeface="Meiryo" panose="020B0604030504040204" pitchFamily="50" charset="-128"/>
                <a:hlinkClick r:id="rId2"/>
              </a:rPr>
              <a:t>▶ 春日井南高校のくわしい情報（口コミ・偏差値・制服）はこちら（みんなの高校情報）</a:t>
            </a:r>
            <a:endParaRPr kumimoji="1" lang="ja-JP" altLang="en-US" sz="1100">
              <a:solidFill>
                <a:srgbClr val="1A56C4"/>
              </a:solidFill>
              <a:latin typeface="Meiryo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27721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38B0E0-802B-5DE1-CDD5-332E0A0909C4}"/>
              </a:ext>
            </a:extLst>
          </p:cNvPr>
          <p:cNvSpPr txBox="1"/>
          <p:nvPr/>
        </p:nvSpPr>
        <p:spPr>
          <a:xfrm>
            <a:off x="508000" y="355600"/>
            <a:ext cx="11176000" cy="45653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2800" b="1">
                <a:solidFill>
                  <a:srgbClr val="1E2761"/>
                </a:solidFill>
                <a:latin typeface="Meiryo" panose="020B0604030504040204" pitchFamily="50" charset="-128"/>
              </a:rPr>
              <a:t>くらべると（早見表）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6ED4CF-F143-9630-9343-BA22E6B77999}"/>
              </a:ext>
            </a:extLst>
          </p:cNvPr>
          <p:cNvSpPr/>
          <p:nvPr/>
        </p:nvSpPr>
        <p:spPr>
          <a:xfrm>
            <a:off x="508000" y="1092200"/>
            <a:ext cx="1905000" cy="508000"/>
          </a:xfrm>
          <a:prstGeom prst="rect">
            <a:avLst/>
          </a:prstGeom>
          <a:solidFill>
            <a:srgbClr val="1E27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4CCE7A6-1C74-08EE-C4BE-F9BD12460E6B}"/>
              </a:ext>
            </a:extLst>
          </p:cNvPr>
          <p:cNvSpPr txBox="1"/>
          <p:nvPr/>
        </p:nvSpPr>
        <p:spPr>
          <a:xfrm>
            <a:off x="508000" y="1130672"/>
            <a:ext cx="19050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" panose="020B0604030504040204" pitchFamily="50" charset="-128"/>
              </a:rPr>
              <a:t>項目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F2719E-E086-E6FE-D0C3-428842198955}"/>
              </a:ext>
            </a:extLst>
          </p:cNvPr>
          <p:cNvSpPr/>
          <p:nvPr/>
        </p:nvSpPr>
        <p:spPr>
          <a:xfrm>
            <a:off x="2413000" y="1092200"/>
            <a:ext cx="2235200" cy="508000"/>
          </a:xfrm>
          <a:prstGeom prst="rect">
            <a:avLst/>
          </a:prstGeom>
          <a:solidFill>
            <a:srgbClr val="0E8C8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310A82-AED1-B8E6-337D-3CB6854B7A93}"/>
              </a:ext>
            </a:extLst>
          </p:cNvPr>
          <p:cNvSpPr txBox="1"/>
          <p:nvPr/>
        </p:nvSpPr>
        <p:spPr>
          <a:xfrm>
            <a:off x="2413000" y="1130672"/>
            <a:ext cx="22352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" panose="020B0604030504040204" pitchFamily="50" charset="-128"/>
              </a:rPr>
              <a:t>名古屋西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1116438-E499-EE05-EB4B-49898CB87304}"/>
              </a:ext>
            </a:extLst>
          </p:cNvPr>
          <p:cNvSpPr/>
          <p:nvPr/>
        </p:nvSpPr>
        <p:spPr>
          <a:xfrm>
            <a:off x="4648200" y="1092200"/>
            <a:ext cx="2235200" cy="508000"/>
          </a:xfrm>
          <a:prstGeom prst="rect">
            <a:avLst/>
          </a:prstGeom>
          <a:solidFill>
            <a:srgbClr val="E8633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338FE6A-467E-BA5B-0094-BE5595CA358D}"/>
              </a:ext>
            </a:extLst>
          </p:cNvPr>
          <p:cNvSpPr txBox="1"/>
          <p:nvPr/>
        </p:nvSpPr>
        <p:spPr>
          <a:xfrm>
            <a:off x="4648200" y="1130672"/>
            <a:ext cx="22352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" panose="020B0604030504040204" pitchFamily="50" charset="-128"/>
              </a:rPr>
              <a:t>山田高校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69DDDE-A9DA-87A3-DAF3-8FCB843E98B9}"/>
              </a:ext>
            </a:extLst>
          </p:cNvPr>
          <p:cNvSpPr/>
          <p:nvPr/>
        </p:nvSpPr>
        <p:spPr>
          <a:xfrm>
            <a:off x="6883400" y="1092200"/>
            <a:ext cx="2235200" cy="508000"/>
          </a:xfrm>
          <a:prstGeom prst="rect">
            <a:avLst/>
          </a:prstGeom>
          <a:solidFill>
            <a:srgbClr val="7B5E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C5C8E50-BAC9-639B-0890-EC9BF9E3EEE1}"/>
              </a:ext>
            </a:extLst>
          </p:cNvPr>
          <p:cNvSpPr txBox="1"/>
          <p:nvPr/>
        </p:nvSpPr>
        <p:spPr>
          <a:xfrm>
            <a:off x="6883400" y="1130672"/>
            <a:ext cx="22352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" panose="020B0604030504040204" pitchFamily="50" charset="-128"/>
              </a:rPr>
              <a:t>中村高校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96A3FF8-5251-B646-9334-CDB5FBEC135A}"/>
              </a:ext>
            </a:extLst>
          </p:cNvPr>
          <p:cNvSpPr/>
          <p:nvPr/>
        </p:nvSpPr>
        <p:spPr>
          <a:xfrm>
            <a:off x="9118600" y="1092200"/>
            <a:ext cx="2235200" cy="508000"/>
          </a:xfrm>
          <a:prstGeom prst="rect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945D315D-CE7E-EEBD-285D-E19A9A7CC597}"/>
              </a:ext>
            </a:extLst>
          </p:cNvPr>
          <p:cNvSpPr txBox="1"/>
          <p:nvPr/>
        </p:nvSpPr>
        <p:spPr>
          <a:xfrm>
            <a:off x="9118600" y="1130672"/>
            <a:ext cx="22352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300" b="1">
                <a:solidFill>
                  <a:srgbClr val="FFFFFF"/>
                </a:solidFill>
                <a:latin typeface="Meiryo" panose="020B0604030504040204" pitchFamily="50" charset="-128"/>
              </a:rPr>
              <a:t>春日井南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64CC4FB-2D10-B846-27F3-1C5612BD130F}"/>
              </a:ext>
            </a:extLst>
          </p:cNvPr>
          <p:cNvSpPr/>
          <p:nvPr/>
        </p:nvSpPr>
        <p:spPr>
          <a:xfrm>
            <a:off x="508000" y="1600200"/>
            <a:ext cx="1905000" cy="762000"/>
          </a:xfrm>
          <a:prstGeom prst="rect">
            <a:avLst/>
          </a:prstGeom>
          <a:solidFill>
            <a:srgbClr val="E4E9F5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B4B7502-A9AD-4F4C-84D9-1B4ADA1A70B5}"/>
              </a:ext>
            </a:extLst>
          </p:cNvPr>
          <p:cNvSpPr txBox="1"/>
          <p:nvPr/>
        </p:nvSpPr>
        <p:spPr>
          <a:xfrm>
            <a:off x="609600" y="1646366"/>
            <a:ext cx="1727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偏差値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4B5F8BD-D5D6-C211-DD3F-EF24BA222399}"/>
              </a:ext>
            </a:extLst>
          </p:cNvPr>
          <p:cNvSpPr/>
          <p:nvPr/>
        </p:nvSpPr>
        <p:spPr>
          <a:xfrm>
            <a:off x="2413000" y="1600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1F28E5A-DCA4-B261-3B42-ED52C6449BB2}"/>
              </a:ext>
            </a:extLst>
          </p:cNvPr>
          <p:cNvSpPr txBox="1"/>
          <p:nvPr/>
        </p:nvSpPr>
        <p:spPr>
          <a:xfrm>
            <a:off x="2413000" y="1630977"/>
            <a:ext cx="22352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400" b="1">
                <a:solidFill>
                  <a:srgbClr val="0E8C8B"/>
                </a:solidFill>
                <a:latin typeface="Meiryo" panose="020B0604030504040204" pitchFamily="50" charset="-128"/>
              </a:rPr>
              <a:t>60</a:t>
            </a:r>
            <a:endParaRPr kumimoji="1" lang="ja-JP" altLang="en-US" sz="1400" b="1">
              <a:solidFill>
                <a:srgbClr val="0E8C8B"/>
              </a:solidFill>
              <a:latin typeface="Meiryo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0406D15-2A1C-97A0-EAFE-08F379A5F3E6}"/>
              </a:ext>
            </a:extLst>
          </p:cNvPr>
          <p:cNvSpPr/>
          <p:nvPr/>
        </p:nvSpPr>
        <p:spPr>
          <a:xfrm>
            <a:off x="4648200" y="1600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D659C87-0B12-1CCA-B6D7-FB8DD3118512}"/>
              </a:ext>
            </a:extLst>
          </p:cNvPr>
          <p:cNvSpPr txBox="1"/>
          <p:nvPr/>
        </p:nvSpPr>
        <p:spPr>
          <a:xfrm>
            <a:off x="4648200" y="1630977"/>
            <a:ext cx="22352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400" b="1">
                <a:solidFill>
                  <a:srgbClr val="E8633F"/>
                </a:solidFill>
                <a:latin typeface="Meiryo" panose="020B0604030504040204" pitchFamily="50" charset="-128"/>
              </a:rPr>
              <a:t>49</a:t>
            </a:r>
            <a:endParaRPr kumimoji="1" lang="ja-JP" altLang="en-US" sz="1400" b="1">
              <a:solidFill>
                <a:srgbClr val="E8633F"/>
              </a:solidFill>
              <a:latin typeface="Meiryo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EAF10B4-6C09-F135-70CF-285FF6301D6A}"/>
              </a:ext>
            </a:extLst>
          </p:cNvPr>
          <p:cNvSpPr/>
          <p:nvPr/>
        </p:nvSpPr>
        <p:spPr>
          <a:xfrm>
            <a:off x="6883400" y="1600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A989F24-8837-CCF8-181E-8866F6046429}"/>
              </a:ext>
            </a:extLst>
          </p:cNvPr>
          <p:cNvSpPr txBox="1"/>
          <p:nvPr/>
        </p:nvSpPr>
        <p:spPr>
          <a:xfrm>
            <a:off x="6883400" y="1630977"/>
            <a:ext cx="22352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400" b="1">
                <a:solidFill>
                  <a:srgbClr val="7B5EA7"/>
                </a:solidFill>
                <a:latin typeface="Meiryo" panose="020B0604030504040204" pitchFamily="50" charset="-128"/>
              </a:rPr>
              <a:t>50</a:t>
            </a:r>
            <a:endParaRPr kumimoji="1" lang="ja-JP" altLang="en-US" sz="1400" b="1">
              <a:solidFill>
                <a:srgbClr val="7B5EA7"/>
              </a:solidFill>
              <a:latin typeface="Meiryo" panose="020B0604030504040204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9A147987-67F5-B575-1AC3-41A739B9C590}"/>
              </a:ext>
            </a:extLst>
          </p:cNvPr>
          <p:cNvSpPr/>
          <p:nvPr/>
        </p:nvSpPr>
        <p:spPr>
          <a:xfrm>
            <a:off x="9118600" y="1600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4565E69-0540-6BDC-5C60-DB62F6AA35A8}"/>
              </a:ext>
            </a:extLst>
          </p:cNvPr>
          <p:cNvSpPr txBox="1"/>
          <p:nvPr/>
        </p:nvSpPr>
        <p:spPr>
          <a:xfrm>
            <a:off x="9118600" y="1630977"/>
            <a:ext cx="22352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400" b="1">
                <a:solidFill>
                  <a:srgbClr val="2E8B57"/>
                </a:solidFill>
                <a:latin typeface="Meiryo" panose="020B0604030504040204" pitchFamily="50" charset="-128"/>
              </a:rPr>
              <a:t>54</a:t>
            </a:r>
            <a:endParaRPr kumimoji="1" lang="ja-JP" altLang="en-US" sz="1400" b="1">
              <a:solidFill>
                <a:srgbClr val="2E8B57"/>
              </a:solidFill>
              <a:latin typeface="Meiryo" panose="020B0604030504040204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FC0B81C-AF6E-1BEE-F6BC-B21E1DAC64BD}"/>
              </a:ext>
            </a:extLst>
          </p:cNvPr>
          <p:cNvSpPr/>
          <p:nvPr/>
        </p:nvSpPr>
        <p:spPr>
          <a:xfrm>
            <a:off x="508000" y="2362200"/>
            <a:ext cx="1905000" cy="762000"/>
          </a:xfrm>
          <a:prstGeom prst="rect">
            <a:avLst/>
          </a:prstGeom>
          <a:solidFill>
            <a:srgbClr val="E4E9F5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A8D7E34-B387-5E10-FF87-01F5939891FA}"/>
              </a:ext>
            </a:extLst>
          </p:cNvPr>
          <p:cNvSpPr txBox="1"/>
          <p:nvPr/>
        </p:nvSpPr>
        <p:spPr>
          <a:xfrm>
            <a:off x="609600" y="2408366"/>
            <a:ext cx="1727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部活・実績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0CD9C06-3DEA-0057-7E3A-23993C970256}"/>
              </a:ext>
            </a:extLst>
          </p:cNvPr>
          <p:cNvSpPr/>
          <p:nvPr/>
        </p:nvSpPr>
        <p:spPr>
          <a:xfrm>
            <a:off x="2413000" y="2362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F392143-47F5-CDFD-D19E-FBB51A223C13}"/>
              </a:ext>
            </a:extLst>
          </p:cNvPr>
          <p:cNvSpPr txBox="1"/>
          <p:nvPr/>
        </p:nvSpPr>
        <p:spPr>
          <a:xfrm>
            <a:off x="2463800" y="2416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陸上 国体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4</a:t>
            </a:r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位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8A67B51-CD3E-A4A0-BEAB-88AD6390699D}"/>
              </a:ext>
            </a:extLst>
          </p:cNvPr>
          <p:cNvSpPr/>
          <p:nvPr/>
        </p:nvSpPr>
        <p:spPr>
          <a:xfrm>
            <a:off x="4648200" y="2362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27FEA55-D043-667C-EF19-C5D76D686F2F}"/>
              </a:ext>
            </a:extLst>
          </p:cNvPr>
          <p:cNvSpPr txBox="1"/>
          <p:nvPr/>
        </p:nvSpPr>
        <p:spPr>
          <a:xfrm>
            <a:off x="4699000" y="2416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ダンス 全国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589F39AA-201C-2872-92AA-4697EC5907FC}"/>
              </a:ext>
            </a:extLst>
          </p:cNvPr>
          <p:cNvSpPr/>
          <p:nvPr/>
        </p:nvSpPr>
        <p:spPr>
          <a:xfrm>
            <a:off x="6883400" y="2362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D0D215E-34D6-4FA1-E7C2-B34301D5902D}"/>
              </a:ext>
            </a:extLst>
          </p:cNvPr>
          <p:cNvSpPr txBox="1"/>
          <p:nvPr/>
        </p:nvSpPr>
        <p:spPr>
          <a:xfrm>
            <a:off x="6934200" y="2416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文化も充実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0DD3211-7361-86D5-D558-FD709B5FA0C4}"/>
              </a:ext>
            </a:extLst>
          </p:cNvPr>
          <p:cNvSpPr/>
          <p:nvPr/>
        </p:nvSpPr>
        <p:spPr>
          <a:xfrm>
            <a:off x="9118600" y="2362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858E6BF-129C-DFC2-0ED7-72B35397D7FC}"/>
              </a:ext>
            </a:extLst>
          </p:cNvPr>
          <p:cNvSpPr txBox="1"/>
          <p:nvPr/>
        </p:nvSpPr>
        <p:spPr>
          <a:xfrm>
            <a:off x="9169400" y="2416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ハンド 全国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71B80619-1F0A-C7D6-F6C2-039C20969F81}"/>
              </a:ext>
            </a:extLst>
          </p:cNvPr>
          <p:cNvSpPr/>
          <p:nvPr/>
        </p:nvSpPr>
        <p:spPr>
          <a:xfrm>
            <a:off x="508000" y="3124200"/>
            <a:ext cx="1905000" cy="762000"/>
          </a:xfrm>
          <a:prstGeom prst="rect">
            <a:avLst/>
          </a:prstGeom>
          <a:solidFill>
            <a:srgbClr val="E4E9F5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AD357F8-F5B6-8EA3-F6C1-B54AED298F7A}"/>
              </a:ext>
            </a:extLst>
          </p:cNvPr>
          <p:cNvSpPr txBox="1"/>
          <p:nvPr/>
        </p:nvSpPr>
        <p:spPr>
          <a:xfrm>
            <a:off x="609600" y="3170366"/>
            <a:ext cx="1727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評判</a:t>
            </a: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759F6A5A-3794-9256-AE3C-21E23DCD5303}"/>
              </a:ext>
            </a:extLst>
          </p:cNvPr>
          <p:cNvSpPr/>
          <p:nvPr/>
        </p:nvSpPr>
        <p:spPr>
          <a:xfrm>
            <a:off x="2413000" y="3124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F865FA3-7CC7-FC93-E879-FF69CA8679A7}"/>
              </a:ext>
            </a:extLst>
          </p:cNvPr>
          <p:cNvSpPr txBox="1"/>
          <p:nvPr/>
        </p:nvSpPr>
        <p:spPr>
          <a:xfrm>
            <a:off x="2463800" y="3178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★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3.7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C5E34DE9-EC63-7999-B2DF-C5BB449F4A9A}"/>
              </a:ext>
            </a:extLst>
          </p:cNvPr>
          <p:cNvSpPr/>
          <p:nvPr/>
        </p:nvSpPr>
        <p:spPr>
          <a:xfrm>
            <a:off x="4648200" y="3124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3EEDA49-1F91-5237-0A55-FAEE334DA5EA}"/>
              </a:ext>
            </a:extLst>
          </p:cNvPr>
          <p:cNvSpPr txBox="1"/>
          <p:nvPr/>
        </p:nvSpPr>
        <p:spPr>
          <a:xfrm>
            <a:off x="4699000" y="3178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★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3.5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A7F25D8E-317E-B8B4-8E4D-ABB9F3C0D791}"/>
              </a:ext>
            </a:extLst>
          </p:cNvPr>
          <p:cNvSpPr/>
          <p:nvPr/>
        </p:nvSpPr>
        <p:spPr>
          <a:xfrm>
            <a:off x="6883400" y="3124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14334727-6CA9-44C4-56CB-0BF225ECA00E}"/>
              </a:ext>
            </a:extLst>
          </p:cNvPr>
          <p:cNvSpPr txBox="1"/>
          <p:nvPr/>
        </p:nvSpPr>
        <p:spPr>
          <a:xfrm>
            <a:off x="6934200" y="3178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--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7DA2C1FE-E09B-7AB2-BB00-081DDE138DEC}"/>
              </a:ext>
            </a:extLst>
          </p:cNvPr>
          <p:cNvSpPr/>
          <p:nvPr/>
        </p:nvSpPr>
        <p:spPr>
          <a:xfrm>
            <a:off x="9118600" y="3124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3146227F-6351-39F2-F54A-1473630231FE}"/>
              </a:ext>
            </a:extLst>
          </p:cNvPr>
          <p:cNvSpPr txBox="1"/>
          <p:nvPr/>
        </p:nvSpPr>
        <p:spPr>
          <a:xfrm>
            <a:off x="9169400" y="3178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★</a:t>
            </a:r>
            <a:r>
              <a:rPr kumimoji="1" lang="en-US" altLang="ja-JP" sz="1100">
                <a:solidFill>
                  <a:srgbClr val="222B45"/>
                </a:solidFill>
                <a:latin typeface="Meiryo" panose="020B0604030504040204" pitchFamily="50" charset="-128"/>
              </a:rPr>
              <a:t>3.9</a:t>
            </a:r>
            <a:endParaRPr kumimoji="1" lang="ja-JP" altLang="en-US" sz="1100">
              <a:solidFill>
                <a:srgbClr val="222B45"/>
              </a:solidFill>
              <a:latin typeface="Meiryo" panose="020B0604030504040204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226DA444-35E9-26AD-F571-DA0BD285FD9C}"/>
              </a:ext>
            </a:extLst>
          </p:cNvPr>
          <p:cNvSpPr/>
          <p:nvPr/>
        </p:nvSpPr>
        <p:spPr>
          <a:xfrm>
            <a:off x="508000" y="3886200"/>
            <a:ext cx="1905000" cy="762000"/>
          </a:xfrm>
          <a:prstGeom prst="rect">
            <a:avLst/>
          </a:prstGeom>
          <a:solidFill>
            <a:srgbClr val="E4E9F5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CCD02C98-6D47-EE84-724E-DA1676B8EE5E}"/>
              </a:ext>
            </a:extLst>
          </p:cNvPr>
          <p:cNvSpPr txBox="1"/>
          <p:nvPr/>
        </p:nvSpPr>
        <p:spPr>
          <a:xfrm>
            <a:off x="609600" y="3932366"/>
            <a:ext cx="1727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通学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FB449E83-CC16-4E40-32B7-7AE220FD6177}"/>
              </a:ext>
            </a:extLst>
          </p:cNvPr>
          <p:cNvSpPr/>
          <p:nvPr/>
        </p:nvSpPr>
        <p:spPr>
          <a:xfrm>
            <a:off x="2413000" y="3886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8929438-2A80-A6D6-E053-3E45A76927CF}"/>
              </a:ext>
            </a:extLst>
          </p:cNvPr>
          <p:cNvSpPr txBox="1"/>
          <p:nvPr/>
        </p:nvSpPr>
        <p:spPr>
          <a:xfrm>
            <a:off x="2463800" y="3940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〇浄心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B1E307E-D1B6-C9B9-11D0-077FB9345436}"/>
              </a:ext>
            </a:extLst>
          </p:cNvPr>
          <p:cNvSpPr/>
          <p:nvPr/>
        </p:nvSpPr>
        <p:spPr>
          <a:xfrm>
            <a:off x="4648200" y="3886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AF4E283-D6F1-9101-4F6B-D4CEA5B84745}"/>
              </a:ext>
            </a:extLst>
          </p:cNvPr>
          <p:cNvSpPr txBox="1"/>
          <p:nvPr/>
        </p:nvSpPr>
        <p:spPr>
          <a:xfrm>
            <a:off x="4699000" y="3940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〇上小田井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F1ACFA3A-487A-D583-D4F7-1DA5E8C7B44B}"/>
              </a:ext>
            </a:extLst>
          </p:cNvPr>
          <p:cNvSpPr/>
          <p:nvPr/>
        </p:nvSpPr>
        <p:spPr>
          <a:xfrm>
            <a:off x="6883400" y="3886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CF397CA-459B-E201-10BE-01A783D6F5A3}"/>
              </a:ext>
            </a:extLst>
          </p:cNvPr>
          <p:cNvSpPr txBox="1"/>
          <p:nvPr/>
        </p:nvSpPr>
        <p:spPr>
          <a:xfrm>
            <a:off x="6934200" y="3940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〇中村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B52F18CA-0043-EC00-70D6-A02FAE3B40C2}"/>
              </a:ext>
            </a:extLst>
          </p:cNvPr>
          <p:cNvSpPr/>
          <p:nvPr/>
        </p:nvSpPr>
        <p:spPr>
          <a:xfrm>
            <a:off x="9118600" y="3886200"/>
            <a:ext cx="2235200" cy="762000"/>
          </a:xfrm>
          <a:prstGeom prst="rect">
            <a:avLst/>
          </a:prstGeom>
          <a:solidFill>
            <a:srgbClr val="EEF2FB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B77CD76-9E45-96C6-A41D-56CA9C42EEC5}"/>
              </a:ext>
            </a:extLst>
          </p:cNvPr>
          <p:cNvSpPr txBox="1"/>
          <p:nvPr/>
        </p:nvSpPr>
        <p:spPr>
          <a:xfrm>
            <a:off x="9169400" y="3940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△市外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48647291-20DB-EF21-3358-64807A23A540}"/>
              </a:ext>
            </a:extLst>
          </p:cNvPr>
          <p:cNvSpPr/>
          <p:nvPr/>
        </p:nvSpPr>
        <p:spPr>
          <a:xfrm>
            <a:off x="508000" y="4648200"/>
            <a:ext cx="1905000" cy="762000"/>
          </a:xfrm>
          <a:prstGeom prst="rect">
            <a:avLst/>
          </a:prstGeom>
          <a:solidFill>
            <a:srgbClr val="E4E9F5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D7CE028E-28A9-3C10-BE14-B428C897E35D}"/>
              </a:ext>
            </a:extLst>
          </p:cNvPr>
          <p:cNvSpPr txBox="1"/>
          <p:nvPr/>
        </p:nvSpPr>
        <p:spPr>
          <a:xfrm>
            <a:off x="609600" y="4694366"/>
            <a:ext cx="1727200" cy="210314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r>
              <a:rPr kumimoji="1" lang="ja-JP" altLang="en-US" sz="1200" b="1">
                <a:solidFill>
                  <a:srgbClr val="1E2761"/>
                </a:solidFill>
                <a:latin typeface="Meiryo" panose="020B0604030504040204" pitchFamily="50" charset="-128"/>
              </a:rPr>
              <a:t>特色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2DD1EFBB-5DD4-D676-1DE9-2172930A1AD3}"/>
              </a:ext>
            </a:extLst>
          </p:cNvPr>
          <p:cNvSpPr/>
          <p:nvPr/>
        </p:nvSpPr>
        <p:spPr>
          <a:xfrm>
            <a:off x="2413000" y="4648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7138B2FA-20EB-9A12-8F60-DAFEE77C1371}"/>
              </a:ext>
            </a:extLst>
          </p:cNvPr>
          <p:cNvSpPr txBox="1"/>
          <p:nvPr/>
        </p:nvSpPr>
        <p:spPr>
          <a:xfrm>
            <a:off x="2463800" y="4702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評判◎・国公立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232FE04A-696E-D29B-32FE-B350513A4214}"/>
              </a:ext>
            </a:extLst>
          </p:cNvPr>
          <p:cNvSpPr/>
          <p:nvPr/>
        </p:nvSpPr>
        <p:spPr>
          <a:xfrm>
            <a:off x="4648200" y="4648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11DB422E-9984-CAA2-CE04-71E719C564BA}"/>
              </a:ext>
            </a:extLst>
          </p:cNvPr>
          <p:cNvSpPr txBox="1"/>
          <p:nvPr/>
        </p:nvSpPr>
        <p:spPr>
          <a:xfrm>
            <a:off x="4699000" y="4702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明るい・行事</a:t>
            </a:r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72B3A384-94B7-2354-8898-208710C2E7B0}"/>
              </a:ext>
            </a:extLst>
          </p:cNvPr>
          <p:cNvSpPr/>
          <p:nvPr/>
        </p:nvSpPr>
        <p:spPr>
          <a:xfrm>
            <a:off x="6883400" y="4648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705EF89B-98C0-AB3C-DE79-DCA4753CB4A9}"/>
              </a:ext>
            </a:extLst>
          </p:cNvPr>
          <p:cNvSpPr txBox="1"/>
          <p:nvPr/>
        </p:nvSpPr>
        <p:spPr>
          <a:xfrm>
            <a:off x="6934200" y="4702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自由・伝統</a:t>
            </a:r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0A444786-C74B-756E-7A61-F1200BD6C60A}"/>
              </a:ext>
            </a:extLst>
          </p:cNvPr>
          <p:cNvSpPr/>
          <p:nvPr/>
        </p:nvSpPr>
        <p:spPr>
          <a:xfrm>
            <a:off x="9118600" y="4648200"/>
            <a:ext cx="22352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DC3E97D6-562D-99CF-E9A4-5D60183F1324}"/>
              </a:ext>
            </a:extLst>
          </p:cNvPr>
          <p:cNvSpPr txBox="1"/>
          <p:nvPr/>
        </p:nvSpPr>
        <p:spPr>
          <a:xfrm>
            <a:off x="9169400" y="4702061"/>
            <a:ext cx="2133600" cy="1949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ja-JP" altLang="en-US" sz="1100">
                <a:solidFill>
                  <a:srgbClr val="222B45"/>
                </a:solidFill>
                <a:latin typeface="Meiryo" panose="020B0604030504040204" pitchFamily="50" charset="-128"/>
              </a:rPr>
              <a:t>環境◎</a:t>
            </a:r>
          </a:p>
        </p:txBody>
      </p:sp>
    </p:spTree>
    <p:extLst>
      <p:ext uri="{BB962C8B-B14F-4D97-AF65-F5344CB8AC3E}">
        <p14:creationId xmlns:p14="http://schemas.microsoft.com/office/powerpoint/2010/main" val="2890714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820BE23-7903-3971-D65A-0393C7B88C07}"/>
              </a:ext>
            </a:extLst>
          </p:cNvPr>
          <p:cNvSpPr txBox="1"/>
          <p:nvPr/>
        </p:nvSpPr>
        <p:spPr>
          <a:xfrm>
            <a:off x="508000" y="457200"/>
            <a:ext cx="11176000" cy="48731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3000" b="1">
                <a:solidFill>
                  <a:srgbClr val="FFFFFF"/>
                </a:solidFill>
                <a:latin typeface="Meiryo" panose="020B0604030504040204" pitchFamily="50" charset="-128"/>
              </a:rPr>
              <a:t>次にやること（おすすめの進め方）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B3CE5E6-84A1-A2D7-7E4D-AFC5CD1485C5}"/>
              </a:ext>
            </a:extLst>
          </p:cNvPr>
          <p:cNvSpPr/>
          <p:nvPr/>
        </p:nvSpPr>
        <p:spPr>
          <a:xfrm>
            <a:off x="508000" y="1320800"/>
            <a:ext cx="11176000" cy="914400"/>
          </a:xfrm>
          <a:prstGeom prst="roundRect">
            <a:avLst/>
          </a:prstGeom>
          <a:solidFill>
            <a:srgbClr val="2A3A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CD5A08C8-9916-B041-831B-524B732CF17E}"/>
              </a:ext>
            </a:extLst>
          </p:cNvPr>
          <p:cNvSpPr/>
          <p:nvPr/>
        </p:nvSpPr>
        <p:spPr>
          <a:xfrm>
            <a:off x="736600" y="1524000"/>
            <a:ext cx="508000" cy="5080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BEA5205-2E18-2BDC-54AE-6D39E6E5C033}"/>
              </a:ext>
            </a:extLst>
          </p:cNvPr>
          <p:cNvSpPr txBox="1"/>
          <p:nvPr/>
        </p:nvSpPr>
        <p:spPr>
          <a:xfrm>
            <a:off x="736600" y="1508611"/>
            <a:ext cx="508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000" b="1">
                <a:solidFill>
                  <a:srgbClr val="FFFFFF"/>
                </a:solidFill>
                <a:latin typeface="Meiryo" panose="020B0604030504040204" pitchFamily="50" charset="-128"/>
              </a:rPr>
              <a:t>1</a:t>
            </a:r>
            <a:endParaRPr kumimoji="1" lang="ja-JP" altLang="en-US" sz="20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D96C6F8-8D53-BF49-FCD5-28C75717EC58}"/>
              </a:ext>
            </a:extLst>
          </p:cNvPr>
          <p:cNvSpPr txBox="1"/>
          <p:nvPr/>
        </p:nvSpPr>
        <p:spPr>
          <a:xfrm>
            <a:off x="1473200" y="1460500"/>
            <a:ext cx="10033000" cy="302647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" panose="020B0604030504040204" pitchFamily="50" charset="-128"/>
              </a:rPr>
              <a:t>説明会・学校見学会に行く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D8AD4E9-34AD-BA31-18C1-D3E4A515E4DA}"/>
              </a:ext>
            </a:extLst>
          </p:cNvPr>
          <p:cNvSpPr txBox="1"/>
          <p:nvPr/>
        </p:nvSpPr>
        <p:spPr>
          <a:xfrm>
            <a:off x="1473200" y="1841500"/>
            <a:ext cx="100330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この資料の</a:t>
            </a:r>
            <a:r>
              <a:rPr kumimoji="1" lang="en-US" altLang="ja-JP" sz="1300">
                <a:solidFill>
                  <a:srgbClr val="CADCFC"/>
                </a:solidFill>
                <a:latin typeface="Meiryo" panose="020B0604030504040204" pitchFamily="50" charset="-128"/>
              </a:rPr>
              <a:t>2026</a:t>
            </a:r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日程を参考に予約。親子で雰囲気を確認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F2F161AE-BF92-C091-1657-CC10854F2619}"/>
              </a:ext>
            </a:extLst>
          </p:cNvPr>
          <p:cNvSpPr/>
          <p:nvPr/>
        </p:nvSpPr>
        <p:spPr>
          <a:xfrm>
            <a:off x="508000" y="2387600"/>
            <a:ext cx="11176000" cy="914400"/>
          </a:xfrm>
          <a:prstGeom prst="roundRect">
            <a:avLst/>
          </a:prstGeom>
          <a:solidFill>
            <a:srgbClr val="2A3A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71BE726A-D81D-FFB0-80F6-0E9B4D7C21D5}"/>
              </a:ext>
            </a:extLst>
          </p:cNvPr>
          <p:cNvSpPr/>
          <p:nvPr/>
        </p:nvSpPr>
        <p:spPr>
          <a:xfrm>
            <a:off x="736600" y="2590800"/>
            <a:ext cx="508000" cy="5080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ABDE89B-9D27-CB6C-7778-469DE2B28062}"/>
              </a:ext>
            </a:extLst>
          </p:cNvPr>
          <p:cNvSpPr txBox="1"/>
          <p:nvPr/>
        </p:nvSpPr>
        <p:spPr>
          <a:xfrm>
            <a:off x="736600" y="2575411"/>
            <a:ext cx="508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000" b="1">
                <a:solidFill>
                  <a:srgbClr val="FFFFFF"/>
                </a:solidFill>
                <a:latin typeface="Meiryo" panose="020B0604030504040204" pitchFamily="50" charset="-128"/>
              </a:rPr>
              <a:t>2</a:t>
            </a:r>
            <a:endParaRPr kumimoji="1" lang="ja-JP" altLang="en-US" sz="20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9691784-65A8-5C92-C761-09A7136FFE7F}"/>
              </a:ext>
            </a:extLst>
          </p:cNvPr>
          <p:cNvSpPr txBox="1"/>
          <p:nvPr/>
        </p:nvSpPr>
        <p:spPr>
          <a:xfrm>
            <a:off x="1473200" y="2527300"/>
            <a:ext cx="10033000" cy="302647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" panose="020B0604030504040204" pitchFamily="50" charset="-128"/>
              </a:rPr>
              <a:t>部活・文化祭を見に行く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9E908F-EC1D-B372-6F3B-7B34A820A8E0}"/>
              </a:ext>
            </a:extLst>
          </p:cNvPr>
          <p:cNvSpPr txBox="1"/>
          <p:nvPr/>
        </p:nvSpPr>
        <p:spPr>
          <a:xfrm>
            <a:off x="1473200" y="2908300"/>
            <a:ext cx="100330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文化祭は学校の素顔が見える。部活の様子も確認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208C3E03-9D39-F359-95EA-2A8E2483D155}"/>
              </a:ext>
            </a:extLst>
          </p:cNvPr>
          <p:cNvSpPr/>
          <p:nvPr/>
        </p:nvSpPr>
        <p:spPr>
          <a:xfrm>
            <a:off x="508000" y="3454400"/>
            <a:ext cx="11176000" cy="914400"/>
          </a:xfrm>
          <a:prstGeom prst="roundRect">
            <a:avLst/>
          </a:prstGeom>
          <a:solidFill>
            <a:srgbClr val="2A3A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899286C-3388-00C4-688C-1F9324B3E4E4}"/>
              </a:ext>
            </a:extLst>
          </p:cNvPr>
          <p:cNvSpPr/>
          <p:nvPr/>
        </p:nvSpPr>
        <p:spPr>
          <a:xfrm>
            <a:off x="736600" y="3657600"/>
            <a:ext cx="508000" cy="5080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188C51A-FD3C-18B0-67B0-762DD171E8F5}"/>
              </a:ext>
            </a:extLst>
          </p:cNvPr>
          <p:cNvSpPr txBox="1"/>
          <p:nvPr/>
        </p:nvSpPr>
        <p:spPr>
          <a:xfrm>
            <a:off x="736600" y="3642211"/>
            <a:ext cx="508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000" b="1">
                <a:solidFill>
                  <a:srgbClr val="FFFFFF"/>
                </a:solidFill>
                <a:latin typeface="Meiryo" panose="020B0604030504040204" pitchFamily="50" charset="-128"/>
              </a:rPr>
              <a:t>3</a:t>
            </a:r>
            <a:endParaRPr kumimoji="1" lang="ja-JP" altLang="en-US" sz="20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C708A5A-D6B9-6808-9199-DDD71F076BF0}"/>
              </a:ext>
            </a:extLst>
          </p:cNvPr>
          <p:cNvSpPr txBox="1"/>
          <p:nvPr/>
        </p:nvSpPr>
        <p:spPr>
          <a:xfrm>
            <a:off x="1473200" y="3594100"/>
            <a:ext cx="10033000" cy="302647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" panose="020B0604030504040204" pitchFamily="50" charset="-128"/>
              </a:rPr>
              <a:t>通学を実際に試す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89223C-D5EC-42E8-1E7C-6A52AE000745}"/>
              </a:ext>
            </a:extLst>
          </p:cNvPr>
          <p:cNvSpPr txBox="1"/>
          <p:nvPr/>
        </p:nvSpPr>
        <p:spPr>
          <a:xfrm>
            <a:off x="1473200" y="3975100"/>
            <a:ext cx="100330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自宅</a:t>
            </a:r>
            <a:r>
              <a:rPr kumimoji="1" lang="en-US" altLang="ja-JP" sz="1300">
                <a:solidFill>
                  <a:srgbClr val="CADCFC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北区</a:t>
            </a:r>
            <a:r>
              <a:rPr kumimoji="1" lang="en-US" altLang="ja-JP" sz="1300">
                <a:solidFill>
                  <a:srgbClr val="CADCFC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から朝に。黒川・上飯田・バス</a:t>
            </a:r>
            <a:r>
              <a:rPr kumimoji="1" lang="en-US" altLang="ja-JP" sz="1300">
                <a:solidFill>
                  <a:srgbClr val="CADCFC"/>
                </a:solidFill>
                <a:latin typeface="Meiryo" panose="020B0604030504040204" pitchFamily="50" charset="-128"/>
              </a:rPr>
              <a:t>(</a:t>
            </a:r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城北小学校</a:t>
            </a:r>
            <a:r>
              <a:rPr kumimoji="1" lang="en-US" altLang="ja-JP" sz="1300">
                <a:solidFill>
                  <a:srgbClr val="CADCFC"/>
                </a:solidFill>
                <a:latin typeface="Meiryo" panose="020B0604030504040204" pitchFamily="50" charset="-128"/>
              </a:rPr>
              <a:t>)</a:t>
            </a:r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の乗換を体感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48C1B14-1E04-A1A8-CE3B-2807A3F24A3A}"/>
              </a:ext>
            </a:extLst>
          </p:cNvPr>
          <p:cNvSpPr/>
          <p:nvPr/>
        </p:nvSpPr>
        <p:spPr>
          <a:xfrm>
            <a:off x="508000" y="4521200"/>
            <a:ext cx="11176000" cy="914400"/>
          </a:xfrm>
          <a:prstGeom prst="roundRect">
            <a:avLst/>
          </a:prstGeom>
          <a:solidFill>
            <a:srgbClr val="2A3A7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CFD261A6-F53F-8D3A-79AC-C38695A37C44}"/>
              </a:ext>
            </a:extLst>
          </p:cNvPr>
          <p:cNvSpPr/>
          <p:nvPr/>
        </p:nvSpPr>
        <p:spPr>
          <a:xfrm>
            <a:off x="736600" y="4724400"/>
            <a:ext cx="508000" cy="508000"/>
          </a:xfrm>
          <a:prstGeom prst="ellipse">
            <a:avLst/>
          </a:prstGeom>
          <a:solidFill>
            <a:srgbClr val="F9616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18843F5-8210-D71E-A636-9760C5779C89}"/>
              </a:ext>
            </a:extLst>
          </p:cNvPr>
          <p:cNvSpPr txBox="1"/>
          <p:nvPr/>
        </p:nvSpPr>
        <p:spPr>
          <a:xfrm>
            <a:off x="736600" y="4709011"/>
            <a:ext cx="508000" cy="333425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ctr">
            <a:spAutoFit/>
          </a:bodyPr>
          <a:lstStyle/>
          <a:p>
            <a:pPr algn="ctr"/>
            <a:r>
              <a:rPr kumimoji="1" lang="en-US" altLang="ja-JP" sz="2000" b="1">
                <a:solidFill>
                  <a:srgbClr val="FFFFFF"/>
                </a:solidFill>
                <a:latin typeface="Meiryo" panose="020B0604030504040204" pitchFamily="50" charset="-128"/>
              </a:rPr>
              <a:t>4</a:t>
            </a:r>
            <a:endParaRPr kumimoji="1" lang="ja-JP" altLang="en-US" sz="2000" b="1">
              <a:solidFill>
                <a:srgbClr val="FFFFFF"/>
              </a:solidFill>
              <a:latin typeface="Meiryo" panose="020B0604030504040204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7AE3526-CA94-802B-7F4E-3D9AAFD0E821}"/>
              </a:ext>
            </a:extLst>
          </p:cNvPr>
          <p:cNvSpPr txBox="1"/>
          <p:nvPr/>
        </p:nvSpPr>
        <p:spPr>
          <a:xfrm>
            <a:off x="1473200" y="4660900"/>
            <a:ext cx="10033000" cy="302647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b="1">
                <a:solidFill>
                  <a:srgbClr val="FFFFFF"/>
                </a:solidFill>
                <a:latin typeface="Meiryo" panose="020B0604030504040204" pitchFamily="50" charset="-128"/>
              </a:rPr>
              <a:t>倍率・募集要項を公式で確認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0BEA21F-3102-E44D-97EF-8D60DBA75454}"/>
              </a:ext>
            </a:extLst>
          </p:cNvPr>
          <p:cNvSpPr txBox="1"/>
          <p:nvPr/>
        </p:nvSpPr>
        <p:spPr>
          <a:xfrm>
            <a:off x="1473200" y="5041900"/>
            <a:ext cx="10033000" cy="225703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300">
                <a:solidFill>
                  <a:srgbClr val="CADCFC"/>
                </a:solidFill>
                <a:latin typeface="Meiryo" panose="020B0604030504040204" pitchFamily="50" charset="-128"/>
              </a:rPr>
              <a:t>この資料の数値・日程は目安。最新は必ず各校公式で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05A6621-B3D5-EFF0-E8DD-C6F2C81C91E7}"/>
              </a:ext>
            </a:extLst>
          </p:cNvPr>
          <p:cNvSpPr txBox="1"/>
          <p:nvPr/>
        </p:nvSpPr>
        <p:spPr>
          <a:xfrm>
            <a:off x="508000" y="5918200"/>
            <a:ext cx="11176000" cy="241092"/>
          </a:xfrm>
          <a:prstGeom prst="rect">
            <a:avLst/>
          </a:prstGeom>
          <a:noFill/>
        </p:spPr>
        <p:txBody>
          <a:bodyPr vert="horz" wrap="square" lIns="38100" tIns="12700" rIns="38100" bIns="12700" rtlCol="0" anchor="t">
            <a:spAutoFit/>
          </a:bodyPr>
          <a:lstStyle/>
          <a:p>
            <a:r>
              <a:rPr kumimoji="1" lang="ja-JP" altLang="en-US" sz="1400">
                <a:solidFill>
                  <a:srgbClr val="9DB0E8"/>
                </a:solidFill>
                <a:latin typeface="Meiryo" panose="020B0604030504040204" pitchFamily="50" charset="-128"/>
              </a:rPr>
              <a:t>五郎より：評判の高い</a:t>
            </a:r>
            <a:r>
              <a:rPr kumimoji="1" lang="en-US" altLang="ja-JP" sz="1400">
                <a:solidFill>
                  <a:srgbClr val="9DB0E8"/>
                </a:solidFill>
                <a:latin typeface="Meiryo" panose="020B0604030504040204" pitchFamily="50" charset="-128"/>
              </a:rPr>
              <a:t>『</a:t>
            </a:r>
            <a:r>
              <a:rPr kumimoji="1" lang="ja-JP" altLang="en-US" sz="1400">
                <a:solidFill>
                  <a:srgbClr val="9DB0E8"/>
                </a:solidFill>
                <a:latin typeface="Meiryo" panose="020B0604030504040204" pitchFamily="50" charset="-128"/>
              </a:rPr>
              <a:t>名古屋西</a:t>
            </a:r>
            <a:r>
              <a:rPr kumimoji="1" lang="en-US" altLang="ja-JP" sz="1400">
                <a:solidFill>
                  <a:srgbClr val="9DB0E8"/>
                </a:solidFill>
                <a:latin typeface="Meiryo" panose="020B0604030504040204" pitchFamily="50" charset="-128"/>
              </a:rPr>
              <a:t>』『</a:t>
            </a:r>
            <a:r>
              <a:rPr kumimoji="1" lang="ja-JP" altLang="en-US" sz="1400">
                <a:solidFill>
                  <a:srgbClr val="9DB0E8"/>
                </a:solidFill>
                <a:latin typeface="Meiryo" panose="020B0604030504040204" pitchFamily="50" charset="-128"/>
              </a:rPr>
              <a:t>春日井南</a:t>
            </a:r>
            <a:r>
              <a:rPr kumimoji="1" lang="en-US" altLang="ja-JP" sz="1400">
                <a:solidFill>
                  <a:srgbClr val="9DB0E8"/>
                </a:solidFill>
                <a:latin typeface="Meiryo" panose="020B0604030504040204" pitchFamily="50" charset="-128"/>
              </a:rPr>
              <a:t>』</a:t>
            </a:r>
            <a:r>
              <a:rPr kumimoji="1" lang="ja-JP" altLang="en-US" sz="1400">
                <a:solidFill>
                  <a:srgbClr val="9DB0E8"/>
                </a:solidFill>
                <a:latin typeface="Meiryo" panose="020B0604030504040204" pitchFamily="50" charset="-128"/>
              </a:rPr>
              <a:t>の見学会から。名西は偏差値</a:t>
            </a:r>
            <a:r>
              <a:rPr kumimoji="1" lang="en-US" altLang="ja-JP" sz="1400">
                <a:solidFill>
                  <a:srgbClr val="9DB0E8"/>
                </a:solidFill>
                <a:latin typeface="Meiryo" panose="020B0604030504040204" pitchFamily="50" charset="-128"/>
              </a:rPr>
              <a:t>60</a:t>
            </a:r>
            <a:r>
              <a:rPr kumimoji="1" lang="ja-JP" altLang="en-US" sz="1400">
                <a:solidFill>
                  <a:srgbClr val="9DB0E8"/>
                </a:solidFill>
                <a:latin typeface="Meiryo" panose="020B0604030504040204" pitchFamily="50" charset="-128"/>
              </a:rPr>
              <a:t>と高めなので早めの対策を。応援しています。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991321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2197</Words>
  <Application>Microsoft Office PowerPoint</Application>
  <PresentationFormat>ユーザー設定</PresentationFormat>
  <Paragraphs>262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Meiryo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shiro yamamoto</dc:creator>
  <cp:lastModifiedBy>shiro yamamoto</cp:lastModifiedBy>
  <cp:revision>1</cp:revision>
  <dcterms:created xsi:type="dcterms:W3CDTF">2026-06-28T12:19:46Z</dcterms:created>
  <dcterms:modified xsi:type="dcterms:W3CDTF">2026-06-28T12:19:46Z</dcterms:modified>
</cp:coreProperties>
</file>
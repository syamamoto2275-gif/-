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8214DA-8CEA-FC01-A041-648DC2F91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89CEBB-B592-FEAD-1F19-DDE3DD7F3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CE2DFA-8C1D-9185-D4AC-931A7746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84640A-4734-BB11-B74D-34ECDE68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39AD1B-931D-0CA9-20CE-594E3815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1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594C57-E513-875A-2F74-9D9BA46C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CE82FE-1107-DC1D-7164-D56C2C098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A59ED4-9104-0832-69ED-7145112A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644482-C3A0-AA1E-1762-8EF085824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0A0DE-00FA-DC28-62A3-B6BE9079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30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852B00-E55D-EFB2-272F-71A969662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1D23A9-2DA8-09AC-690A-19CA1CD8E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A775E1-78E3-DBF3-0F21-832990978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7C60A5-FF4B-7F5B-A8E4-C3C0C018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0434BB-BB7E-90D6-0622-CF6AAEA3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8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935815-FD26-1781-5182-DFBAEF59B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893505-AECD-CEA0-626F-424408A1A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A45CEE9-8C9F-2C8E-FBD0-4D7774082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C4B966-5969-F004-945D-A7F7A050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E0C37D-E412-C09C-0E7F-4B7A96C1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92FB12-5F82-D8A2-1BE0-F0D35A31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677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3891AF-1D40-A36F-C3FF-D43F9B3D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90FB8E-7208-59A7-AB2A-BEFF5F07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89CA5D-4CD6-E81B-CEDD-E9B643F26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42C1126-EC11-748E-DAFA-BCD717B66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060D9B-3204-8619-4A60-0F29DC7BF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9B79680-2CF6-3DD6-844A-1DCEFE4A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8962742-FC4E-31F5-2CDB-8684049B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4E99A8-514B-6A86-2D65-B33FCC56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80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BD08E1-D60F-092E-BB01-B848BA7D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B145DE2-99CD-45C3-B325-8EFFDDB0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424A66-6645-32F4-6376-208F4D85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0EDB512-F41C-498B-57A4-C4303854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721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F4548F-CAA8-FCAB-8738-8694126E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E51476B-C961-013F-A1FA-E261EF728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4033C9-07C3-83F8-D079-5B773481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7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A2F891-A887-B0E9-EEB9-8A95336AF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DB95EC-5C4B-C852-1AC8-79AB36735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883FA9-7BFA-997A-2733-0BE685369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6898A5-46A4-401D-3FB8-C6F2C942E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04403E-9C01-009F-EDC7-AD9EA40C3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7AEB44-6A7F-894D-08C1-5D5038CA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64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9E87D-93B7-507C-AF39-08061CE53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EE7DC43-ECB5-F2A9-DA94-E001FD534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B850D5-0B82-E965-EA1C-B040F1846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4CB921-984C-203B-CE91-38B7292B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551E40-8E13-B3C4-C1F0-ACA9398B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9CF3F2-7C75-1657-37EB-4EAF2D522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08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7B2A46-6329-2010-55A3-CF658BE1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BB3D77-6B02-27F5-6C24-FFD1229DE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B30271-EED1-CABC-B95D-CC517BE7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99F6F9-A3E1-7F65-420F-C68CCB182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BED874-A6E4-A2D0-E184-A953776F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611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B7BF16-A14F-5734-A325-D298FE3F63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6E25F0-2DB6-8121-08F9-70374D8FE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A423C3-607C-0287-E0AB-6C2FBFABB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1F5ECA-6C54-12AF-3F8D-B3318A42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CE655A-92AB-3F3E-DFA5-9A726553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788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0063190-991A-D261-17BB-145E932D3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C2217E-CC7D-FFBD-EB84-5C1F65E9C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980EED-22F0-A534-E400-A649399216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40C1E-B460-4CBA-929E-2F48B3E95DA3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933A34-97CC-EC51-C43D-9D794A73A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37FE1A-B07C-319E-F0C9-108E9E923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A780C-E103-4F1B-8BCD-53E15497E1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60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1F1656F-AC5D-DFEE-18CF-604866A159BC}"/>
              </a:ext>
            </a:extLst>
          </p:cNvPr>
          <p:cNvSpPr txBox="1"/>
          <p:nvPr/>
        </p:nvSpPr>
        <p:spPr>
          <a:xfrm>
            <a:off x="0" y="177800"/>
            <a:ext cx="1219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-US" altLang="zh-TW" sz="2400" b="1">
                <a:solidFill>
                  <a:srgbClr val="1F4E79"/>
                </a:solidFill>
                <a:latin typeface="Meiryo" panose="020B0604030504040204" pitchFamily="50" charset="-128"/>
              </a:rPr>
              <a:t>SEED / ARCS </a:t>
            </a:r>
            <a:r>
              <a:rPr kumimoji="1" lang="zh-TW" altLang="en-US" sz="2400" b="1">
                <a:solidFill>
                  <a:srgbClr val="1F4E79"/>
                </a:solidFill>
                <a:latin typeface="Meiryo" panose="020B0604030504040204" pitchFamily="50" charset="-128"/>
              </a:rPr>
              <a:t>組織図 ＋ </a:t>
            </a:r>
            <a:r>
              <a:rPr kumimoji="1" lang="en-US" altLang="zh-TW" sz="2400" b="1">
                <a:solidFill>
                  <a:srgbClr val="1F4E79"/>
                </a:solidFill>
                <a:latin typeface="Meiryo" panose="020B0604030504040204" pitchFamily="50" charset="-128"/>
              </a:rPr>
              <a:t>AI</a:t>
            </a:r>
            <a:r>
              <a:rPr kumimoji="1" lang="zh-TW" altLang="en-US" sz="2400" b="1">
                <a:solidFill>
                  <a:srgbClr val="1F4E79"/>
                </a:solidFill>
                <a:latin typeface="Meiryo" panose="020B0604030504040204" pitchFamily="50" charset="-128"/>
              </a:rPr>
              <a:t>秘書配置（</a:t>
            </a:r>
            <a:r>
              <a:rPr kumimoji="1" lang="en-US" altLang="zh-TW" sz="2400" b="1">
                <a:solidFill>
                  <a:srgbClr val="1F4E79"/>
                </a:solidFill>
                <a:latin typeface="Meiryo" panose="020B0604030504040204" pitchFamily="50" charset="-128"/>
              </a:rPr>
              <a:t>3</a:t>
            </a:r>
            <a:r>
              <a:rPr kumimoji="1" lang="zh-TW" altLang="en-US" sz="2400" b="1">
                <a:solidFill>
                  <a:srgbClr val="1F4E79"/>
                </a:solidFill>
                <a:latin typeface="Meiryo" panose="020B0604030504040204" pitchFamily="50" charset="-128"/>
              </a:rPr>
              <a:t>層</a:t>
            </a:r>
            <a:r>
              <a:rPr kumimoji="1" lang="en-US" altLang="zh-TW" sz="2400" b="1">
                <a:solidFill>
                  <a:srgbClr val="1F4E79"/>
                </a:solidFill>
                <a:latin typeface="Meiryo" panose="020B0604030504040204" pitchFamily="50" charset="-128"/>
              </a:rPr>
              <a:t>AI</a:t>
            </a:r>
            <a:r>
              <a:rPr kumimoji="1" lang="zh-TW" altLang="en-US" sz="2400" b="1">
                <a:solidFill>
                  <a:srgbClr val="1F4E79"/>
                </a:solidFill>
                <a:latin typeface="Meiryo" panose="020B0604030504040204" pitchFamily="50" charset="-128"/>
              </a:rPr>
              <a:t>組織）</a:t>
            </a:r>
            <a:endParaRPr kumimoji="1" lang="ja-JP" altLang="en-US" sz="2400" b="1">
              <a:solidFill>
                <a:srgbClr val="1F4E79"/>
              </a:solidFill>
              <a:latin typeface="Meiryo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C86BFF-AAFF-A3FF-A861-D837E2683E69}"/>
              </a:ext>
            </a:extLst>
          </p:cNvPr>
          <p:cNvSpPr txBox="1"/>
          <p:nvPr/>
        </p:nvSpPr>
        <p:spPr>
          <a:xfrm>
            <a:off x="0" y="63500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-US" altLang="ja-JP" sz="1100">
                <a:solidFill>
                  <a:srgbClr val="787878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100">
                <a:solidFill>
                  <a:srgbClr val="787878"/>
                </a:solidFill>
                <a:latin typeface="Meiryo" panose="020B0604030504040204" pitchFamily="50" charset="-128"/>
              </a:rPr>
              <a:t>年</a:t>
            </a:r>
            <a:r>
              <a:rPr kumimoji="1" lang="en-US" altLang="ja-JP" sz="1100">
                <a:solidFill>
                  <a:srgbClr val="787878"/>
                </a:solidFill>
                <a:latin typeface="Meiryo" panose="020B0604030504040204" pitchFamily="50" charset="-128"/>
              </a:rPr>
              <a:t>6</a:t>
            </a:r>
            <a:r>
              <a:rPr kumimoji="1" lang="ja-JP" altLang="en-US" sz="1100">
                <a:solidFill>
                  <a:srgbClr val="787878"/>
                </a:solidFill>
                <a:latin typeface="Meiryo" panose="020B0604030504040204" pitchFamily="50" charset="-128"/>
              </a:rPr>
              <a:t>月 ／ 五郎作成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DF3FABB-1228-F27C-E250-FCA503DC03CF}"/>
              </a:ext>
            </a:extLst>
          </p:cNvPr>
          <p:cNvSpPr/>
          <p:nvPr/>
        </p:nvSpPr>
        <p:spPr>
          <a:xfrm>
            <a:off x="4826000" y="1016000"/>
            <a:ext cx="2540000" cy="6096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社長　山本 史朗</a:t>
            </a:r>
            <a:endParaRPr kumimoji="1" lang="ja-JP" altLang="en-US" sz="14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56CC8FF-0DFE-6B07-DAAA-DF44A163EB07}"/>
              </a:ext>
            </a:extLst>
          </p:cNvPr>
          <p:cNvSpPr/>
          <p:nvPr/>
        </p:nvSpPr>
        <p:spPr>
          <a:xfrm>
            <a:off x="7810500" y="1092200"/>
            <a:ext cx="2095500" cy="457200"/>
          </a:xfrm>
          <a:prstGeom prst="roundRect">
            <a:avLst/>
          </a:prstGeom>
          <a:solidFill>
            <a:srgbClr val="D67757"/>
          </a:solidFill>
          <a:ln>
            <a:solidFill>
              <a:srgbClr val="D67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五郎（社長の専属</a:t>
            </a:r>
            <a:r>
              <a:rPr kumimoji="1" lang="en-US" altLang="ja-JP" sz="1000" b="1">
                <a:solidFill>
                  <a:srgbClr val="FFFFFF"/>
                </a:solidFill>
                <a:latin typeface="Meiryo" panose="020B0604030504040204" pitchFamily="50" charset="-128"/>
              </a:rPr>
              <a:t>AI</a:t>
            </a:r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秘書）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B9FFF3D-5199-0CAD-6832-5632837E8EE3}"/>
              </a:ext>
            </a:extLst>
          </p:cNvPr>
          <p:cNvCxnSpPr/>
          <p:nvPr/>
        </p:nvCxnSpPr>
        <p:spPr>
          <a:xfrm>
            <a:off x="7366000" y="1320800"/>
            <a:ext cx="44450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45AFBA7-07E8-B06F-475D-864CDFF93E9C}"/>
              </a:ext>
            </a:extLst>
          </p:cNvPr>
          <p:cNvCxnSpPr/>
          <p:nvPr/>
        </p:nvCxnSpPr>
        <p:spPr>
          <a:xfrm>
            <a:off x="6096000" y="1625600"/>
            <a:ext cx="0" cy="5080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CFCB9CC-46FD-42E7-11F8-336657B66A37}"/>
              </a:ext>
            </a:extLst>
          </p:cNvPr>
          <p:cNvSpPr/>
          <p:nvPr/>
        </p:nvSpPr>
        <p:spPr>
          <a:xfrm>
            <a:off x="4826000" y="2133600"/>
            <a:ext cx="2540000" cy="60960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統括責任者　落合 裕子</a:t>
            </a:r>
            <a:endParaRPr kumimoji="1" lang="ja-JP" altLang="en-US" sz="13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2F8C3D0-1AF4-34F9-1066-DF6FFB50B307}"/>
              </a:ext>
            </a:extLst>
          </p:cNvPr>
          <p:cNvSpPr/>
          <p:nvPr/>
        </p:nvSpPr>
        <p:spPr>
          <a:xfrm>
            <a:off x="7810500" y="2209800"/>
            <a:ext cx="2095500" cy="457200"/>
          </a:xfrm>
          <a:prstGeom prst="roundRect">
            <a:avLst/>
          </a:prstGeom>
          <a:solidFill>
            <a:srgbClr val="D67757"/>
          </a:solidFill>
          <a:ln>
            <a:solidFill>
              <a:srgbClr val="D67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b="1">
                <a:solidFill>
                  <a:srgbClr val="FFFFFF"/>
                </a:solidFill>
                <a:latin typeface="Meiryo" panose="020B0604030504040204" pitchFamily="50" charset="-128"/>
              </a:rPr>
              <a:t>新・万能型</a:t>
            </a:r>
            <a:r>
              <a:rPr kumimoji="1" lang="en-US" altLang="ja-JP" sz="900" b="1">
                <a:solidFill>
                  <a:srgbClr val="FFFFFF"/>
                </a:solidFill>
                <a:latin typeface="Meiryo" panose="020B0604030504040204" pitchFamily="50" charset="-128"/>
              </a:rPr>
              <a:t>AI</a:t>
            </a:r>
            <a:r>
              <a:rPr kumimoji="1" lang="ja-JP" altLang="en-US" sz="900" b="1">
                <a:solidFill>
                  <a:srgbClr val="FFFFFF"/>
                </a:solidFill>
                <a:latin typeface="Meiryo" panose="020B0604030504040204" pitchFamily="50" charset="-128"/>
              </a:rPr>
              <a:t>秘書（命名待ち）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3616C95-E7C9-6353-2A44-C34587D1CA4F}"/>
              </a:ext>
            </a:extLst>
          </p:cNvPr>
          <p:cNvCxnSpPr/>
          <p:nvPr/>
        </p:nvCxnSpPr>
        <p:spPr>
          <a:xfrm>
            <a:off x="7366000" y="2438400"/>
            <a:ext cx="44450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5B61B2D-F7CF-75AD-EEFA-10C5ADF65248}"/>
              </a:ext>
            </a:extLst>
          </p:cNvPr>
          <p:cNvCxnSpPr/>
          <p:nvPr/>
        </p:nvCxnSpPr>
        <p:spPr>
          <a:xfrm>
            <a:off x="6096000" y="2743200"/>
            <a:ext cx="0" cy="4318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0954CE4-B725-C2F8-8E46-F600724B75C1}"/>
              </a:ext>
            </a:extLst>
          </p:cNvPr>
          <p:cNvCxnSpPr/>
          <p:nvPr/>
        </p:nvCxnSpPr>
        <p:spPr>
          <a:xfrm>
            <a:off x="2032000" y="3175000"/>
            <a:ext cx="857250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7920D82-3BE7-8DCC-1EB4-CB9AFB6F6B66}"/>
              </a:ext>
            </a:extLst>
          </p:cNvPr>
          <p:cNvCxnSpPr/>
          <p:nvPr/>
        </p:nvCxnSpPr>
        <p:spPr>
          <a:xfrm>
            <a:off x="2032000" y="3175000"/>
            <a:ext cx="0" cy="2794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69F0F37-CA67-5F1B-9250-815C695878AE}"/>
              </a:ext>
            </a:extLst>
          </p:cNvPr>
          <p:cNvCxnSpPr/>
          <p:nvPr/>
        </p:nvCxnSpPr>
        <p:spPr>
          <a:xfrm>
            <a:off x="4889500" y="3175000"/>
            <a:ext cx="0" cy="2794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2428300-4CC2-D912-825C-AFAC2A9EC4A9}"/>
              </a:ext>
            </a:extLst>
          </p:cNvPr>
          <p:cNvCxnSpPr/>
          <p:nvPr/>
        </p:nvCxnSpPr>
        <p:spPr>
          <a:xfrm>
            <a:off x="7747000" y="3175000"/>
            <a:ext cx="0" cy="2794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6242A83-7BAA-6FCB-7F65-C98B5F19934E}"/>
              </a:ext>
            </a:extLst>
          </p:cNvPr>
          <p:cNvCxnSpPr/>
          <p:nvPr/>
        </p:nvCxnSpPr>
        <p:spPr>
          <a:xfrm>
            <a:off x="10604500" y="3175000"/>
            <a:ext cx="0" cy="2794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4E724DF1-E3FE-28E9-3427-2F5ED1291607}"/>
              </a:ext>
            </a:extLst>
          </p:cNvPr>
          <p:cNvSpPr/>
          <p:nvPr/>
        </p:nvSpPr>
        <p:spPr>
          <a:xfrm>
            <a:off x="762000" y="3454400"/>
            <a:ext cx="2540000" cy="1016000"/>
          </a:xfrm>
          <a:prstGeom prst="roundRect">
            <a:avLst/>
          </a:prstGeom>
          <a:solidFill>
            <a:srgbClr val="BDCCE2"/>
          </a:solidFill>
          <a:ln>
            <a:solidFill>
              <a:srgbClr val="BDCC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>
                <a:solidFill>
                  <a:srgbClr val="1F4E79"/>
                </a:solidFill>
                <a:latin typeface="Meiryo" panose="020B0604030504040204" pitchFamily="50" charset="-128"/>
              </a:rPr>
              <a:t>ペット事業</a:t>
            </a:r>
          </a:p>
          <a:p>
            <a:pPr algn="ctr"/>
            <a:r>
              <a:rPr kumimoji="1" lang="ja-JP" altLang="en-US" sz="1000">
                <a:solidFill>
                  <a:srgbClr val="1F4E79"/>
                </a:solidFill>
                <a:latin typeface="Meiryo" panose="020B0604030504040204" pitchFamily="50" charset="-128"/>
              </a:rPr>
              <a:t>実店舗・イベント・卸</a:t>
            </a:r>
          </a:p>
          <a:p>
            <a:pPr algn="ctr"/>
            <a:r>
              <a:rPr kumimoji="1" lang="ja-JP" altLang="en-US" sz="1000">
                <a:solidFill>
                  <a:srgbClr val="1F4E79"/>
                </a:solidFill>
                <a:latin typeface="Meiryo" panose="020B0604030504040204" pitchFamily="50" charset="-128"/>
              </a:rPr>
              <a:t>（中心メンバーあり）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B0A5C1B-4F63-21E6-2415-1D22CD17FDC0}"/>
              </a:ext>
            </a:extLst>
          </p:cNvPr>
          <p:cNvCxnSpPr/>
          <p:nvPr/>
        </p:nvCxnSpPr>
        <p:spPr>
          <a:xfrm>
            <a:off x="2032000" y="4470400"/>
            <a:ext cx="0" cy="1778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544FA0E-A15F-1AE3-2D14-ABF7D51E550E}"/>
              </a:ext>
            </a:extLst>
          </p:cNvPr>
          <p:cNvSpPr/>
          <p:nvPr/>
        </p:nvSpPr>
        <p:spPr>
          <a:xfrm>
            <a:off x="762000" y="4648200"/>
            <a:ext cx="2540000" cy="381000"/>
          </a:xfrm>
          <a:prstGeom prst="roundRect">
            <a:avLst/>
          </a:prstGeom>
          <a:solidFill>
            <a:srgbClr val="F7DFCA"/>
          </a:solidFill>
          <a:ln>
            <a:solidFill>
              <a:srgbClr val="F7DF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将来：専属</a:t>
            </a:r>
            <a:r>
              <a:rPr kumimoji="1" lang="en-US" altLang="zh-CN" sz="900" b="1">
                <a:solidFill>
                  <a:srgbClr val="96461E"/>
                </a:solidFill>
                <a:latin typeface="Meiryo" panose="020B0604030504040204" pitchFamily="50" charset="-128"/>
              </a:rPr>
              <a:t>AI</a:t>
            </a:r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秘書（第</a:t>
            </a:r>
            <a:r>
              <a:rPr kumimoji="1" lang="en-US" altLang="zh-CN" sz="900" b="1">
                <a:solidFill>
                  <a:srgbClr val="96461E"/>
                </a:solidFill>
                <a:latin typeface="Meiryo" panose="020B0604030504040204" pitchFamily="50" charset="-128"/>
              </a:rPr>
              <a:t>3</a:t>
            </a:r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層）</a:t>
            </a:r>
            <a:endParaRPr kumimoji="1" lang="ja-JP" altLang="en-US" sz="900" b="1">
              <a:solidFill>
                <a:srgbClr val="96461E"/>
              </a:solidFill>
              <a:latin typeface="Meiryo" panose="020B0604030504040204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8BAC1C3-8FBD-CE62-6E1C-AA69768328FF}"/>
              </a:ext>
            </a:extLst>
          </p:cNvPr>
          <p:cNvSpPr/>
          <p:nvPr/>
        </p:nvSpPr>
        <p:spPr>
          <a:xfrm>
            <a:off x="3619500" y="3454400"/>
            <a:ext cx="2540000" cy="1016000"/>
          </a:xfrm>
          <a:prstGeom prst="roundRect">
            <a:avLst/>
          </a:prstGeom>
          <a:solidFill>
            <a:srgbClr val="BDCCE2"/>
          </a:solidFill>
          <a:ln>
            <a:solidFill>
              <a:srgbClr val="BDCC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>
                <a:solidFill>
                  <a:srgbClr val="1F4E79"/>
                </a:solidFill>
                <a:latin typeface="Meiryo" panose="020B0604030504040204" pitchFamily="50" charset="-128"/>
              </a:rPr>
              <a:t>EC</a:t>
            </a:r>
            <a:r>
              <a:rPr kumimoji="1" lang="ja-JP" altLang="en-US" sz="1000" b="1">
                <a:solidFill>
                  <a:srgbClr val="1F4E79"/>
                </a:solidFill>
                <a:latin typeface="Meiryo" panose="020B0604030504040204" pitchFamily="50" charset="-128"/>
              </a:rPr>
              <a:t>事業</a:t>
            </a:r>
          </a:p>
          <a:p>
            <a:pPr algn="ctr"/>
            <a:r>
              <a:rPr kumimoji="1" lang="ja-JP" altLang="en-US" sz="1000">
                <a:solidFill>
                  <a:srgbClr val="1F4E79"/>
                </a:solidFill>
                <a:latin typeface="Meiryo" panose="020B0604030504040204" pitchFamily="50" charset="-128"/>
              </a:rPr>
              <a:t>ネット販売：ペット商品＋衣類</a:t>
            </a:r>
          </a:p>
          <a:p>
            <a:pPr algn="ctr"/>
            <a:r>
              <a:rPr kumimoji="1" lang="ja-JP" altLang="en-US" sz="1000">
                <a:solidFill>
                  <a:srgbClr val="1F4E79"/>
                </a:solidFill>
                <a:latin typeface="Meiryo" panose="020B0604030504040204" pitchFamily="50" charset="-128"/>
              </a:rPr>
              <a:t>自社ブランド </a:t>
            </a:r>
            <a:r>
              <a:rPr kumimoji="1" lang="en-US" altLang="ja-JP" sz="1000">
                <a:solidFill>
                  <a:srgbClr val="1F4E79"/>
                </a:solidFill>
                <a:latin typeface="Meiryo" panose="020B0604030504040204" pitchFamily="50" charset="-128"/>
              </a:rPr>
              <a:t>fuu</a:t>
            </a:r>
            <a:endParaRPr kumimoji="1" lang="ja-JP" altLang="en-US" sz="1000">
              <a:solidFill>
                <a:srgbClr val="1F4E79"/>
              </a:solidFill>
              <a:latin typeface="Meiryo" panose="020B0604030504040204" pitchFamily="50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C3EA5FB-60F6-E04D-D7DE-BBAAC2FCE90B}"/>
              </a:ext>
            </a:extLst>
          </p:cNvPr>
          <p:cNvCxnSpPr/>
          <p:nvPr/>
        </p:nvCxnSpPr>
        <p:spPr>
          <a:xfrm>
            <a:off x="4889500" y="4470400"/>
            <a:ext cx="0" cy="1778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C080386C-53E7-657C-C505-BFEA61374B80}"/>
              </a:ext>
            </a:extLst>
          </p:cNvPr>
          <p:cNvSpPr/>
          <p:nvPr/>
        </p:nvSpPr>
        <p:spPr>
          <a:xfrm>
            <a:off x="3619500" y="4648200"/>
            <a:ext cx="2540000" cy="381000"/>
          </a:xfrm>
          <a:prstGeom prst="roundRect">
            <a:avLst/>
          </a:prstGeom>
          <a:solidFill>
            <a:srgbClr val="F7DFCA"/>
          </a:solidFill>
          <a:ln>
            <a:solidFill>
              <a:srgbClr val="F7DF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将来：専属</a:t>
            </a:r>
            <a:r>
              <a:rPr kumimoji="1" lang="en-US" altLang="zh-CN" sz="900" b="1">
                <a:solidFill>
                  <a:srgbClr val="96461E"/>
                </a:solidFill>
                <a:latin typeface="Meiryo" panose="020B0604030504040204" pitchFamily="50" charset="-128"/>
              </a:rPr>
              <a:t>AI</a:t>
            </a:r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秘書（第</a:t>
            </a:r>
            <a:r>
              <a:rPr kumimoji="1" lang="en-US" altLang="zh-CN" sz="900" b="1">
                <a:solidFill>
                  <a:srgbClr val="96461E"/>
                </a:solidFill>
                <a:latin typeface="Meiryo" panose="020B0604030504040204" pitchFamily="50" charset="-128"/>
              </a:rPr>
              <a:t>3</a:t>
            </a:r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層）</a:t>
            </a:r>
            <a:endParaRPr kumimoji="1" lang="ja-JP" altLang="en-US" sz="900" b="1">
              <a:solidFill>
                <a:srgbClr val="96461E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F489F383-A781-0B51-028F-A9892127CDD7}"/>
              </a:ext>
            </a:extLst>
          </p:cNvPr>
          <p:cNvSpPr/>
          <p:nvPr/>
        </p:nvSpPr>
        <p:spPr>
          <a:xfrm>
            <a:off x="6477000" y="3454400"/>
            <a:ext cx="2540000" cy="1016000"/>
          </a:xfrm>
          <a:prstGeom prst="roundRect">
            <a:avLst/>
          </a:prstGeom>
          <a:solidFill>
            <a:srgbClr val="BDCCE2"/>
          </a:solidFill>
          <a:ln>
            <a:solidFill>
              <a:srgbClr val="BDCC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>
                <a:solidFill>
                  <a:srgbClr val="1F4E79"/>
                </a:solidFill>
                <a:latin typeface="Meiryo" panose="020B0604030504040204" pitchFamily="50" charset="-128"/>
              </a:rPr>
              <a:t>就労支援事業（かみふうせん）</a:t>
            </a:r>
          </a:p>
          <a:p>
            <a:pPr algn="ctr"/>
            <a:r>
              <a:rPr kumimoji="1" lang="en-US" altLang="ja-JP" sz="1000">
                <a:solidFill>
                  <a:srgbClr val="1F4E79"/>
                </a:solidFill>
                <a:latin typeface="Meiryo" panose="020B0604030504040204" pitchFamily="50" charset="-128"/>
              </a:rPr>
              <a:t>A</a:t>
            </a:r>
            <a:r>
              <a:rPr kumimoji="1" lang="ja-JP" altLang="en-US" sz="1000">
                <a:solidFill>
                  <a:srgbClr val="1F4E79"/>
                </a:solidFill>
                <a:latin typeface="Meiryo" panose="020B0604030504040204" pitchFamily="50" charset="-128"/>
              </a:rPr>
              <a:t>型・</a:t>
            </a:r>
            <a:r>
              <a:rPr kumimoji="1" lang="en-US" altLang="ja-JP" sz="1000">
                <a:solidFill>
                  <a:srgbClr val="1F4E79"/>
                </a:solidFill>
                <a:latin typeface="Meiryo" panose="020B0604030504040204" pitchFamily="50" charset="-128"/>
              </a:rPr>
              <a:t>B</a:t>
            </a:r>
            <a:r>
              <a:rPr kumimoji="1" lang="ja-JP" altLang="en-US" sz="1000">
                <a:solidFill>
                  <a:srgbClr val="1F4E79"/>
                </a:solidFill>
                <a:latin typeface="Meiryo" panose="020B0604030504040204" pitchFamily="50" charset="-128"/>
              </a:rPr>
              <a:t>型</a:t>
            </a:r>
          </a:p>
          <a:p>
            <a:pPr algn="ctr"/>
            <a:r>
              <a:rPr kumimoji="1" lang="en-US" altLang="ja-JP" sz="1000">
                <a:solidFill>
                  <a:srgbClr val="1F4E79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000">
                <a:solidFill>
                  <a:srgbClr val="1F4E79"/>
                </a:solidFill>
                <a:latin typeface="Meiryo" panose="020B0604030504040204" pitchFamily="50" charset="-128"/>
              </a:rPr>
              <a:t>社長も全体を把握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62CD33A-9427-F7AC-A77C-81CD5F0C5B79}"/>
              </a:ext>
            </a:extLst>
          </p:cNvPr>
          <p:cNvCxnSpPr/>
          <p:nvPr/>
        </p:nvCxnSpPr>
        <p:spPr>
          <a:xfrm>
            <a:off x="7747000" y="4470400"/>
            <a:ext cx="0" cy="1778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297436B-D1E9-1D62-7E02-141906E0A7C7}"/>
              </a:ext>
            </a:extLst>
          </p:cNvPr>
          <p:cNvSpPr/>
          <p:nvPr/>
        </p:nvSpPr>
        <p:spPr>
          <a:xfrm>
            <a:off x="6477000" y="4648200"/>
            <a:ext cx="2540000" cy="381000"/>
          </a:xfrm>
          <a:prstGeom prst="roundRect">
            <a:avLst/>
          </a:prstGeom>
          <a:solidFill>
            <a:srgbClr val="F7DFCA"/>
          </a:solidFill>
          <a:ln>
            <a:solidFill>
              <a:srgbClr val="F7DF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将来：専属</a:t>
            </a:r>
            <a:r>
              <a:rPr kumimoji="1" lang="en-US" altLang="zh-CN" sz="900" b="1">
                <a:solidFill>
                  <a:srgbClr val="96461E"/>
                </a:solidFill>
                <a:latin typeface="Meiryo" panose="020B0604030504040204" pitchFamily="50" charset="-128"/>
              </a:rPr>
              <a:t>AI</a:t>
            </a:r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秘書（第</a:t>
            </a:r>
            <a:r>
              <a:rPr kumimoji="1" lang="en-US" altLang="zh-CN" sz="900" b="1">
                <a:solidFill>
                  <a:srgbClr val="96461E"/>
                </a:solidFill>
                <a:latin typeface="Meiryo" panose="020B0604030504040204" pitchFamily="50" charset="-128"/>
              </a:rPr>
              <a:t>3</a:t>
            </a:r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層）</a:t>
            </a:r>
            <a:endParaRPr kumimoji="1" lang="ja-JP" altLang="en-US" sz="900" b="1">
              <a:solidFill>
                <a:srgbClr val="96461E"/>
              </a:solidFill>
              <a:latin typeface="Meiryo" panose="020B0604030504040204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09CF2C2-C4DB-409E-EB43-DC824BE6C83F}"/>
              </a:ext>
            </a:extLst>
          </p:cNvPr>
          <p:cNvSpPr/>
          <p:nvPr/>
        </p:nvSpPr>
        <p:spPr>
          <a:xfrm>
            <a:off x="9334500" y="3454400"/>
            <a:ext cx="2540000" cy="1016000"/>
          </a:xfrm>
          <a:prstGeom prst="roundRect">
            <a:avLst/>
          </a:prstGeom>
          <a:solidFill>
            <a:srgbClr val="BDCCE2"/>
          </a:solidFill>
          <a:ln>
            <a:solidFill>
              <a:srgbClr val="BDCC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>
                <a:solidFill>
                  <a:srgbClr val="1F4E79"/>
                </a:solidFill>
                <a:latin typeface="Meiryo" panose="020B0604030504040204" pitchFamily="50" charset="-128"/>
              </a:rPr>
              <a:t>経理総務</a:t>
            </a:r>
          </a:p>
          <a:p>
            <a:pPr algn="ctr"/>
            <a:r>
              <a:rPr kumimoji="1" lang="ja-JP" altLang="en-US" sz="1000">
                <a:solidFill>
                  <a:srgbClr val="1F4E79"/>
                </a:solidFill>
                <a:latin typeface="Meiryo" panose="020B0604030504040204" pitchFamily="50" charset="-128"/>
              </a:rPr>
              <a:t>給料計算など</a:t>
            </a:r>
          </a:p>
          <a:p>
            <a:pPr algn="ctr"/>
            <a:r>
              <a:rPr kumimoji="1" lang="ja-JP" altLang="en-US" sz="1000">
                <a:solidFill>
                  <a:srgbClr val="1F4E79"/>
                </a:solidFill>
                <a:latin typeface="Meiryo" panose="020B0604030504040204" pitchFamily="50" charset="-128"/>
              </a:rPr>
              <a:t>デジタル化を推進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66063C55-6B76-C2FB-68FA-892FC78D105E}"/>
              </a:ext>
            </a:extLst>
          </p:cNvPr>
          <p:cNvCxnSpPr/>
          <p:nvPr/>
        </p:nvCxnSpPr>
        <p:spPr>
          <a:xfrm>
            <a:off x="10604500" y="4470400"/>
            <a:ext cx="0" cy="17780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62D2F942-AFEB-4567-8F52-F5BC47FBFF49}"/>
              </a:ext>
            </a:extLst>
          </p:cNvPr>
          <p:cNvSpPr/>
          <p:nvPr/>
        </p:nvSpPr>
        <p:spPr>
          <a:xfrm>
            <a:off x="9334500" y="4648200"/>
            <a:ext cx="2540000" cy="381000"/>
          </a:xfrm>
          <a:prstGeom prst="roundRect">
            <a:avLst/>
          </a:prstGeom>
          <a:solidFill>
            <a:srgbClr val="F7DFCA"/>
          </a:solidFill>
          <a:ln>
            <a:solidFill>
              <a:srgbClr val="F7DF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将来：専属</a:t>
            </a:r>
            <a:r>
              <a:rPr kumimoji="1" lang="en-US" altLang="zh-CN" sz="900" b="1">
                <a:solidFill>
                  <a:srgbClr val="96461E"/>
                </a:solidFill>
                <a:latin typeface="Meiryo" panose="020B0604030504040204" pitchFamily="50" charset="-128"/>
              </a:rPr>
              <a:t>AI</a:t>
            </a:r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秘書（第</a:t>
            </a:r>
            <a:r>
              <a:rPr kumimoji="1" lang="en-US" altLang="zh-CN" sz="900" b="1">
                <a:solidFill>
                  <a:srgbClr val="96461E"/>
                </a:solidFill>
                <a:latin typeface="Meiryo" panose="020B0604030504040204" pitchFamily="50" charset="-128"/>
              </a:rPr>
              <a:t>3</a:t>
            </a:r>
            <a:r>
              <a:rPr kumimoji="1" lang="zh-CN" altLang="en-US" sz="900" b="1">
                <a:solidFill>
                  <a:srgbClr val="96461E"/>
                </a:solidFill>
                <a:latin typeface="Meiryo" panose="020B0604030504040204" pitchFamily="50" charset="-128"/>
              </a:rPr>
              <a:t>層）</a:t>
            </a:r>
            <a:endParaRPr kumimoji="1" lang="ja-JP" altLang="en-US" sz="900" b="1">
              <a:solidFill>
                <a:srgbClr val="96461E"/>
              </a:solidFill>
              <a:latin typeface="Meiryo" panose="020B0604030504040204" pitchFamily="50" charset="-128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3ADFF420-E043-14BF-4CC2-46719AAA6995}"/>
              </a:ext>
            </a:extLst>
          </p:cNvPr>
          <p:cNvSpPr/>
          <p:nvPr/>
        </p:nvSpPr>
        <p:spPr>
          <a:xfrm>
            <a:off x="762000" y="5308600"/>
            <a:ext cx="10668000" cy="109220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b="1">
                <a:solidFill>
                  <a:srgbClr val="1F4E79"/>
                </a:solidFill>
                <a:latin typeface="Meiryo" panose="020B0604030504040204" pitchFamily="50" charset="-128"/>
              </a:rPr>
              <a:t>【3</a:t>
            </a:r>
            <a:r>
              <a:rPr kumimoji="1" lang="ja-JP" altLang="en-US" sz="1100" b="1">
                <a:solidFill>
                  <a:srgbClr val="1F4E79"/>
                </a:solidFill>
                <a:latin typeface="Meiryo" panose="020B0604030504040204" pitchFamily="50" charset="-128"/>
              </a:rPr>
              <a:t>層</a:t>
            </a:r>
            <a:r>
              <a:rPr kumimoji="1" lang="en-US" altLang="ja-JP" sz="1100" b="1">
                <a:solidFill>
                  <a:srgbClr val="1F4E79"/>
                </a:solidFill>
                <a:latin typeface="Meiryo" panose="020B0604030504040204" pitchFamily="50" charset="-128"/>
              </a:rPr>
              <a:t>AI</a:t>
            </a:r>
            <a:r>
              <a:rPr kumimoji="1" lang="ja-JP" altLang="en-US" sz="1100" b="1">
                <a:solidFill>
                  <a:srgbClr val="1F4E79"/>
                </a:solidFill>
                <a:latin typeface="Meiryo" panose="020B0604030504040204" pitchFamily="50" charset="-128"/>
              </a:rPr>
              <a:t>組織</a:t>
            </a:r>
            <a:r>
              <a:rPr kumimoji="1" lang="en-US" altLang="ja-JP" sz="1100" b="1">
                <a:solidFill>
                  <a:srgbClr val="1F4E79"/>
                </a:solidFill>
                <a:latin typeface="Meiryo" panose="020B0604030504040204" pitchFamily="50" charset="-128"/>
              </a:rPr>
              <a:t>】</a:t>
            </a:r>
            <a:r>
              <a:rPr kumimoji="1" lang="ja-JP" altLang="en-US" sz="1100" b="1">
                <a:solidFill>
                  <a:srgbClr val="1F4E79"/>
                </a:solidFill>
                <a:latin typeface="Meiryo" panose="020B0604030504040204" pitchFamily="50" charset="-128"/>
              </a:rPr>
              <a:t>　第</a:t>
            </a:r>
            <a:r>
              <a:rPr kumimoji="1" lang="en-US" altLang="ja-JP" sz="1100" b="1">
                <a:solidFill>
                  <a:srgbClr val="1F4E79"/>
                </a:solidFill>
                <a:latin typeface="Meiryo" panose="020B0604030504040204" pitchFamily="50" charset="-128"/>
              </a:rPr>
              <a:t>1</a:t>
            </a:r>
            <a:r>
              <a:rPr kumimoji="1" lang="ja-JP" altLang="en-US" sz="1100" b="1">
                <a:solidFill>
                  <a:srgbClr val="1F4E79"/>
                </a:solidFill>
                <a:latin typeface="Meiryo" panose="020B0604030504040204" pitchFamily="50" charset="-128"/>
              </a:rPr>
              <a:t>層＝五郎（社長）　／　第</a:t>
            </a:r>
            <a:r>
              <a:rPr kumimoji="1" lang="en-US" altLang="ja-JP" sz="1100" b="1">
                <a:solidFill>
                  <a:srgbClr val="1F4E79"/>
                </a:solidFill>
                <a:latin typeface="Meiryo" panose="020B0604030504040204" pitchFamily="50" charset="-128"/>
              </a:rPr>
              <a:t>2</a:t>
            </a:r>
            <a:r>
              <a:rPr kumimoji="1" lang="ja-JP" altLang="en-US" sz="1100" b="1">
                <a:solidFill>
                  <a:srgbClr val="1F4E79"/>
                </a:solidFill>
                <a:latin typeface="Meiryo" panose="020B0604030504040204" pitchFamily="50" charset="-128"/>
              </a:rPr>
              <a:t>層＝統括責任者の専属秘書　／　第</a:t>
            </a:r>
            <a:r>
              <a:rPr kumimoji="1" lang="en-US" altLang="ja-JP" sz="1100" b="1">
                <a:solidFill>
                  <a:srgbClr val="1F4E79"/>
                </a:solidFill>
                <a:latin typeface="Meiryo" panose="020B0604030504040204" pitchFamily="50" charset="-128"/>
              </a:rPr>
              <a:t>3</a:t>
            </a:r>
            <a:r>
              <a:rPr kumimoji="1" lang="ja-JP" altLang="en-US" sz="1100" b="1">
                <a:solidFill>
                  <a:srgbClr val="1F4E79"/>
                </a:solidFill>
                <a:latin typeface="Meiryo" panose="020B0604030504040204" pitchFamily="50" charset="-128"/>
              </a:rPr>
              <a:t>層＝各事業の専属</a:t>
            </a:r>
            <a:r>
              <a:rPr kumimoji="1" lang="en-US" altLang="ja-JP" sz="1100" b="1">
                <a:solidFill>
                  <a:srgbClr val="1F4E79"/>
                </a:solidFill>
                <a:latin typeface="Meiryo" panose="020B0604030504040204" pitchFamily="50" charset="-128"/>
              </a:rPr>
              <a:t>AI</a:t>
            </a:r>
            <a:r>
              <a:rPr kumimoji="1" lang="ja-JP" altLang="en-US" sz="1100" b="1">
                <a:solidFill>
                  <a:srgbClr val="1F4E79"/>
                </a:solidFill>
                <a:latin typeface="Meiryo" panose="020B0604030504040204" pitchFamily="50" charset="-128"/>
              </a:rPr>
              <a:t>秘書（今後配置）</a:t>
            </a:r>
          </a:p>
          <a:p>
            <a:r>
              <a:rPr kumimoji="1" lang="ja-JP" altLang="en-US" sz="1100" b="1">
                <a:solidFill>
                  <a:srgbClr val="1F4E79"/>
                </a:solidFill>
                <a:latin typeface="Meiryo" panose="020B0604030504040204" pitchFamily="50" charset="-128"/>
              </a:rPr>
              <a:t>青 ＝ 人の組織　　オレンジ ＝ </a:t>
            </a:r>
            <a:r>
              <a:rPr kumimoji="1" lang="en-US" altLang="ja-JP" sz="1100" b="1">
                <a:solidFill>
                  <a:srgbClr val="1F4E79"/>
                </a:solidFill>
                <a:latin typeface="Meiryo" panose="020B0604030504040204" pitchFamily="50" charset="-128"/>
              </a:rPr>
              <a:t>AI</a:t>
            </a:r>
            <a:r>
              <a:rPr kumimoji="1" lang="ja-JP" altLang="en-US" sz="1100" b="1">
                <a:solidFill>
                  <a:srgbClr val="1F4E79"/>
                </a:solidFill>
                <a:latin typeface="Meiryo" panose="020B0604030504040204" pitchFamily="50" charset="-128"/>
              </a:rPr>
              <a:t>秘書　　／　五郎が全体の統括役として各秘書を束ねる</a:t>
            </a:r>
          </a:p>
        </p:txBody>
      </p:sp>
    </p:spTree>
    <p:extLst>
      <p:ext uri="{BB962C8B-B14F-4D97-AF65-F5344CB8AC3E}">
        <p14:creationId xmlns:p14="http://schemas.microsoft.com/office/powerpoint/2010/main" val="279599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ユーザー設定</PresentationFormat>
  <Paragraphs>24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shiro yamamoto</dc:creator>
  <cp:lastModifiedBy>shiro yamamoto</cp:lastModifiedBy>
  <cp:revision>1</cp:revision>
  <dcterms:created xsi:type="dcterms:W3CDTF">2026-06-25T02:46:08Z</dcterms:created>
  <dcterms:modified xsi:type="dcterms:W3CDTF">2026-06-25T02:46:08Z</dcterms:modified>
</cp:coreProperties>
</file>
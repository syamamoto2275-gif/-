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26AB89-D672-2846-11CF-C3A4D4362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556E8F-8206-4EC7-CC5A-977924D56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9C5901-4384-016D-6777-9E516D2C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F411D0-4250-CD71-0ED2-2189A838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449ED9-89AF-000E-D17F-F2A8CBDD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34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F69AD4-8DE5-CBB3-BAA7-4B3365CC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D39C50-F275-6001-0919-979D73209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3166FB-C600-717A-DDD1-EDBCC716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389C3D-00D1-F749-963C-DCC61546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AC2EC6-C67F-8FBC-BCDA-429A0CD7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400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DAEC6F-6B31-2EB7-A81D-C265C7943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95C342-3376-F774-8A10-0448DC2FD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9180F4-C9D6-D82D-05F5-9A565D39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26D87B-34E0-B150-A95A-87013D8C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8F33D5-861F-8143-8B90-8CE57B8F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955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436764-48FF-2493-9BA1-287C6BA8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881C31-C9C0-EC81-EF58-7C625DEB9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7CF843-F9B3-0AC6-A5D9-F23466633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F71CFB-6FD0-0146-D899-12BF7E66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1967D3-9C38-C798-0908-20CCEACEC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A27CD0-7D12-0B99-CB08-CB610AF9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589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A6041-01D6-D6FB-E215-D40E1D94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C094AB-784D-B31E-98DA-78C851D2A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8F4418-A0D2-55E8-BE36-4658670E8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E29487-A7DF-FF3B-3433-9B4BF79A3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8307092-AFDD-E427-4B11-031851E4A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0B4134-70DF-D14B-8380-BDF7CB612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4D01C8-FF9B-35D8-9A77-B0BB3787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4DEAB0-C53B-D2CA-0998-CEA64F91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54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A0E498-3F1D-1A4C-B863-6A560937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C83BF31-179C-6F53-7C28-F1C06FC1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1B0951-4DE1-D17F-F5B1-A3FFB430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6F28ED-90F6-4B39-38C4-FCD871C4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777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148AB4C-F59D-358D-EDFE-CF180A2A7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25CCA2-4788-89CA-82EB-FC661DE4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43600F-D3F1-3DF6-05F3-02A7A742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45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E99EFA-04BA-FB8A-C549-FE17F4D8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3BF61-C8E6-AC4C-AE00-32FED76E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BEAD21-A0BF-C461-4BA1-8B6BAF59F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D3E457-B7F2-8CAA-742E-5B84B0CC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20DCC8-4753-FFCA-94CF-2B542DFF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FDC5BB-45C4-8481-CC57-C15CC6CE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21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15C91F-EC43-9B6A-DE9F-533610D3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2ADB9E1-54EE-5134-5350-EAB400CBA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5A2F20-C683-7BC2-D27F-875CD9B2D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B55C73-CBE9-EA92-85A8-EBBFC5249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BD0B77-F0BF-56C5-53CD-029D56AA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1D4761-BF2F-BD61-31CF-D05F21D2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36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E6D9F0-9FC8-F5F9-BC31-B7616EAA0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D8101F-086F-3B7C-C127-90CBFA12C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F150A0-F015-ADEA-261F-DBA9E1DC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10E2A8-62C8-F20B-8DBE-1DE920C0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533165-27E8-C34B-FF79-02D7B692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57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495242-4AF5-EF68-B124-34A8158D2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4AF972-F404-C2B1-70A8-F1B096BA8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A338E6-F417-195B-471D-DBA6CA57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AEE85A-72AA-2D24-9397-80456FD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7F6595-7199-C682-B38F-C25D697A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43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918C90C-2864-3097-7771-B691DE30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AC7DD3-43D9-9A3F-61EF-13613047A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44789A-4547-160A-057E-1452E7D13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040A69-A70F-485A-A286-38F15867B5CE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7EF8A1-7170-DF25-16BB-D3AF9795D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6CFF66-7C68-C28A-899A-E36F70051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BF10A-E62A-4A94-BCE3-8AE61E758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22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3385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3385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3386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3386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158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158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3001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3001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2759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2759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85BA667E-2550-C4DE-F44C-7A211E163EAB}"/>
              </a:ext>
            </a:extLst>
          </p:cNvPr>
          <p:cNvSpPr/>
          <p:nvPr/>
        </p:nvSpPr>
        <p:spPr>
          <a:xfrm>
            <a:off x="9652000" y="-1524000"/>
            <a:ext cx="5334000" cy="5334000"/>
          </a:xfrm>
          <a:prstGeom prst="ellipse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865F11-C093-B8EF-5D88-9A84E63C2D40}"/>
              </a:ext>
            </a:extLst>
          </p:cNvPr>
          <p:cNvSpPr/>
          <p:nvPr/>
        </p:nvSpPr>
        <p:spPr>
          <a:xfrm>
            <a:off x="-1778000" y="4572000"/>
            <a:ext cx="4572000" cy="4572000"/>
          </a:xfrm>
          <a:prstGeom prst="ellipse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9E6C3DF1-5203-FAF0-E5C6-80118CA449B8}"/>
              </a:ext>
            </a:extLst>
          </p:cNvPr>
          <p:cNvSpPr/>
          <p:nvPr/>
        </p:nvSpPr>
        <p:spPr>
          <a:xfrm>
            <a:off x="762000" y="812800"/>
            <a:ext cx="812800" cy="8128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59B643-23D9-FF76-2B45-59AF8C49B43E}"/>
              </a:ext>
            </a:extLst>
          </p:cNvPr>
          <p:cNvSpPr txBox="1"/>
          <p:nvPr/>
        </p:nvSpPr>
        <p:spPr>
          <a:xfrm>
            <a:off x="762000" y="762000"/>
            <a:ext cx="76200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600">
                <a:solidFill>
                  <a:srgbClr val="CADCFC"/>
                </a:solidFill>
                <a:latin typeface="Meiryo" panose="020B0604030504040204" pitchFamily="50" charset="-128"/>
              </a:rPr>
              <a:t>五郎レポート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CDC903-3CBB-7514-1826-274AEE39F34B}"/>
              </a:ext>
            </a:extLst>
          </p:cNvPr>
          <p:cNvSpPr txBox="1"/>
          <p:nvPr/>
        </p:nvSpPr>
        <p:spPr>
          <a:xfrm>
            <a:off x="762000" y="2133600"/>
            <a:ext cx="109220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3800" b="1">
                <a:solidFill>
                  <a:srgbClr val="FFFFFF"/>
                </a:solidFill>
                <a:latin typeface="Meiryo" panose="020B0604030504040204" pitchFamily="50" charset="-128"/>
              </a:rPr>
              <a:t>紗衣の 高校さがし ＜私立・食堂編・くわしく版＞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2BC1B6-39B3-2496-B1EF-B56F7FFDD0EA}"/>
              </a:ext>
            </a:extLst>
          </p:cNvPr>
          <p:cNvSpPr txBox="1"/>
          <p:nvPr/>
        </p:nvSpPr>
        <p:spPr>
          <a:xfrm>
            <a:off x="812800" y="3810000"/>
            <a:ext cx="109220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600">
                <a:solidFill>
                  <a:srgbClr val="CADCFC"/>
                </a:solidFill>
                <a:latin typeface="Meiryo" panose="020B0604030504040204" pitchFamily="50" charset="-128"/>
              </a:rPr>
              <a:t>食堂が使える私立・共学</a:t>
            </a:r>
            <a:r>
              <a:rPr kumimoji="1" lang="en-US" altLang="ja-JP" sz="1600">
                <a:solidFill>
                  <a:srgbClr val="CADCFC"/>
                </a:solidFill>
                <a:latin typeface="Meiryo" panose="020B0604030504040204" pitchFamily="50" charset="-128"/>
              </a:rPr>
              <a:t>5</a:t>
            </a:r>
            <a:r>
              <a:rPr kumimoji="1" lang="ja-JP" altLang="en-US" sz="1600">
                <a:solidFill>
                  <a:srgbClr val="CADCFC"/>
                </a:solidFill>
                <a:latin typeface="Meiryo" panose="020B0604030504040204" pitchFamily="50" charset="-128"/>
              </a:rPr>
              <a:t>校（北区から通えるエリア）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26FBD4-96FB-3BE6-3AD5-A30E5A7105A0}"/>
              </a:ext>
            </a:extLst>
          </p:cNvPr>
          <p:cNvSpPr txBox="1"/>
          <p:nvPr/>
        </p:nvSpPr>
        <p:spPr>
          <a:xfrm>
            <a:off x="762000" y="5969000"/>
            <a:ext cx="10922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作成：五郎（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AI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秘書）　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年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6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月　自宅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PC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（名古屋市北区鳩岡）にて</a:t>
            </a:r>
          </a:p>
        </p:txBody>
      </p:sp>
    </p:spTree>
    <p:extLst>
      <p:ext uri="{BB962C8B-B14F-4D97-AF65-F5344CB8AC3E}">
        <p14:creationId xmlns:p14="http://schemas.microsoft.com/office/powerpoint/2010/main" val="44408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E7DB8E-8C72-91AF-FADE-3FD78E40FC2D}"/>
              </a:ext>
            </a:extLst>
          </p:cNvPr>
          <p:cNvSpPr txBox="1"/>
          <p:nvPr/>
        </p:nvSpPr>
        <p:spPr>
          <a:xfrm>
            <a:off x="508000" y="381000"/>
            <a:ext cx="11176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3000" b="1">
                <a:solidFill>
                  <a:srgbClr val="1E2761"/>
                </a:solidFill>
                <a:latin typeface="Meiryo" panose="020B0604030504040204" pitchFamily="50" charset="-128"/>
              </a:rPr>
              <a:t>さがした条件（</a:t>
            </a:r>
            <a:r>
              <a:rPr kumimoji="1" lang="en-US" altLang="ja-JP" sz="3000" b="1">
                <a:solidFill>
                  <a:srgbClr val="1E2761"/>
                </a:solidFill>
                <a:latin typeface="Meiryo" panose="020B0604030504040204" pitchFamily="50" charset="-128"/>
              </a:rPr>
              <a:t>6</a:t>
            </a:r>
            <a:r>
              <a:rPr kumimoji="1" lang="ja-JP" altLang="en-US" sz="3000" b="1">
                <a:solidFill>
                  <a:srgbClr val="1E2761"/>
                </a:solidFill>
                <a:latin typeface="Meiryo" panose="020B0604030504040204" pitchFamily="50" charset="-128"/>
              </a:rPr>
              <a:t>つ ＋ エリア）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290FF2A-CBF2-75C9-C6B5-DB2E71215BDE}"/>
              </a:ext>
            </a:extLst>
          </p:cNvPr>
          <p:cNvSpPr/>
          <p:nvPr/>
        </p:nvSpPr>
        <p:spPr>
          <a:xfrm>
            <a:off x="508000" y="1168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627EEEE7-05F5-B602-7251-4B6CF90C5E3B}"/>
              </a:ext>
            </a:extLst>
          </p:cNvPr>
          <p:cNvSpPr/>
          <p:nvPr/>
        </p:nvSpPr>
        <p:spPr>
          <a:xfrm>
            <a:off x="736600" y="1397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7436E7-4BB7-9972-0070-A96A8D403F5C}"/>
              </a:ext>
            </a:extLst>
          </p:cNvPr>
          <p:cNvSpPr txBox="1"/>
          <p:nvPr/>
        </p:nvSpPr>
        <p:spPr>
          <a:xfrm>
            <a:off x="736600" y="1373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DFE12A-5037-2954-92AB-8AB2E40B1D44}"/>
              </a:ext>
            </a:extLst>
          </p:cNvPr>
          <p:cNvSpPr txBox="1"/>
          <p:nvPr/>
        </p:nvSpPr>
        <p:spPr>
          <a:xfrm>
            <a:off x="1422400" y="1404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私立・共学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150D82-6C1C-E717-D395-A9E78E61A92B}"/>
              </a:ext>
            </a:extLst>
          </p:cNvPr>
          <p:cNvSpPr txBox="1"/>
          <p:nvPr/>
        </p:nvSpPr>
        <p:spPr>
          <a:xfrm>
            <a:off x="762000" y="2006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私立の男女共学校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96C7E71-F146-A9F2-1B38-3253FF17E728}"/>
              </a:ext>
            </a:extLst>
          </p:cNvPr>
          <p:cNvSpPr/>
          <p:nvPr/>
        </p:nvSpPr>
        <p:spPr>
          <a:xfrm>
            <a:off x="4318000" y="1168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803DA7E-7337-2B33-D3E8-D4E0BB320FD3}"/>
              </a:ext>
            </a:extLst>
          </p:cNvPr>
          <p:cNvSpPr/>
          <p:nvPr/>
        </p:nvSpPr>
        <p:spPr>
          <a:xfrm>
            <a:off x="4546600" y="1397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EA169B-8162-B131-76AC-28056F3CACB6}"/>
              </a:ext>
            </a:extLst>
          </p:cNvPr>
          <p:cNvSpPr txBox="1"/>
          <p:nvPr/>
        </p:nvSpPr>
        <p:spPr>
          <a:xfrm>
            <a:off x="4546600" y="1373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E16C54-BF35-C57B-6A33-9D9FCAAF7AA6}"/>
              </a:ext>
            </a:extLst>
          </p:cNvPr>
          <p:cNvSpPr txBox="1"/>
          <p:nvPr/>
        </p:nvSpPr>
        <p:spPr>
          <a:xfrm>
            <a:off x="5232400" y="1404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偏差値 </a:t>
            </a:r>
            <a:r>
              <a:rPr kumimoji="1" lang="en-US" altLang="ja-JP" sz="1700" b="1">
                <a:solidFill>
                  <a:srgbClr val="1E2761"/>
                </a:solidFill>
                <a:latin typeface="Meiryo" panose="020B0604030504040204" pitchFamily="50" charset="-128"/>
              </a:rPr>
              <a:t>50</a:t>
            </a:r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前後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D00B7A-564F-96A6-48C0-66EDDB069BC6}"/>
              </a:ext>
            </a:extLst>
          </p:cNvPr>
          <p:cNvSpPr txBox="1"/>
          <p:nvPr/>
        </p:nvSpPr>
        <p:spPr>
          <a:xfrm>
            <a:off x="4572000" y="2006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学力・内申の目安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416EBF0-E9CF-CD6D-E311-DB4BD49FC18C}"/>
              </a:ext>
            </a:extLst>
          </p:cNvPr>
          <p:cNvSpPr/>
          <p:nvPr/>
        </p:nvSpPr>
        <p:spPr>
          <a:xfrm>
            <a:off x="8128000" y="1168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5359F9C-5A57-411A-0ECC-256E5D0498F1}"/>
              </a:ext>
            </a:extLst>
          </p:cNvPr>
          <p:cNvSpPr/>
          <p:nvPr/>
        </p:nvSpPr>
        <p:spPr>
          <a:xfrm>
            <a:off x="8356600" y="1397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1B8C398-3E8B-40F3-07B2-3F84B2CE919E}"/>
              </a:ext>
            </a:extLst>
          </p:cNvPr>
          <p:cNvSpPr txBox="1"/>
          <p:nvPr/>
        </p:nvSpPr>
        <p:spPr>
          <a:xfrm>
            <a:off x="8356600" y="1373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3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A298C74-40B3-8A80-C822-35B633924A48}"/>
              </a:ext>
            </a:extLst>
          </p:cNvPr>
          <p:cNvSpPr txBox="1"/>
          <p:nvPr/>
        </p:nvSpPr>
        <p:spPr>
          <a:xfrm>
            <a:off x="9042400" y="1404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食堂・学食がある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50BD3AB-3A3B-209B-0DC0-EB1FFEF439D9}"/>
              </a:ext>
            </a:extLst>
          </p:cNvPr>
          <p:cNvSpPr txBox="1"/>
          <p:nvPr/>
        </p:nvSpPr>
        <p:spPr>
          <a:xfrm>
            <a:off x="8382000" y="2006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校内や系列大で温かい昼食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B4FB2BC-E7A5-9E0F-1739-FAE2F88E7E5D}"/>
              </a:ext>
            </a:extLst>
          </p:cNvPr>
          <p:cNvSpPr/>
          <p:nvPr/>
        </p:nvSpPr>
        <p:spPr>
          <a:xfrm>
            <a:off x="508000" y="2819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5FEAC29D-4271-0877-E72E-88F1256C6E97}"/>
              </a:ext>
            </a:extLst>
          </p:cNvPr>
          <p:cNvSpPr/>
          <p:nvPr/>
        </p:nvSpPr>
        <p:spPr>
          <a:xfrm>
            <a:off x="736600" y="3048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B25FBCA-7BC8-FD36-F9A8-5655FE7D8B79}"/>
              </a:ext>
            </a:extLst>
          </p:cNvPr>
          <p:cNvSpPr txBox="1"/>
          <p:nvPr/>
        </p:nvSpPr>
        <p:spPr>
          <a:xfrm>
            <a:off x="736600" y="3024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4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9B84404-60FC-7D40-4DCB-F50DF23C226B}"/>
              </a:ext>
            </a:extLst>
          </p:cNvPr>
          <p:cNvSpPr txBox="1"/>
          <p:nvPr/>
        </p:nvSpPr>
        <p:spPr>
          <a:xfrm>
            <a:off x="1422400" y="3055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部活・行事が活発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D8CEBF1-92D1-E883-BDE0-C65BC4B898EB}"/>
              </a:ext>
            </a:extLst>
          </p:cNvPr>
          <p:cNvSpPr txBox="1"/>
          <p:nvPr/>
        </p:nvSpPr>
        <p:spPr>
          <a:xfrm>
            <a:off x="762000" y="3657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打ち込める部活・楽しい行事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A6ECF47-9926-79DF-59E4-F24EA6438862}"/>
              </a:ext>
            </a:extLst>
          </p:cNvPr>
          <p:cNvSpPr/>
          <p:nvPr/>
        </p:nvSpPr>
        <p:spPr>
          <a:xfrm>
            <a:off x="4318000" y="2819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C767122F-2148-D789-6854-9B8EDBEB5825}"/>
              </a:ext>
            </a:extLst>
          </p:cNvPr>
          <p:cNvSpPr/>
          <p:nvPr/>
        </p:nvSpPr>
        <p:spPr>
          <a:xfrm>
            <a:off x="4546600" y="3048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982EE8-45FD-D5FF-7E78-37EED3C0A354}"/>
              </a:ext>
            </a:extLst>
          </p:cNvPr>
          <p:cNvSpPr txBox="1"/>
          <p:nvPr/>
        </p:nvSpPr>
        <p:spPr>
          <a:xfrm>
            <a:off x="4546600" y="3024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5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B0EAD74-428B-3CC4-352C-9D8F552B3C06}"/>
              </a:ext>
            </a:extLst>
          </p:cNvPr>
          <p:cNvSpPr txBox="1"/>
          <p:nvPr/>
        </p:nvSpPr>
        <p:spPr>
          <a:xfrm>
            <a:off x="5232400" y="3055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評判・特色がいい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E8E4026-4091-93A8-2FDA-CD67EC7E4BF4}"/>
              </a:ext>
            </a:extLst>
          </p:cNvPr>
          <p:cNvSpPr txBox="1"/>
          <p:nvPr/>
        </p:nvSpPr>
        <p:spPr>
          <a:xfrm>
            <a:off x="4572000" y="3657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通ってよかったと思える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1FA4CBB7-37E0-EECB-3F6C-78BA5FDF980B}"/>
              </a:ext>
            </a:extLst>
          </p:cNvPr>
          <p:cNvSpPr/>
          <p:nvPr/>
        </p:nvSpPr>
        <p:spPr>
          <a:xfrm>
            <a:off x="8128000" y="2819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54E5E762-B1E9-577D-8F57-B94B4905B39E}"/>
              </a:ext>
            </a:extLst>
          </p:cNvPr>
          <p:cNvSpPr/>
          <p:nvPr/>
        </p:nvSpPr>
        <p:spPr>
          <a:xfrm>
            <a:off x="8356600" y="3048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86B03EE-5DCE-0667-36C0-844E3DA862B9}"/>
              </a:ext>
            </a:extLst>
          </p:cNvPr>
          <p:cNvSpPr txBox="1"/>
          <p:nvPr/>
        </p:nvSpPr>
        <p:spPr>
          <a:xfrm>
            <a:off x="8356600" y="3024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6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C5DF10F-F2CF-59E4-5DE8-8012A08D5C6F}"/>
              </a:ext>
            </a:extLst>
          </p:cNvPr>
          <p:cNvSpPr txBox="1"/>
          <p:nvPr/>
        </p:nvSpPr>
        <p:spPr>
          <a:xfrm>
            <a:off x="9042400" y="3055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通いやすい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4E0F8E3-F563-2E0E-CAA4-F59B71190981}"/>
              </a:ext>
            </a:extLst>
          </p:cNvPr>
          <p:cNvSpPr txBox="1"/>
          <p:nvPr/>
        </p:nvSpPr>
        <p:spPr>
          <a:xfrm>
            <a:off x="8382000" y="3657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自宅</a:t>
            </a:r>
            <a:r>
              <a:rPr kumimoji="1" lang="en-US" altLang="ja-JP" sz="13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北区</a:t>
            </a:r>
            <a:r>
              <a:rPr kumimoji="1" lang="en-US" altLang="ja-JP" sz="13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から通えること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7A53DA1C-5683-AAA4-4120-F08A534A0AB8}"/>
              </a:ext>
            </a:extLst>
          </p:cNvPr>
          <p:cNvSpPr/>
          <p:nvPr/>
        </p:nvSpPr>
        <p:spPr>
          <a:xfrm>
            <a:off x="508000" y="4724400"/>
            <a:ext cx="11176000" cy="8382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A0B94C1-8B94-10CA-497F-B9EE54815722}"/>
              </a:ext>
            </a:extLst>
          </p:cNvPr>
          <p:cNvSpPr txBox="1"/>
          <p:nvPr/>
        </p:nvSpPr>
        <p:spPr>
          <a:xfrm>
            <a:off x="762000" y="4632067"/>
            <a:ext cx="1079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エリア：自宅＝名古屋市北区鳩岡。地下鉄「黒川」駅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名城線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／名鉄小牧線「上飯田」／市バスはバス停「城北小学校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北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」を起点に通学。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908AD10-BEFC-2869-4901-FD854E7B6B9B}"/>
              </a:ext>
            </a:extLst>
          </p:cNvPr>
          <p:cNvSpPr txBox="1"/>
          <p:nvPr/>
        </p:nvSpPr>
        <p:spPr>
          <a:xfrm>
            <a:off x="508000" y="57404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各校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2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ページ構成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(①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基本・進学・制服 ②部活動・校風校則・口コミ・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日程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。偏差値・評判・日程は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年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6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月時点の目安。最新は各校公式で確認を。</a:t>
            </a:r>
          </a:p>
        </p:txBody>
      </p:sp>
    </p:spTree>
    <p:extLst>
      <p:ext uri="{BB962C8B-B14F-4D97-AF65-F5344CB8AC3E}">
        <p14:creationId xmlns:p14="http://schemas.microsoft.com/office/powerpoint/2010/main" val="146532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6227A1-287D-4E24-2F8B-943C4374B380}"/>
              </a:ext>
            </a:extLst>
          </p:cNvPr>
          <p:cNvSpPr txBox="1"/>
          <p:nvPr/>
        </p:nvSpPr>
        <p:spPr>
          <a:xfrm>
            <a:off x="508000" y="355600"/>
            <a:ext cx="111760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2200" b="1">
                <a:solidFill>
                  <a:srgbClr val="1E2761"/>
                </a:solidFill>
                <a:latin typeface="Meiryo" panose="020B0604030504040204" pitchFamily="50" charset="-128"/>
              </a:rPr>
              <a:t>食堂が使える私立・共学</a:t>
            </a:r>
            <a:r>
              <a:rPr kumimoji="1" lang="en-US" altLang="ja-JP" sz="2200" b="1">
                <a:solidFill>
                  <a:srgbClr val="1E2761"/>
                </a:solidFill>
                <a:latin typeface="Meiryo" panose="020B0604030504040204" pitchFamily="50" charset="-128"/>
              </a:rPr>
              <a:t>5</a:t>
            </a:r>
            <a:r>
              <a:rPr kumimoji="1" lang="ja-JP" altLang="en-US" sz="2200" b="1">
                <a:solidFill>
                  <a:srgbClr val="1E2761"/>
                </a:solidFill>
                <a:latin typeface="Meiryo" panose="020B0604030504040204" pitchFamily="50" charset="-128"/>
              </a:rPr>
              <a:t>校（北区から通えるエリア）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6376B9-3F77-6E82-D4DF-0F5C5B3CCED3}"/>
              </a:ext>
            </a:extLst>
          </p:cNvPr>
          <p:cNvSpPr/>
          <p:nvPr/>
        </p:nvSpPr>
        <p:spPr>
          <a:xfrm>
            <a:off x="508000" y="1117600"/>
            <a:ext cx="2667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74DB3E-150D-86E6-8E29-D12EA211E0DF}"/>
              </a:ext>
            </a:extLst>
          </p:cNvPr>
          <p:cNvSpPr txBox="1"/>
          <p:nvPr/>
        </p:nvSpPr>
        <p:spPr>
          <a:xfrm>
            <a:off x="508000" y="1148377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学校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322F56C-DF4C-6E41-166C-C85F5518639B}"/>
              </a:ext>
            </a:extLst>
          </p:cNvPr>
          <p:cNvSpPr/>
          <p:nvPr/>
        </p:nvSpPr>
        <p:spPr>
          <a:xfrm>
            <a:off x="3175000" y="1117600"/>
            <a:ext cx="1397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AC2A68B-0FC8-E7A3-D237-E4950704C9F5}"/>
              </a:ext>
            </a:extLst>
          </p:cNvPr>
          <p:cNvSpPr txBox="1"/>
          <p:nvPr/>
        </p:nvSpPr>
        <p:spPr>
          <a:xfrm>
            <a:off x="3175000" y="1148377"/>
            <a:ext cx="139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区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AFA71AF-BD34-4D13-0DB8-E8C5410F39B0}"/>
              </a:ext>
            </a:extLst>
          </p:cNvPr>
          <p:cNvSpPr/>
          <p:nvPr/>
        </p:nvSpPr>
        <p:spPr>
          <a:xfrm>
            <a:off x="4572000" y="1117600"/>
            <a:ext cx="1524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535A10E-9CBC-1DC3-3501-4CE14FF46F10}"/>
              </a:ext>
            </a:extLst>
          </p:cNvPr>
          <p:cNvSpPr txBox="1"/>
          <p:nvPr/>
        </p:nvSpPr>
        <p:spPr>
          <a:xfrm>
            <a:off x="4572000" y="1148377"/>
            <a:ext cx="1524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偏差値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7725D16-622C-CCB8-0DA8-2B15F5EA67D0}"/>
              </a:ext>
            </a:extLst>
          </p:cNvPr>
          <p:cNvSpPr/>
          <p:nvPr/>
        </p:nvSpPr>
        <p:spPr>
          <a:xfrm>
            <a:off x="6096000" y="1117600"/>
            <a:ext cx="1905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3FBCF97-2B9C-E690-CE4A-38BF838621BB}"/>
              </a:ext>
            </a:extLst>
          </p:cNvPr>
          <p:cNvSpPr txBox="1"/>
          <p:nvPr/>
        </p:nvSpPr>
        <p:spPr>
          <a:xfrm>
            <a:off x="6096000" y="1148377"/>
            <a:ext cx="190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食堂・昼食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C7CB09-A137-E7F0-5B48-97B88F373F6F}"/>
              </a:ext>
            </a:extLst>
          </p:cNvPr>
          <p:cNvSpPr/>
          <p:nvPr/>
        </p:nvSpPr>
        <p:spPr>
          <a:xfrm>
            <a:off x="8001000" y="1117600"/>
            <a:ext cx="1143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8F2D7C7-0F64-E9D6-B366-09C86B2C6B10}"/>
              </a:ext>
            </a:extLst>
          </p:cNvPr>
          <p:cNvSpPr txBox="1"/>
          <p:nvPr/>
        </p:nvSpPr>
        <p:spPr>
          <a:xfrm>
            <a:off x="8001000" y="1148377"/>
            <a:ext cx="1143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評判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F534474-720B-57FD-A49A-A0CF24863DEA}"/>
              </a:ext>
            </a:extLst>
          </p:cNvPr>
          <p:cNvSpPr/>
          <p:nvPr/>
        </p:nvSpPr>
        <p:spPr>
          <a:xfrm>
            <a:off x="9144000" y="1117600"/>
            <a:ext cx="1651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EF7AAC9-51E6-DF63-A620-1F563515F89D}"/>
              </a:ext>
            </a:extLst>
          </p:cNvPr>
          <p:cNvSpPr txBox="1"/>
          <p:nvPr/>
        </p:nvSpPr>
        <p:spPr>
          <a:xfrm>
            <a:off x="9144000" y="1148377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通学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CD10C04-7A9C-1BB8-C7EE-C7135A2C55C7}"/>
              </a:ext>
            </a:extLst>
          </p:cNvPr>
          <p:cNvSpPr/>
          <p:nvPr/>
        </p:nvSpPr>
        <p:spPr>
          <a:xfrm>
            <a:off x="508000" y="1600200"/>
            <a:ext cx="266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C6AA2E7-6AF5-76A4-1A1B-403CCB6412A5}"/>
              </a:ext>
            </a:extLst>
          </p:cNvPr>
          <p:cNvSpPr/>
          <p:nvPr/>
        </p:nvSpPr>
        <p:spPr>
          <a:xfrm>
            <a:off x="609600" y="1892300"/>
            <a:ext cx="152400" cy="152400"/>
          </a:xfrm>
          <a:prstGeom prst="ellipse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85486E4-3F08-7D75-DDF7-DA580143B017}"/>
              </a:ext>
            </a:extLst>
          </p:cNvPr>
          <p:cNvSpPr txBox="1"/>
          <p:nvPr/>
        </p:nvSpPr>
        <p:spPr>
          <a:xfrm>
            <a:off x="838200" y="16463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名経大 市邨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D6094D0-2720-D6AE-F991-BA61BB85ED5E}"/>
              </a:ext>
            </a:extLst>
          </p:cNvPr>
          <p:cNvSpPr/>
          <p:nvPr/>
        </p:nvSpPr>
        <p:spPr>
          <a:xfrm>
            <a:off x="3175000" y="1600200"/>
            <a:ext cx="139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B20ECB2-FC3F-E58A-498C-5FFDC6CEC0E1}"/>
              </a:ext>
            </a:extLst>
          </p:cNvPr>
          <p:cNvSpPr txBox="1"/>
          <p:nvPr/>
        </p:nvSpPr>
        <p:spPr>
          <a:xfrm>
            <a:off x="3175000" y="16463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千種区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9EE3AFC-B9DC-A311-C41F-1D4B50E9B995}"/>
              </a:ext>
            </a:extLst>
          </p:cNvPr>
          <p:cNvSpPr/>
          <p:nvPr/>
        </p:nvSpPr>
        <p:spPr>
          <a:xfrm>
            <a:off x="4572000" y="1600200"/>
            <a:ext cx="1524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8185F74-63A2-9304-5151-F6DA75E34139}"/>
              </a:ext>
            </a:extLst>
          </p:cNvPr>
          <p:cNvSpPr txBox="1"/>
          <p:nvPr/>
        </p:nvSpPr>
        <p:spPr>
          <a:xfrm>
            <a:off x="4572000" y="16232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D35400"/>
                </a:solidFill>
                <a:latin typeface="Meiryo" panose="020B0604030504040204" pitchFamily="50" charset="-128"/>
              </a:rPr>
              <a:t>44-57</a:t>
            </a:r>
            <a:endParaRPr kumimoji="1" lang="ja-JP" altLang="en-US" sz="1500" b="1">
              <a:solidFill>
                <a:srgbClr val="D35400"/>
              </a:solidFill>
              <a:latin typeface="Meiryo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4B36AA9-7DED-55E7-17DE-F19C0953C2EA}"/>
              </a:ext>
            </a:extLst>
          </p:cNvPr>
          <p:cNvSpPr/>
          <p:nvPr/>
        </p:nvSpPr>
        <p:spPr>
          <a:xfrm>
            <a:off x="6096000" y="1600200"/>
            <a:ext cx="1905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4ADC985-361E-3A9B-8026-304D57D53806}"/>
              </a:ext>
            </a:extLst>
          </p:cNvPr>
          <p:cNvSpPr txBox="1"/>
          <p:nvPr/>
        </p:nvSpPr>
        <p:spPr>
          <a:xfrm>
            <a:off x="6096000" y="16463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1E7A43"/>
                </a:solidFill>
                <a:latin typeface="Meiryo" panose="020B0604030504040204" pitchFamily="50" charset="-128"/>
              </a:rPr>
              <a:t>さくら食堂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03FF232-BF75-75D4-E65E-0987B788D44E}"/>
              </a:ext>
            </a:extLst>
          </p:cNvPr>
          <p:cNvSpPr/>
          <p:nvPr/>
        </p:nvSpPr>
        <p:spPr>
          <a:xfrm>
            <a:off x="8001000" y="1600200"/>
            <a:ext cx="114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9B5197A-8EE3-AD27-3383-7A9AFA050FF3}"/>
              </a:ext>
            </a:extLst>
          </p:cNvPr>
          <p:cNvSpPr txBox="1"/>
          <p:nvPr/>
        </p:nvSpPr>
        <p:spPr>
          <a:xfrm>
            <a:off x="8001000" y="16463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3.2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4E75D86-F76F-3C0B-3FF4-A7D248EFE2E7}"/>
              </a:ext>
            </a:extLst>
          </p:cNvPr>
          <p:cNvSpPr/>
          <p:nvPr/>
        </p:nvSpPr>
        <p:spPr>
          <a:xfrm>
            <a:off x="9144000" y="1600200"/>
            <a:ext cx="1651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FD0E575-610F-8E3D-705E-4DA0350C29FF}"/>
              </a:ext>
            </a:extLst>
          </p:cNvPr>
          <p:cNvSpPr txBox="1"/>
          <p:nvPr/>
        </p:nvSpPr>
        <p:spPr>
          <a:xfrm>
            <a:off x="9144000" y="16463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◎千種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DA2C34C-4352-A97E-7B5C-652998343D5B}"/>
              </a:ext>
            </a:extLst>
          </p:cNvPr>
          <p:cNvSpPr/>
          <p:nvPr/>
        </p:nvSpPr>
        <p:spPr>
          <a:xfrm>
            <a:off x="508000" y="2336800"/>
            <a:ext cx="266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E6F1B7D6-69CA-A8A1-1DE5-CA477F29021A}"/>
              </a:ext>
            </a:extLst>
          </p:cNvPr>
          <p:cNvSpPr/>
          <p:nvPr/>
        </p:nvSpPr>
        <p:spPr>
          <a:xfrm>
            <a:off x="609600" y="2628900"/>
            <a:ext cx="152400" cy="152400"/>
          </a:xfrm>
          <a:prstGeom prst="ellipse">
            <a:avLst/>
          </a:prstGeom>
          <a:solidFill>
            <a:srgbClr val="1F6F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7C800ED-D978-1362-6E30-7DCB4F8A81EC}"/>
              </a:ext>
            </a:extLst>
          </p:cNvPr>
          <p:cNvSpPr txBox="1"/>
          <p:nvPr/>
        </p:nvSpPr>
        <p:spPr>
          <a:xfrm>
            <a:off x="838200" y="23829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名経大 高蔵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0542D84-02DA-EB0F-069F-CEC29B9F48F0}"/>
              </a:ext>
            </a:extLst>
          </p:cNvPr>
          <p:cNvSpPr/>
          <p:nvPr/>
        </p:nvSpPr>
        <p:spPr>
          <a:xfrm>
            <a:off x="3175000" y="2336800"/>
            <a:ext cx="139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DDA6C8A-7FED-5277-8C51-ABBD07E0EB35}"/>
              </a:ext>
            </a:extLst>
          </p:cNvPr>
          <p:cNvSpPr txBox="1"/>
          <p:nvPr/>
        </p:nvSpPr>
        <p:spPr>
          <a:xfrm>
            <a:off x="3175000" y="23829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瑞穂区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98D6930-1F2D-5A7B-CB3E-2B88044320D6}"/>
              </a:ext>
            </a:extLst>
          </p:cNvPr>
          <p:cNvSpPr/>
          <p:nvPr/>
        </p:nvSpPr>
        <p:spPr>
          <a:xfrm>
            <a:off x="4572000" y="2336800"/>
            <a:ext cx="1524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6F54196-DB70-D65E-F648-FE647EB06C68}"/>
              </a:ext>
            </a:extLst>
          </p:cNvPr>
          <p:cNvSpPr txBox="1"/>
          <p:nvPr/>
        </p:nvSpPr>
        <p:spPr>
          <a:xfrm>
            <a:off x="4572000" y="23598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1F6F8C"/>
                </a:solidFill>
                <a:latin typeface="Meiryo" panose="020B0604030504040204" pitchFamily="50" charset="-128"/>
              </a:rPr>
              <a:t>49-55</a:t>
            </a:r>
            <a:endParaRPr kumimoji="1" lang="ja-JP" altLang="en-US" sz="1500" b="1">
              <a:solidFill>
                <a:srgbClr val="1F6F8C"/>
              </a:solidFill>
              <a:latin typeface="Meiryo" panose="020B0604030504040204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3711492-5C33-73C6-78B0-450146ED8B91}"/>
              </a:ext>
            </a:extLst>
          </p:cNvPr>
          <p:cNvSpPr/>
          <p:nvPr/>
        </p:nvSpPr>
        <p:spPr>
          <a:xfrm>
            <a:off x="6096000" y="2336800"/>
            <a:ext cx="1905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48593EB-EB7F-DF62-364C-F5ED3D18E1BC}"/>
              </a:ext>
            </a:extLst>
          </p:cNvPr>
          <p:cNvSpPr txBox="1"/>
          <p:nvPr/>
        </p:nvSpPr>
        <p:spPr>
          <a:xfrm>
            <a:off x="6096000" y="23829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1E7A43"/>
                </a:solidFill>
                <a:latin typeface="Meiryo" panose="020B0604030504040204" pitchFamily="50" charset="-128"/>
              </a:rPr>
              <a:t>メリア食堂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C75DC50-8A47-F018-4550-96411D1787F3}"/>
              </a:ext>
            </a:extLst>
          </p:cNvPr>
          <p:cNvSpPr/>
          <p:nvPr/>
        </p:nvSpPr>
        <p:spPr>
          <a:xfrm>
            <a:off x="8001000" y="2336800"/>
            <a:ext cx="1143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6E45C93-BFE2-7DF0-AE08-7E5A929C1D18}"/>
              </a:ext>
            </a:extLst>
          </p:cNvPr>
          <p:cNvSpPr txBox="1"/>
          <p:nvPr/>
        </p:nvSpPr>
        <p:spPr>
          <a:xfrm>
            <a:off x="8001000" y="23829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-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0C910DE-076A-4612-DE90-01063A4342A6}"/>
              </a:ext>
            </a:extLst>
          </p:cNvPr>
          <p:cNvSpPr/>
          <p:nvPr/>
        </p:nvSpPr>
        <p:spPr>
          <a:xfrm>
            <a:off x="9144000" y="2336800"/>
            <a:ext cx="1651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8386B7A-8B42-EAB9-0209-CA79F1064E7D}"/>
              </a:ext>
            </a:extLst>
          </p:cNvPr>
          <p:cNvSpPr txBox="1"/>
          <p:nvPr/>
        </p:nvSpPr>
        <p:spPr>
          <a:xfrm>
            <a:off x="9144000" y="23829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◎瑞穂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2FC4AF3-5511-3709-900F-859CC324F291}"/>
              </a:ext>
            </a:extLst>
          </p:cNvPr>
          <p:cNvSpPr/>
          <p:nvPr/>
        </p:nvSpPr>
        <p:spPr>
          <a:xfrm>
            <a:off x="508000" y="3073400"/>
            <a:ext cx="266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A3915F9A-A138-56D6-2B1F-843E71133C44}"/>
              </a:ext>
            </a:extLst>
          </p:cNvPr>
          <p:cNvSpPr/>
          <p:nvPr/>
        </p:nvSpPr>
        <p:spPr>
          <a:xfrm>
            <a:off x="609600" y="3365500"/>
            <a:ext cx="152400" cy="152400"/>
          </a:xfrm>
          <a:prstGeom prst="ellipse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8A4A6B0-BA16-FDCE-040D-C00E9A2E9E31}"/>
              </a:ext>
            </a:extLst>
          </p:cNvPr>
          <p:cNvSpPr txBox="1"/>
          <p:nvPr/>
        </p:nvSpPr>
        <p:spPr>
          <a:xfrm>
            <a:off x="838200" y="31195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愛工大 名電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20F820B-E770-AF9D-C14C-E3B0D6FB5E2C}"/>
              </a:ext>
            </a:extLst>
          </p:cNvPr>
          <p:cNvSpPr/>
          <p:nvPr/>
        </p:nvSpPr>
        <p:spPr>
          <a:xfrm>
            <a:off x="3175000" y="3073400"/>
            <a:ext cx="139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C5D962A-A0AA-D356-4BBC-5D11567D5559}"/>
              </a:ext>
            </a:extLst>
          </p:cNvPr>
          <p:cNvSpPr txBox="1"/>
          <p:nvPr/>
        </p:nvSpPr>
        <p:spPr>
          <a:xfrm>
            <a:off x="3175000" y="31195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千種区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3B98CF8-2AEB-2C5D-3986-480C17BB02B9}"/>
              </a:ext>
            </a:extLst>
          </p:cNvPr>
          <p:cNvSpPr/>
          <p:nvPr/>
        </p:nvSpPr>
        <p:spPr>
          <a:xfrm>
            <a:off x="4572000" y="3073400"/>
            <a:ext cx="1524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02E0481-42CA-0312-B576-9044A9F765C2}"/>
              </a:ext>
            </a:extLst>
          </p:cNvPr>
          <p:cNvSpPr txBox="1"/>
          <p:nvPr/>
        </p:nvSpPr>
        <p:spPr>
          <a:xfrm>
            <a:off x="4572000" y="30964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8E44AD"/>
                </a:solidFill>
                <a:latin typeface="Meiryo" panose="020B0604030504040204" pitchFamily="50" charset="-128"/>
              </a:rPr>
              <a:t>45-65</a:t>
            </a:r>
            <a:endParaRPr kumimoji="1" lang="ja-JP" altLang="en-US" sz="1500" b="1">
              <a:solidFill>
                <a:srgbClr val="8E44AD"/>
              </a:solidFill>
              <a:latin typeface="Meiryo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51BEDFC-F300-B299-35C3-A792A0E4AF52}"/>
              </a:ext>
            </a:extLst>
          </p:cNvPr>
          <p:cNvSpPr/>
          <p:nvPr/>
        </p:nvSpPr>
        <p:spPr>
          <a:xfrm>
            <a:off x="6096000" y="3073400"/>
            <a:ext cx="1905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7C2585CD-2C9C-FA84-61C6-C2E7FF13AF40}"/>
              </a:ext>
            </a:extLst>
          </p:cNvPr>
          <p:cNvSpPr txBox="1"/>
          <p:nvPr/>
        </p:nvSpPr>
        <p:spPr>
          <a:xfrm>
            <a:off x="6096000" y="31195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1E7A43"/>
                </a:solidFill>
                <a:latin typeface="Meiryo" panose="020B0604030504040204" pitchFamily="50" charset="-128"/>
              </a:rPr>
              <a:t>ランチ室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1A3632A3-78A8-1897-080B-A8DE3E48C826}"/>
              </a:ext>
            </a:extLst>
          </p:cNvPr>
          <p:cNvSpPr/>
          <p:nvPr/>
        </p:nvSpPr>
        <p:spPr>
          <a:xfrm>
            <a:off x="8001000" y="3073400"/>
            <a:ext cx="114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01FE4CE-3349-E630-CB30-EDB7DE5498CC}"/>
              </a:ext>
            </a:extLst>
          </p:cNvPr>
          <p:cNvSpPr txBox="1"/>
          <p:nvPr/>
        </p:nvSpPr>
        <p:spPr>
          <a:xfrm>
            <a:off x="8001000" y="31195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3.3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E5D1EF8-6B7A-9A97-8FF1-A33DF3B13068}"/>
              </a:ext>
            </a:extLst>
          </p:cNvPr>
          <p:cNvSpPr/>
          <p:nvPr/>
        </p:nvSpPr>
        <p:spPr>
          <a:xfrm>
            <a:off x="9144000" y="3073400"/>
            <a:ext cx="1651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D38B185-7BE4-CD1D-2CC0-377183F5954A}"/>
              </a:ext>
            </a:extLst>
          </p:cNvPr>
          <p:cNvSpPr txBox="1"/>
          <p:nvPr/>
        </p:nvSpPr>
        <p:spPr>
          <a:xfrm>
            <a:off x="9144000" y="31195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◎砂田橋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43BD1971-ECE4-C840-009C-5E3C68D48C2E}"/>
              </a:ext>
            </a:extLst>
          </p:cNvPr>
          <p:cNvSpPr/>
          <p:nvPr/>
        </p:nvSpPr>
        <p:spPr>
          <a:xfrm>
            <a:off x="508000" y="3810000"/>
            <a:ext cx="266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8CC54820-778E-1777-C38A-55B904734225}"/>
              </a:ext>
            </a:extLst>
          </p:cNvPr>
          <p:cNvSpPr/>
          <p:nvPr/>
        </p:nvSpPr>
        <p:spPr>
          <a:xfrm>
            <a:off x="609600" y="4102100"/>
            <a:ext cx="152400" cy="1524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5733324-85C4-79FF-3AC3-9D6AF9184134}"/>
              </a:ext>
            </a:extLst>
          </p:cNvPr>
          <p:cNvSpPr txBox="1"/>
          <p:nvPr/>
        </p:nvSpPr>
        <p:spPr>
          <a:xfrm>
            <a:off x="838200" y="38561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東邦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E2E77BC-232F-31CB-A334-2D28287A5D81}"/>
              </a:ext>
            </a:extLst>
          </p:cNvPr>
          <p:cNvSpPr/>
          <p:nvPr/>
        </p:nvSpPr>
        <p:spPr>
          <a:xfrm>
            <a:off x="3175000" y="3810000"/>
            <a:ext cx="139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D8EC15F-195A-BC2C-B2E8-6A030DADD6DA}"/>
              </a:ext>
            </a:extLst>
          </p:cNvPr>
          <p:cNvSpPr txBox="1"/>
          <p:nvPr/>
        </p:nvSpPr>
        <p:spPr>
          <a:xfrm>
            <a:off x="3175000" y="38561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名東区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530ED155-ED88-C5B7-A4C4-2DF423748ECC}"/>
              </a:ext>
            </a:extLst>
          </p:cNvPr>
          <p:cNvSpPr/>
          <p:nvPr/>
        </p:nvSpPr>
        <p:spPr>
          <a:xfrm>
            <a:off x="4572000" y="3810000"/>
            <a:ext cx="1524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907D0BCC-0ABE-8044-F497-75C4C0410743}"/>
              </a:ext>
            </a:extLst>
          </p:cNvPr>
          <p:cNvSpPr txBox="1"/>
          <p:nvPr/>
        </p:nvSpPr>
        <p:spPr>
          <a:xfrm>
            <a:off x="4572000" y="38330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C0392B"/>
                </a:solidFill>
                <a:latin typeface="Meiryo" panose="020B0604030504040204" pitchFamily="50" charset="-128"/>
              </a:rPr>
              <a:t>52</a:t>
            </a:r>
            <a:endParaRPr kumimoji="1" lang="ja-JP" altLang="en-US" sz="1500" b="1">
              <a:solidFill>
                <a:srgbClr val="C0392B"/>
              </a:solidFill>
              <a:latin typeface="Meiryo" panose="020B0604030504040204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3E26785-300C-6655-B9A7-0F9A28F77EB9}"/>
              </a:ext>
            </a:extLst>
          </p:cNvPr>
          <p:cNvSpPr/>
          <p:nvPr/>
        </p:nvSpPr>
        <p:spPr>
          <a:xfrm>
            <a:off x="6096000" y="3810000"/>
            <a:ext cx="1905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8960470-3CE0-CB00-A113-EF33F30BDA35}"/>
              </a:ext>
            </a:extLst>
          </p:cNvPr>
          <p:cNvSpPr txBox="1"/>
          <p:nvPr/>
        </p:nvSpPr>
        <p:spPr>
          <a:xfrm>
            <a:off x="6096000" y="38561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1E7A43"/>
                </a:solidFill>
                <a:latin typeface="Meiryo" panose="020B0604030504040204" pitchFamily="50" charset="-128"/>
              </a:rPr>
              <a:t>大学学食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B603A888-3AFE-583E-64B9-970352BBAA5D}"/>
              </a:ext>
            </a:extLst>
          </p:cNvPr>
          <p:cNvSpPr/>
          <p:nvPr/>
        </p:nvSpPr>
        <p:spPr>
          <a:xfrm>
            <a:off x="8001000" y="3810000"/>
            <a:ext cx="1143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FB5175E3-90C5-47CC-7255-423FCE3D285B}"/>
              </a:ext>
            </a:extLst>
          </p:cNvPr>
          <p:cNvSpPr txBox="1"/>
          <p:nvPr/>
        </p:nvSpPr>
        <p:spPr>
          <a:xfrm>
            <a:off x="8001000" y="38561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2.9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158272F-9BBB-7346-B786-D89E68A33416}"/>
              </a:ext>
            </a:extLst>
          </p:cNvPr>
          <p:cNvSpPr/>
          <p:nvPr/>
        </p:nvSpPr>
        <p:spPr>
          <a:xfrm>
            <a:off x="9144000" y="3810000"/>
            <a:ext cx="1651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3314089F-8EDF-BD96-DCA8-34EDFBFA483F}"/>
              </a:ext>
            </a:extLst>
          </p:cNvPr>
          <p:cNvSpPr txBox="1"/>
          <p:nvPr/>
        </p:nvSpPr>
        <p:spPr>
          <a:xfrm>
            <a:off x="9144000" y="38561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○名東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5FA22E5-D33D-8328-4D4F-D0D2AFBF3ADF}"/>
              </a:ext>
            </a:extLst>
          </p:cNvPr>
          <p:cNvSpPr/>
          <p:nvPr/>
        </p:nvSpPr>
        <p:spPr>
          <a:xfrm>
            <a:off x="508000" y="4546600"/>
            <a:ext cx="266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A1221014-DB36-FDA5-B2AE-12D58730A6BE}"/>
              </a:ext>
            </a:extLst>
          </p:cNvPr>
          <p:cNvSpPr/>
          <p:nvPr/>
        </p:nvSpPr>
        <p:spPr>
          <a:xfrm>
            <a:off x="609600" y="4838700"/>
            <a:ext cx="152400" cy="152400"/>
          </a:xfrm>
          <a:prstGeom prst="ellipse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D99E2FC-39B3-646E-B072-E3CB3BA33B29}"/>
              </a:ext>
            </a:extLst>
          </p:cNvPr>
          <p:cNvSpPr txBox="1"/>
          <p:nvPr/>
        </p:nvSpPr>
        <p:spPr>
          <a:xfrm>
            <a:off x="838200" y="45927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東海学園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88EF480F-D1CE-FA96-0D14-B45975805E39}"/>
              </a:ext>
            </a:extLst>
          </p:cNvPr>
          <p:cNvSpPr/>
          <p:nvPr/>
        </p:nvSpPr>
        <p:spPr>
          <a:xfrm>
            <a:off x="3175000" y="4546600"/>
            <a:ext cx="139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6245AF4-A166-7F13-8DCA-42982127C5D1}"/>
              </a:ext>
            </a:extLst>
          </p:cNvPr>
          <p:cNvSpPr txBox="1"/>
          <p:nvPr/>
        </p:nvSpPr>
        <p:spPr>
          <a:xfrm>
            <a:off x="3175000" y="45927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天白区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55E4C38E-082D-8192-7F30-D822ACDC6FD8}"/>
              </a:ext>
            </a:extLst>
          </p:cNvPr>
          <p:cNvSpPr/>
          <p:nvPr/>
        </p:nvSpPr>
        <p:spPr>
          <a:xfrm>
            <a:off x="4572000" y="4546600"/>
            <a:ext cx="1524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028488F6-CF0A-9C6C-E387-4C752CE64CE6}"/>
              </a:ext>
            </a:extLst>
          </p:cNvPr>
          <p:cNvSpPr txBox="1"/>
          <p:nvPr/>
        </p:nvSpPr>
        <p:spPr>
          <a:xfrm>
            <a:off x="4572000" y="45696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2E8B57"/>
                </a:solidFill>
                <a:latin typeface="Meiryo" panose="020B0604030504040204" pitchFamily="50" charset="-128"/>
              </a:rPr>
              <a:t>48-55</a:t>
            </a:r>
            <a:endParaRPr kumimoji="1" lang="ja-JP" altLang="en-US" sz="1500" b="1">
              <a:solidFill>
                <a:srgbClr val="2E8B57"/>
              </a:solidFill>
              <a:latin typeface="Meiryo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C72FD9A0-CF93-849F-12E1-13A285A5430E}"/>
              </a:ext>
            </a:extLst>
          </p:cNvPr>
          <p:cNvSpPr/>
          <p:nvPr/>
        </p:nvSpPr>
        <p:spPr>
          <a:xfrm>
            <a:off x="6096000" y="4546600"/>
            <a:ext cx="1905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81058CE5-FB3E-B7FF-C696-88E0FB497274}"/>
              </a:ext>
            </a:extLst>
          </p:cNvPr>
          <p:cNvSpPr txBox="1"/>
          <p:nvPr/>
        </p:nvSpPr>
        <p:spPr>
          <a:xfrm>
            <a:off x="6096000" y="45927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1E7A43"/>
                </a:solidFill>
                <a:latin typeface="Meiryo" panose="020B0604030504040204" pitchFamily="50" charset="-128"/>
              </a:rPr>
              <a:t>大学学食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08A3CED-AF20-7495-64C9-2AC3C9F48875}"/>
              </a:ext>
            </a:extLst>
          </p:cNvPr>
          <p:cNvSpPr/>
          <p:nvPr/>
        </p:nvSpPr>
        <p:spPr>
          <a:xfrm>
            <a:off x="8001000" y="4546600"/>
            <a:ext cx="114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11345539-25D3-278C-96AE-8D5C01BDF2A9}"/>
              </a:ext>
            </a:extLst>
          </p:cNvPr>
          <p:cNvSpPr txBox="1"/>
          <p:nvPr/>
        </p:nvSpPr>
        <p:spPr>
          <a:xfrm>
            <a:off x="8001000" y="45927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-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6DE2B6BC-6B00-EC72-B644-FBEFD71CEB79}"/>
              </a:ext>
            </a:extLst>
          </p:cNvPr>
          <p:cNvSpPr/>
          <p:nvPr/>
        </p:nvSpPr>
        <p:spPr>
          <a:xfrm>
            <a:off x="9144000" y="4546600"/>
            <a:ext cx="1651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8E3166D-3325-B6BF-3A3C-1F8526286184}"/>
              </a:ext>
            </a:extLst>
          </p:cNvPr>
          <p:cNvSpPr txBox="1"/>
          <p:nvPr/>
        </p:nvSpPr>
        <p:spPr>
          <a:xfrm>
            <a:off x="9144000" y="45927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△天白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D70B79E7-5238-321B-D834-6F98BF40CE6E}"/>
              </a:ext>
            </a:extLst>
          </p:cNvPr>
          <p:cNvSpPr txBox="1"/>
          <p:nvPr/>
        </p:nvSpPr>
        <p:spPr>
          <a:xfrm>
            <a:off x="508000" y="53848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「評判」はみんなの高校情報の総合評価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(5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点満点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。所要時間は自宅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北区鳩岡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からの目安。各校くわしくは次ページ以降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(1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校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2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ページ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7035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FEB6813-847D-D3FE-AAEA-12C413AFFB6E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33C2D1-1AFD-045C-2092-84DD7801B606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名経大 市邨高校　①基本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903709-990A-76C0-7E83-195A6AB2F8F9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名古屋市千種区／食堂「さくら」が人気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DBE5DDE-BE78-BF05-E208-9101DCBC5EFB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D35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65CC32B-4FF4-BC9B-EAF2-2E8C1862364C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E31C2C-5719-2775-5AAF-0B4D2B7FBA13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D35400"/>
                </a:solidFill>
                <a:latin typeface="Meiryo" panose="020B0604030504040204" pitchFamily="50" charset="-128"/>
              </a:rPr>
              <a:t>44〜57</a:t>
            </a:r>
            <a:endParaRPr kumimoji="1" lang="ja-JP" altLang="en-US" sz="2600" b="1">
              <a:solidFill>
                <a:srgbClr val="D35400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9C320D-F0D4-106D-2952-67F7C5BD004D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コース制で幅あり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306F4B1-5627-1673-3722-5EF2948EE93E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1E7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B9A7A9-391A-812E-C146-B54B05040823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食堂「さくら」定食</a:t>
            </a:r>
            <a:r>
              <a:rPr kumimoji="1" lang="en-US" altLang="ja-JP" sz="1000" b="1">
                <a:solidFill>
                  <a:srgbClr val="FFFFFF"/>
                </a:solidFill>
                <a:latin typeface="Meiryo" panose="020B0604030504040204" pitchFamily="50" charset="-128"/>
              </a:rPr>
              <a:t>500</a:t>
            </a:r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円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F2974DF-8E16-B200-3EB7-32EA8B3F05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1AD7DB-2846-7181-DBEF-DB775ADB5FE4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制服（参考写真）出典：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4D0C7CC-21E0-FCCA-7AA4-913142A271D7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73AFACB-F507-0F32-4ADD-9FD6BD906A77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D35400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212E00E-2563-B5E4-FC3D-7A37549EEF5B}"/>
              </a:ext>
            </a:extLst>
          </p:cNvPr>
          <p:cNvSpPr txBox="1"/>
          <p:nvPr/>
        </p:nvSpPr>
        <p:spPr>
          <a:xfrm>
            <a:off x="2286000" y="1519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中高一貫・探究型コース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エクスプローラー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アカデミック等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。コースで偏差値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44〜57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54DFC38-59CC-1071-5242-093A4B09BAC1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9B560B9-8C0C-D7A5-6C0B-240CA08B694B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D35400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5D4325D-6E72-7E19-E7AA-36BE95931C8D}"/>
              </a:ext>
            </a:extLst>
          </p:cNvPr>
          <p:cNvSpPr txBox="1"/>
          <p:nvPr/>
        </p:nvSpPr>
        <p:spPr>
          <a:xfrm>
            <a:off x="2286000" y="2281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名経大ほか私大中心。五輪体操選手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黒田真由・寺本明日香ら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を輩出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D64242CE-EC2F-225C-8F2F-1D2783D06B1F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8E6C58-A713-E4EF-A411-C25E22607DC9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D35400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78396E1-2847-8D5D-126A-B1F1E55DE9D1}"/>
              </a:ext>
            </a:extLst>
          </p:cNvPr>
          <p:cNvSpPr txBox="1"/>
          <p:nvPr/>
        </p:nvSpPr>
        <p:spPr>
          <a:xfrm>
            <a:off x="2286000" y="2951034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地下鉄「今池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池下」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千種区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。黒川→名城線→栄→東山線で約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分／バス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』→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黒川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C806D3F-3DE1-313A-4508-956AFD06DD05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A7AAD97-5314-967D-24E0-4BC01C746894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E7A43"/>
                </a:solidFill>
                <a:latin typeface="Meiryo" panose="020B0604030504040204" pitchFamily="50" charset="-128"/>
              </a:rPr>
              <a:t>食堂・昼食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65EB5B7-CAC4-6107-BA02-19902A37C4D5}"/>
              </a:ext>
            </a:extLst>
          </p:cNvPr>
          <p:cNvSpPr txBox="1"/>
          <p:nvPr/>
        </p:nvSpPr>
        <p:spPr>
          <a:xfrm>
            <a:off x="2286000" y="3805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ランチルーム「さくら」。日替り定食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500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円・ランチ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450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円。人気で保護者も利用可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038725E-E0CC-7208-024D-074E20581587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BE92522-1C1C-BA4E-96E0-E05C3A952FED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D12F4EE-82AA-73E6-4BF5-1A1E0BBDACA4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3384C89-AD70-2F11-37B1-D3B7EE3E9B0A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市邨高校のくわしい情報（口コミ・偏差値・制服）はこちら（みんなの高校情報）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886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6A74890-8D78-9163-6F8B-518956C0AF3E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2EA6BF-3833-08BC-DC6D-2046926ADFF8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名経大 市邨高校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E5CFA86-035F-674C-DE68-ABEF547893DB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6AFF59-4E92-12E7-4DDA-01A1D221856F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AA58347-15EE-254E-A649-A64B96E56A3D}"/>
              </a:ext>
            </a:extLst>
          </p:cNvPr>
          <p:cNvSpPr txBox="1"/>
          <p:nvPr/>
        </p:nvSpPr>
        <p:spPr>
          <a:xfrm>
            <a:off x="711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・部活の満足度が高い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口コミ評価◎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・バドミントンが全国級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・体操で五輪代表を多数輩出した伝統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・運動・文化とも幅広く活動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E6A79C8-0F89-80FE-C280-E91D207305F0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0C4CF7-C11F-3420-2191-89CF5AE64A52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6FFB20-1B3E-1F72-5BDA-7E89160D994B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伸び伸び・主体的に学べる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校風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・スマホは校内使用禁止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実際は守る人少との声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・化粧・ピアス・スカート丈・髪色は厳しめ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・制服と分かる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SNS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投稿→即指導／衣替え自由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89ACE1C-C399-1F87-AEF4-86C52FF0B2A2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0FA9816-BB8B-E047-297A-2F4D63470565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727B333-BB12-C541-1409-DAFC77F07F9A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・食堂「さくら」が人気・安い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定食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500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円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・探究型でコースを選べる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・バド全国級・部活が盛ん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・五輪選手を輩出した実績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5FA6D00-A214-14A9-062F-FAA5D7CFB7BE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9513F5-A91C-7A38-0DA5-80E6F895B6DE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58DF94-2890-18A5-8BA5-B961BECF2A98}"/>
              </a:ext>
            </a:extLst>
          </p:cNvPr>
          <p:cNvSpPr txBox="1"/>
          <p:nvPr/>
        </p:nvSpPr>
        <p:spPr>
          <a:xfrm>
            <a:off x="6426200" y="3556000"/>
            <a:ext cx="5130800" cy="37959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・校則はやや厳しめ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服装・頭髪・スマホ・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SNS)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・最寄りから少し歩く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24C18E3-4AE2-4FB1-452D-440E39582113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C6F4EB2-1867-9FC0-12F1-51A520E5A6D0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CE3D21B-FE42-1110-217A-5DF53C780833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説明会・見学：説明会・オープンスクールは公式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高校イベント一覧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で要確認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1F399F0-1B20-3BC7-0BA0-FA6AAD2F584F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文化祭：市邨祭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＝例年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10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月・要確認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06EC922E-6E65-3975-1AC3-5627782C62D6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49D8B5F-3083-B805-DBE6-AB5E41D0BA21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市邨高校のくわしい情報（口コミ・偏差値・制服）はこちら（みんなの高校情報）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974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4DED4D2-2ADF-8CFC-0696-730F46B1B22E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1F6F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2C3379-9C5F-7D42-FF1A-AD3DD14DABEE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名経大 高蔵高校　①基本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0FD186-BF29-1790-ADF9-40FC53FA0D14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名古屋市瑞穂区／「メリア食堂」・制服の評判◎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3572D5C-5B46-74CD-133E-42C370561647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1F6F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D5586F4-F42B-E1C6-0862-6031C992B8D6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DB0540-1480-4B8D-1770-C6927E7B6CC5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1F6F8C"/>
                </a:solidFill>
                <a:latin typeface="Meiryo" panose="020B0604030504040204" pitchFamily="50" charset="-128"/>
              </a:rPr>
              <a:t>49〜55</a:t>
            </a:r>
            <a:endParaRPr kumimoji="1" lang="ja-JP" altLang="en-US" sz="2600" b="1">
              <a:solidFill>
                <a:srgbClr val="1F6F8C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65C613E-10F2-8FA9-22BA-38E63F57A415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特進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55/</a:t>
            </a:r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進学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49/</a:t>
            </a:r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商業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43</a:t>
            </a:r>
            <a:endParaRPr kumimoji="1" lang="ja-JP" altLang="en-US" sz="10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45809DD-B2CF-67B1-74E4-D7105FEFCE98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1E7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7571852-57CF-45D5-6C68-DD9499F81A8D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「メリア食堂」充実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595F106-C8A0-071E-85E1-9FEB7992A1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6ABC0FF-AC03-F092-BCA7-861C20DB681D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制服（参考写真・花文字校章）出典：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16919C3-A45B-8B5D-C8C9-409EA2B69877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0C6B1E9-2645-F936-0604-808C437823DE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F6F8C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1E8CE6B-97CD-9D2C-9A01-40BE9A2B3BFC}"/>
              </a:ext>
            </a:extLst>
          </p:cNvPr>
          <p:cNvSpPr txBox="1"/>
          <p:nvPr/>
        </p:nvSpPr>
        <p:spPr>
          <a:xfrm>
            <a:off x="2286000" y="1519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zh-TW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zh-TW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特進</a:t>
            </a:r>
            <a:r>
              <a:rPr kumimoji="1" lang="en-US" altLang="zh-TW" sz="1200">
                <a:solidFill>
                  <a:srgbClr val="222B45"/>
                </a:solidFill>
                <a:latin typeface="Meiryo" panose="020B0604030504040204" pitchFamily="50" charset="-128"/>
              </a:rPr>
              <a:t>55/</a:t>
            </a:r>
            <a:r>
              <a:rPr kumimoji="1" lang="zh-TW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進学</a:t>
            </a:r>
            <a:r>
              <a:rPr kumimoji="1" lang="en-US" altLang="zh-TW" sz="1200">
                <a:solidFill>
                  <a:srgbClr val="222B45"/>
                </a:solidFill>
                <a:latin typeface="Meiryo" panose="020B0604030504040204" pitchFamily="50" charset="-128"/>
              </a:rPr>
              <a:t>49)</a:t>
            </a:r>
            <a:r>
              <a:rPr kumimoji="1" lang="zh-TW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＋商業科</a:t>
            </a:r>
            <a:r>
              <a:rPr kumimoji="1" lang="en-US" altLang="zh-TW" sz="1200">
                <a:solidFill>
                  <a:srgbClr val="222B45"/>
                </a:solidFill>
                <a:latin typeface="Meiryo" panose="020B0604030504040204" pitchFamily="50" charset="-128"/>
              </a:rPr>
              <a:t>43</a:t>
            </a:r>
            <a:r>
              <a:rPr kumimoji="1" lang="zh-TW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。中高一貫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0A13924-B793-B954-29AB-235C10C8E4AB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10A2221-4EA2-65DB-D4F1-5E019102C29B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F6F8C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98D95A5-6058-C6EB-C631-F621EADA3CEC}"/>
              </a:ext>
            </a:extLst>
          </p:cNvPr>
          <p:cNvSpPr txBox="1"/>
          <p:nvPr/>
        </p:nvSpPr>
        <p:spPr>
          <a:xfrm>
            <a:off x="2286000" y="2281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名経大ほか私大中心。制服の評判が高い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口コミ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4.0)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。のびのび教育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F2A73BD-7CD9-F146-A9CA-19CA34B237DB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EA1C642-EE9D-80DB-4EED-3A3A85D148E8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F6F8C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E296395-C680-6BCB-C363-76EBEFE6DEFF}"/>
              </a:ext>
            </a:extLst>
          </p:cNvPr>
          <p:cNvSpPr txBox="1"/>
          <p:nvPr/>
        </p:nvSpPr>
        <p:spPr>
          <a:xfrm>
            <a:off x="2286000" y="2951034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地下鉄「瑞穂運動場西」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名城線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ほか。黒川→名城線でほぼ一本約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25〜30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分／バス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』→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黒川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12FC8F6-7790-7220-DE5C-1DE4568454A1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6A771BF-1F6D-570E-2352-45F2C0FBDA74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E7A43"/>
                </a:solidFill>
                <a:latin typeface="Meiryo" panose="020B0604030504040204" pitchFamily="50" charset="-128"/>
              </a:rPr>
              <a:t>食堂・昼食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2B66BAB-3AAD-F5A8-CB02-328CCA20E275}"/>
              </a:ext>
            </a:extLst>
          </p:cNvPr>
          <p:cNvSpPr txBox="1"/>
          <p:nvPr/>
        </p:nvSpPr>
        <p:spPr>
          <a:xfrm>
            <a:off x="2286000" y="3805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「メリア食堂」という広い食堂。うどん・カツカレー・唐揚げなど充実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5A29868-178C-6A19-CF93-5411A1E16E5B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4AFC8FB-C650-94D4-DA1F-DFE11A285B7D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18763A33-4CB9-D4CE-A7FE-5E458696A8C8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FA8A2A1-5424-8A89-D8C3-F7922463B233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高蔵高校のくわしい情報（口コミ・偏差値・制服）はこちら（みんなの高校情報）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172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E91B782-79D5-DDFB-1A54-D160E78B22BA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1F6F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3E8F37-6B14-D4A2-821B-58F5193F8EE3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名経大 高蔵高校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C93B872-CD7D-080D-A622-2EB9F7C7D937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2397B7-6F17-2FFD-E703-075F8884281D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9B8E69-8528-FEFF-8E31-2BA63A6CA99C}"/>
              </a:ext>
            </a:extLst>
          </p:cNvPr>
          <p:cNvSpPr txBox="1"/>
          <p:nvPr/>
        </p:nvSpPr>
        <p:spPr>
          <a:xfrm>
            <a:off x="711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・運動系・文化系あわせて約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40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の部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・サッカー部・陸上部が活発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陸上は充実との声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・バスケ部から有名人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岡田麻央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も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・文化部が多めの構成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1F0D7B8-F0DB-5BF1-D539-621DDCF62C85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7F5F99-0928-BFB3-B929-5F6129A1DF5B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A90ABD-D40D-B99D-3B9F-30D6EF16BFD9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・のびのびした教育方針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・スマホは放課中も使用禁止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違反は朝指導で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週間預け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・メイク・髪に厳しい／頭髪検査は事前告知あり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・アルバイトは申請で許可／登下校の指定ルートあり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ACF06A0-6FE2-630B-9F41-09E972B00C13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B2DF1F7-D527-0100-A295-5C8D949A7402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4AE1E01-478F-51AA-66B0-A0E59216A55E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・「メリア食堂」が広く充実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・制服の評判が高い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口コミ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4.0)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・特進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〜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商業まで幅広いコース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・部活の種類が多い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40)</a:t>
            </a:r>
            <a:endParaRPr kumimoji="1" lang="ja-JP" altLang="en-US" sz="115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29A49A5-1EF5-FD9D-ED8D-C305AAFA6DCA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95C9230-6BD5-D08E-ECDB-09286E840FF6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7F020C0-E3B6-B671-D8EA-AC53329F3473}"/>
              </a:ext>
            </a:extLst>
          </p:cNvPr>
          <p:cNvSpPr txBox="1"/>
          <p:nvPr/>
        </p:nvSpPr>
        <p:spPr>
          <a:xfrm>
            <a:off x="6426200" y="35560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・スマホ・メイク等の校則は厳しめ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・コースで偏差値差が大きい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・中高一貫で内進生もいる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9D3A8AE-5875-4E89-D86F-17FE7950F735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6FF5DE6-BDE1-C6CA-A842-69B2B2741740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FA2F52-3E86-9DBD-84D8-4A9202F26B77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説明会・見学：学校説明会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7/21(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祝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10/25(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土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11/29(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土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 9:00-12:00(WEB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予約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44EA44C-96CC-ECE9-5999-2721AE6B19DE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文化祭：文化祭＝例年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10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月／体育祭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9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7554F49-94BC-40F9-93AE-9C26685042FB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CD21501-4D23-036F-9E4F-620A77263614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高蔵高校のくわしい情報（口コミ・偏差値・制服）はこちら（みんなの高校情報）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29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677D4A8-D9D9-B85A-8E83-B07EBE5540FF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04C613-88F6-15DD-6F52-90532DB5C598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愛工大 名電高校　①基本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F9EEB6-D494-AB08-300A-1BC8B3C38A00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名古屋市千種区</a:t>
            </a:r>
            <a:r>
              <a:rPr kumimoji="1" lang="en-US" altLang="ja-JP" sz="1300">
                <a:solidFill>
                  <a:srgbClr val="6B7280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砂田橋</a:t>
            </a:r>
            <a:r>
              <a:rPr kumimoji="1" lang="en-US" altLang="ja-JP" sz="13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／黒川から名城線一本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B55488A-0181-085D-F6DC-9B2A5C84C894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75FA0E-9C45-2390-7DC7-CA24A27056C0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9465AC-CCB5-6DC1-E002-2C62D2566AD4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8E44AD"/>
                </a:solidFill>
                <a:latin typeface="Meiryo" panose="020B0604030504040204" pitchFamily="50" charset="-128"/>
              </a:rPr>
              <a:t>45〜65</a:t>
            </a:r>
            <a:endParaRPr kumimoji="1" lang="ja-JP" altLang="en-US" sz="2600" b="1">
              <a:solidFill>
                <a:srgbClr val="8E44AD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488E33-7F90-3921-0C66-9CBFF1C72D69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特進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65〜</a:t>
            </a:r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スポーツ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45</a:t>
            </a:r>
            <a:endParaRPr kumimoji="1" lang="ja-JP" altLang="en-US" sz="10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10AE221-AEA7-86BE-67BE-12CB9852E034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1E7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71D582-1FC7-882D-745E-78B9F4BB431D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校内ランチルーム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5E7A7CF-1402-3CFD-B324-A6374FF368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63037D7-9EC2-6A19-9E9B-E03E1FE468F1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制服（参考写真）出典：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9871B31-7F6C-8361-D898-E611D26115AA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AE5E341-9BBB-0DBA-F157-37557459B286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8E44AD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9BC6B5C-C8C1-2A26-6210-167ECFF45599}"/>
              </a:ext>
            </a:extLst>
          </p:cNvPr>
          <p:cNvSpPr txBox="1"/>
          <p:nvPr/>
        </p:nvSpPr>
        <p:spPr>
          <a:xfrm>
            <a:off x="2286000" y="1519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特進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65/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選抜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64/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59/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スポーツ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45)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＋情報科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83F115D-BE36-A7ED-49DB-7860CDFD8773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9F2A943-8E8E-1D2B-FBD8-826BE9EB8AF4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8E44AD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382438C-C7D3-5455-40C0-1ADF8D8CD55F}"/>
              </a:ext>
            </a:extLst>
          </p:cNvPr>
          <p:cNvSpPr txBox="1"/>
          <p:nvPr/>
        </p:nvSpPr>
        <p:spPr>
          <a:xfrm>
            <a:off x="2286000" y="2281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愛知工大ほか。イチロー・浅田真央らの母校。スポーツ・ものづくりに強い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E71AC78-04BB-AD1E-2004-8C5B344D1102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31E7B6A-D8A4-509D-278B-73728F291A64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8E44AD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FE4559F-F5B1-B388-19BD-55EBF3A01B22}"/>
              </a:ext>
            </a:extLst>
          </p:cNvPr>
          <p:cNvSpPr txBox="1"/>
          <p:nvPr/>
        </p:nvSpPr>
        <p:spPr>
          <a:xfrm>
            <a:off x="2286000" y="2951033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地下鉄名城線「砂田橋」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東山線「池下」。黒川→名城線で約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15〜20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ほぼ一本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／バス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』→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黒川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E9E6587-43E5-D239-E62A-05369AA630B6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6A8F22E-CC5B-99B9-42D7-B09FAF93D2D7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E7A43"/>
                </a:solidFill>
                <a:latin typeface="Meiryo" panose="020B0604030504040204" pitchFamily="50" charset="-128"/>
              </a:rPr>
              <a:t>食堂・昼食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016C267-CADF-280B-E1B8-E753BD4DAE81}"/>
              </a:ext>
            </a:extLst>
          </p:cNvPr>
          <p:cNvSpPr txBox="1"/>
          <p:nvPr/>
        </p:nvSpPr>
        <p:spPr>
          <a:xfrm>
            <a:off x="2286000" y="3805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校内にランチルーム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昼食提供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。購買も充実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メロンパン等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。野球部寮に専用食堂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FE01985-35F3-0B8A-0CBE-BE8110510FB7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5ECA57F-F3B4-19DF-E09E-50417BB6A5CF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2F379D18-F744-0CA3-710C-58B2A9687CCB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BB4C331-B9A5-6182-F109-BD2DD4FF79B8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名電のくわしい情報（口コミ・偏差値・制服）はこちら（みんなの高校情報）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60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376D6A6-BE8E-4C47-B77A-1A8F8ABD445E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FCDAFC2-A93A-5A9E-8A5C-D358E9531D9A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愛工大 名電高校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3DF758A-254B-E562-67A9-3C17F90F8ADF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9A2DDF-C3EA-977A-67D5-A3E6A7A8FCF3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F467F6A-785E-2C05-C89B-2ADD1BA9F306}"/>
              </a:ext>
            </a:extLst>
          </p:cNvPr>
          <p:cNvSpPr txBox="1"/>
          <p:nvPr/>
        </p:nvSpPr>
        <p:spPr>
          <a:xfrm>
            <a:off x="711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・全国屈指の部活強豪校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・野球部＝甲子園常連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春の選抜優勝歴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・バスケ部＝全国優勝歴／バレー・吹奏楽も全国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・スポーツコースもあり本格的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914BCA6-5AB6-55D2-B07E-2BC1978BFF95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1F1905-C9B0-4458-E234-E90BD75E8BA9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7599FCF-00F5-189B-756E-5A63A9AFD86F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部活を頑張る人に最適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真面目で平和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・スマホは特に厳しく禁止／スカート膝下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・男子の長髪禁止・月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頭髪検査／メイク厳格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・アルバイト禁止・週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見回り。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守れば何も言われない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endParaRPr kumimoji="1" lang="ja-JP" altLang="en-US" sz="115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0FA8AFA-07D2-CDA0-5925-9F1FD67A5811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C19404E-1B53-5198-EDCE-8EA43842296B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4A5918-9A67-7F53-071E-9BFBE441E580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・黒川から名城線一本で通いやすい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・校内ランチルーム＋購買が充実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・全国級の部活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野球・バスケ等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・コースが幅広く選べる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0B1ED3E-1EAF-DEFC-BC13-174F61245A39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6EA2304-CDFF-86FC-05B4-0C45F40DE563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97D97CB-6EBB-C623-A3D0-BE0485E741FA}"/>
              </a:ext>
            </a:extLst>
          </p:cNvPr>
          <p:cNvSpPr txBox="1"/>
          <p:nvPr/>
        </p:nvSpPr>
        <p:spPr>
          <a:xfrm>
            <a:off x="6426200" y="3556000"/>
            <a:ext cx="5130800" cy="37959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・校則がかなり厳しい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スマホ・バイト・頭髪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・普通コースは偏差値が高め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(59)</a:t>
            </a:r>
            <a:endParaRPr kumimoji="1" lang="ja-JP" altLang="en-US" sz="115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979430F-AEAA-93CC-052B-7E564B87C84F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2C32467-9291-49A8-1170-FEE58EC3D104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9A61415-0D26-D335-5510-78F44307DD4D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説明会・見学：学校説明会・体験入学は公式サイトで要確認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夏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〜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秋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DC9CDBD-9E1F-50D5-298B-EB85E2F2D178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文化祭：名電祭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＝例年秋・要確認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5B566574-35BA-BD65-A12C-6A31190056E0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773049F-1374-9FF8-A01F-B77464AD71B1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名電のくわしい情報（口コミ・偏差値・制服）はこちら（みんなの高校情報）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1455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86C9CD4-0ECA-A353-12F2-899347DCBB0C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09F4A7-D3B3-0495-86E0-DE20865ED349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東邦高校　①基本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BEF135-D097-B446-CA42-D3B8891D7C64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名古屋市名東区／大学の学食＋キッチンカー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0580EE9-23C7-37E1-38E3-AC2D99714724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A73C46-1F3E-1452-FA6C-969FEC456391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A2833B-B8FD-CD14-BE02-52C44588B53D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C0392B"/>
                </a:solidFill>
                <a:latin typeface="Meiryo" panose="020B0604030504040204" pitchFamily="50" charset="-128"/>
              </a:rPr>
              <a:t>52</a:t>
            </a:r>
            <a:endParaRPr kumimoji="1" lang="ja-JP" altLang="en-US" sz="2600" b="1">
              <a:solidFill>
                <a:srgbClr val="C0392B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552F842-DB2F-23CE-1F88-4906E93FC668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普通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52/</a:t>
            </a:r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文理特進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61</a:t>
            </a:r>
            <a:endParaRPr kumimoji="1" lang="ja-JP" altLang="en-US" sz="10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D7B3F4E-1E16-6856-3735-8BC600AB883A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1E7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8B1AE4B-0196-6C71-5A34-4C01480C9BE4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大学学食＋キッチンカー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E77F6EE-DB97-1F78-20E2-9E6C0E1732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488C241-E2E6-0488-B86D-7C46D9B740B6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制服（参考写真・青紺ブレザー）出典：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8F5AC50-910B-5EB4-A619-D0FCCCAB89B1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CC8FAE9-A227-FB42-2D0A-6D3BDB3B6845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C0392B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AE57A5F-B358-B946-A65C-F42E6F103A54}"/>
              </a:ext>
            </a:extLst>
          </p:cNvPr>
          <p:cNvSpPr txBox="1"/>
          <p:nvPr/>
        </p:nvSpPr>
        <p:spPr>
          <a:xfrm>
            <a:off x="2286000" y="1519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52/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文理特進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61/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人間健康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＋美術科・世界探究科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89676FF-92F6-3E24-6083-753BBD84DF72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D7D5F49-0479-F3BA-1633-58FF25CDA384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C0392B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19B53B6-53A8-EE67-7700-BD6A67CA398D}"/>
              </a:ext>
            </a:extLst>
          </p:cNvPr>
          <p:cNvSpPr txBox="1"/>
          <p:nvPr/>
        </p:nvSpPr>
        <p:spPr>
          <a:xfrm>
            <a:off x="2286000" y="2281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愛知東邦大ほか。野球の名門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春の東邦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。学習重視の校風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B3BA56A5-DC95-A563-6DDB-610FD3EC6D0D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5DF41E8-0F0E-F5D2-4829-499B3B76237C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C0392B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B9A47B9-5DF3-41B1-081C-31CC45447BE1}"/>
              </a:ext>
            </a:extLst>
          </p:cNvPr>
          <p:cNvSpPr txBox="1"/>
          <p:nvPr/>
        </p:nvSpPr>
        <p:spPr>
          <a:xfrm>
            <a:off x="2286000" y="2951034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名東区平和が丘。地下鉄東山線「一社」＋バス。黒川→名城線→栄→東山線で約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40〜45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CE6A3B8-F340-9CE3-B674-00EAE9F2BDB2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28E9330-0658-4086-28CA-CE734BD25FD0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E7A43"/>
                </a:solidFill>
                <a:latin typeface="Meiryo" panose="020B0604030504040204" pitchFamily="50" charset="-128"/>
              </a:rPr>
              <a:t>食堂・昼食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26A6847-630D-83F6-6E46-88AE5B7770BD}"/>
              </a:ext>
            </a:extLst>
          </p:cNvPr>
          <p:cNvSpPr txBox="1"/>
          <p:nvPr/>
        </p:nvSpPr>
        <p:spPr>
          <a:xfrm>
            <a:off x="2286000" y="3713033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専用食堂なし。昼はキッチンカー＋同キャンパスの愛知東邦大の学食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日替り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440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円・丼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390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円・カレー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280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円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を利用可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203E1DF4-C72D-D1B1-6469-12F89CBBC0D7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0FF0B4C-6D83-582D-7836-F8191333135A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0C27BF15-996A-0250-42BC-F538F5FEA5DE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DF79502-1A56-CC5F-D143-802F0B482A49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東邦のくわしい情報（口コミ・偏差値・制服）はこちら（みんなの高校情報）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785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A8BEA55-436B-2BA2-4804-686A19F73D1A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D01B13-2059-3DB7-9F70-44271886B21A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東邦高校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AE1D30B-BCFD-2DE5-8AAD-5BBF4E49DDCC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4DC43C-8E50-DFB9-99D4-696F7FDF1C18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DC0028-4E24-B350-38F8-B245DF3FB6DB}"/>
              </a:ext>
            </a:extLst>
          </p:cNvPr>
          <p:cNvSpPr txBox="1"/>
          <p:nvPr/>
        </p:nvSpPr>
        <p:spPr>
          <a:xfrm>
            <a:off x="711200" y="14986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・野球部が全国屈指の名門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春の東邦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・近年はサッカーにも注力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・文化部・運動部とも盛んに活動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EB984E7-6F19-917A-C0C9-8204E1413221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4828721-E2E4-A430-62FE-44FD9D2385E6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61D67A0-543E-D77D-E935-3F8D02ED0491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勉強に集中できる環境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を重視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・化粧・染髪・校内スマホは禁止で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ほんとに厳しい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・朝礼時に門前指導・違反は反省文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キラキラ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JK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生活はない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との声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DC5D414-C799-6AC8-A3A0-AA3D5C8C53D8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8CEAA8A-DD8B-9D57-8C6B-A1980BE8442C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145716-0579-7D2C-022B-38EE0DA617B1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・愛知東邦大の学食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(440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円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〜)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＋キッチンカー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・世界探究科など特色コース／美術科もあり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・野球の名門で部活が盛ん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・学習に集中しやすい環境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70ECB4F-4E8A-D432-DEFB-92E860C5361C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3DBDB5-3BE8-9F7C-1B22-3F8A8B3A32EF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D4ED44A-4E68-AFAB-5C7A-2767C30EE940}"/>
              </a:ext>
            </a:extLst>
          </p:cNvPr>
          <p:cNvSpPr txBox="1"/>
          <p:nvPr/>
        </p:nvSpPr>
        <p:spPr>
          <a:xfrm>
            <a:off x="6426200" y="35560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・専用学生食堂は無い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大学学食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車を利用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・校則が厳しい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化粧・染髪・スマホ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・名東区東部で北区からやや遠い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88A2DCA-8169-3618-9249-555754AB5FD2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A78F655-0A75-73D1-30A0-F04B0325DD47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E12C87B-70D2-561D-4071-8CF5E5F36949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説明会・見学：学校説明会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7/28-29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10/4(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土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10/11(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土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／文理特進説明会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8/29(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土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8993305-3293-476E-A840-91DE64CCABA0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文化祭：東邦祭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＝例年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9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月・要確認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228069D-9D8F-0A58-EABE-49D7A90DD201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1DE2E94-BFAB-D130-88B6-D5801B5313E4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東邦のくわしい情報（口コミ・偏差値・制服）はこちら（みんなの高校情報）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5990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D295B40-3DBA-EC07-54C1-939D36C43DF0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F0B91F-6D9F-FF71-93F8-25D82EC3453D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東海学園高校　①基本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C7ACF30-B988-96C1-DBA2-69C865EA97F3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名古屋市天白区／大学隣接の学生食堂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7D8B25C-CADA-0712-93B5-7AAC3790050F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94DA4C-1268-4854-5236-32F9341256AE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E5A5642-6313-1980-A66A-85AC2BEB4510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2E8B57"/>
                </a:solidFill>
                <a:latin typeface="Meiryo" panose="020B0604030504040204" pitchFamily="50" charset="-128"/>
              </a:rPr>
              <a:t>48〜55</a:t>
            </a:r>
            <a:endParaRPr kumimoji="1" lang="ja-JP" altLang="en-US" sz="2600" b="1">
              <a:solidFill>
                <a:srgbClr val="2E8B57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347D6EB-55FA-0409-2BCB-28BEEA13DCC7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飛翔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55/</a:t>
            </a:r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留学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54/</a:t>
            </a:r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明照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48</a:t>
            </a:r>
            <a:endParaRPr kumimoji="1" lang="ja-JP" altLang="en-US" sz="10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D9B9775-B37E-3FD4-B59B-DB071606955B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1E7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B9BC481-FE66-DAB7-FF79-B4D5670E1C0B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大学隣接の学生食堂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A9F9835-827F-3791-5EDA-8E508EED63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1A279E-9DE2-AD1D-76AE-8BCA16045AC1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制服（参考写真・指定バッグ付）出典：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8E36028-9BBD-BF7F-DCBD-74ECE2E4C21E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2A7A14-36A1-1BB1-7B67-91F354FBF2D9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2E8B57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CB4FF5F-7AA3-2705-816E-4C158C3A84B6}"/>
              </a:ext>
            </a:extLst>
          </p:cNvPr>
          <p:cNvSpPr txBox="1"/>
          <p:nvPr/>
        </p:nvSpPr>
        <p:spPr>
          <a:xfrm>
            <a:off x="2286000" y="1519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飛翔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55/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留学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54/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明照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48)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。仏教系・中高一貫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018160F-E71D-A623-D39E-5E86DF211DF4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4E3C48C-338B-6E59-18CE-FDFD539605D9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2E8B57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E8D4BF-1A11-965B-00FE-503C017D7142}"/>
              </a:ext>
            </a:extLst>
          </p:cNvPr>
          <p:cNvSpPr txBox="1"/>
          <p:nvPr/>
        </p:nvSpPr>
        <p:spPr>
          <a:xfrm>
            <a:off x="2286000" y="2281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東海学園大ほか。留学コースなど国際・進学。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共生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ともいき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)』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の精神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B30B06E-7EA8-2DAE-5B67-2CB58EA54F8B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CCA17B6-2A8F-5DE0-5F0C-C7B78BAA5E4C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2E8B57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DE1885C-12A5-6AF0-618C-46CCCE1A9AED}"/>
              </a:ext>
            </a:extLst>
          </p:cNvPr>
          <p:cNvSpPr txBox="1"/>
          <p:nvPr/>
        </p:nvSpPr>
        <p:spPr>
          <a:xfrm>
            <a:off x="2286000" y="2951033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天白区中平。地下鉄鶴舞線「原」徒歩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12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市バス「平針新屋敷」。黒川→名城線→上前津→鶴舞線で約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40〜45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534A20F-FAD3-5564-9AA7-F27D5D335366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E5EA8B-F7C3-9418-F4AB-08081BA75052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1E7A43"/>
                </a:solidFill>
                <a:latin typeface="Meiryo" panose="020B0604030504040204" pitchFamily="50" charset="-128"/>
              </a:rPr>
              <a:t>食堂・昼食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2E4DBAD-06A1-B0C3-3690-D4ED1D210772}"/>
              </a:ext>
            </a:extLst>
          </p:cNvPr>
          <p:cNvSpPr txBox="1"/>
          <p:nvPr/>
        </p:nvSpPr>
        <p:spPr>
          <a:xfrm>
            <a:off x="2286000" y="3805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同一法人の大学キャンパスに隣接し、学生食堂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麺類・丼物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を利用可。明るい雰囲気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97ABED9-CB3B-B6A6-E256-1559E0A38E71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DBB3C0C-0056-F742-FF9B-DD56EC822CBA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78428431-07B0-D937-2C4C-37B3C875ED72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C71754B-773D-6FE3-D17E-7890F85427F3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東海学園のくわしい情報（口コミ・偏差値・制服）はこちら（みんなの高校情報）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418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7C5A137-980F-9421-3B57-B9FF45F78B84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F86A57-95FD-6DDB-813D-83219245B436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東海学園高校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A68E1BD-C88F-508D-0845-895BEADADF2D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211B98-A0EC-3545-8667-9C04B38D12FB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57F8C2-E097-A7A7-AB9B-BA916F8C9D88}"/>
              </a:ext>
            </a:extLst>
          </p:cNvPr>
          <p:cNvSpPr txBox="1"/>
          <p:nvPr/>
        </p:nvSpPr>
        <p:spPr>
          <a:xfrm>
            <a:off x="711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・運動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: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サッカー・バスケ・なぎなた・バレー・テニス等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・サッカー部・なぎなた部が全国大会出場経験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・文化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: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吹奏楽・演劇・メディアプロダクト・茶道ほか多数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・メカトロ部・ダンス同好会も全国経験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CE84FDF-0D57-6C9F-1DA2-FDA4914062E9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729DC6-8B8D-CC6A-DECE-2D12A0C5B0F0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FD9A11-D7C2-51E8-4C2E-6E865A60F734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共生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の精神・支え合う校風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個性的な仲間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・スマホはロッカー保管指導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実際は所持多・抜き打ち確認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・服装・頭髪は比較的ゆるめ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巻き髪・メイクの子も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・アルバイトは原則不可だが実際はやる人も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84F974B-69BB-9757-CB51-E58D9292E6CE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80AFCEF-047B-00FC-BB6C-74CF518797F0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6B9ADA5-5625-7FAB-E592-4DCF35D09E1D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・大学隣接の学生食堂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麺・丼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が使える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・留学コースなど進学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国際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・部活が多彩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全国経験の部も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・落ち着いた共生の校風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8D6DC01-2614-2422-B354-2A3B72617A03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50A636B-7860-7E0B-E659-F0E3913C4036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1686905-1E4E-E705-5A7A-8910826E3E1B}"/>
              </a:ext>
            </a:extLst>
          </p:cNvPr>
          <p:cNvSpPr txBox="1"/>
          <p:nvPr/>
        </p:nvSpPr>
        <p:spPr>
          <a:xfrm>
            <a:off x="6426200" y="35560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・「原」駅から徒歩約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12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分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・北区からは通学やや遠い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・スマホ等は実態とルールに差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1B8185A-C8F5-9E57-17D4-16C0E6422A34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C8B1DFB-F4D4-45A2-6F80-3A931703F965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0258E9C-5EC9-30BD-5C9C-401F808EC030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説明会・見学：オープンスクール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申込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〜8/14)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／学校説明会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9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〜(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申込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7/6〜)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08869F1-69B9-6C06-BFDA-B45B49CF21D6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文化祭：記念祭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＝公式で要確認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62CC644-2D2D-622A-32AB-39F95E71680C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470EA15-8FF3-3AC5-8A9E-59CB803E76A0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東海学園のくわしい情報（口コミ・偏差値・制服）はこちら（みんなの高校情報）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9370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F3B9BD-11D0-F365-167F-C047E3588FDE}"/>
              </a:ext>
            </a:extLst>
          </p:cNvPr>
          <p:cNvSpPr txBox="1"/>
          <p:nvPr/>
        </p:nvSpPr>
        <p:spPr>
          <a:xfrm>
            <a:off x="508000" y="355600"/>
            <a:ext cx="11176000" cy="45653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2800" b="1">
                <a:solidFill>
                  <a:srgbClr val="1E2761"/>
                </a:solidFill>
                <a:latin typeface="Meiryo" panose="020B0604030504040204" pitchFamily="50" charset="-128"/>
              </a:rPr>
              <a:t>くらべると（早見表）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F388CC1-1455-40CD-843B-9201E2968646}"/>
              </a:ext>
            </a:extLst>
          </p:cNvPr>
          <p:cNvSpPr/>
          <p:nvPr/>
        </p:nvSpPr>
        <p:spPr>
          <a:xfrm>
            <a:off x="508000" y="1092200"/>
            <a:ext cx="1905000" cy="50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6A3FF6-55F8-65E3-C5F2-1B407425975A}"/>
              </a:ext>
            </a:extLst>
          </p:cNvPr>
          <p:cNvSpPr txBox="1"/>
          <p:nvPr/>
        </p:nvSpPr>
        <p:spPr>
          <a:xfrm>
            <a:off x="508000" y="1130672"/>
            <a:ext cx="1905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項目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DBD8974-5BB3-DD40-7201-317DE121A60E}"/>
              </a:ext>
            </a:extLst>
          </p:cNvPr>
          <p:cNvSpPr/>
          <p:nvPr/>
        </p:nvSpPr>
        <p:spPr>
          <a:xfrm>
            <a:off x="2413000" y="1092200"/>
            <a:ext cx="1930400" cy="508000"/>
          </a:xfrm>
          <a:prstGeom prst="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420D45-0071-375E-D784-2F7D518750C2}"/>
              </a:ext>
            </a:extLst>
          </p:cNvPr>
          <p:cNvSpPr txBox="1"/>
          <p:nvPr/>
        </p:nvSpPr>
        <p:spPr>
          <a:xfrm>
            <a:off x="2413000" y="1130672"/>
            <a:ext cx="19304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市邨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E9BA5A-D8FC-3AD7-2C48-E9E929D5FA92}"/>
              </a:ext>
            </a:extLst>
          </p:cNvPr>
          <p:cNvSpPr/>
          <p:nvPr/>
        </p:nvSpPr>
        <p:spPr>
          <a:xfrm>
            <a:off x="4343400" y="1092200"/>
            <a:ext cx="1930400" cy="508000"/>
          </a:xfrm>
          <a:prstGeom prst="rect">
            <a:avLst/>
          </a:prstGeom>
          <a:solidFill>
            <a:srgbClr val="1F6F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E6F72A4-1F0F-D01F-5A2D-7801CC5222B8}"/>
              </a:ext>
            </a:extLst>
          </p:cNvPr>
          <p:cNvSpPr txBox="1"/>
          <p:nvPr/>
        </p:nvSpPr>
        <p:spPr>
          <a:xfrm>
            <a:off x="4343400" y="1130672"/>
            <a:ext cx="19304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高蔵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471955D-1818-DE5F-9E92-E3CE150E9FDF}"/>
              </a:ext>
            </a:extLst>
          </p:cNvPr>
          <p:cNvSpPr/>
          <p:nvPr/>
        </p:nvSpPr>
        <p:spPr>
          <a:xfrm>
            <a:off x="6273800" y="1092200"/>
            <a:ext cx="1930400" cy="508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2E1206A-DFA5-1C20-0BC6-D1D1EC566AFA}"/>
              </a:ext>
            </a:extLst>
          </p:cNvPr>
          <p:cNvSpPr txBox="1"/>
          <p:nvPr/>
        </p:nvSpPr>
        <p:spPr>
          <a:xfrm>
            <a:off x="6273800" y="1130672"/>
            <a:ext cx="19304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名電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661506-BAE9-1217-FC19-C7B8795EBC85}"/>
              </a:ext>
            </a:extLst>
          </p:cNvPr>
          <p:cNvSpPr/>
          <p:nvPr/>
        </p:nvSpPr>
        <p:spPr>
          <a:xfrm>
            <a:off x="8204200" y="1092200"/>
            <a:ext cx="1930400" cy="508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143803A-9A2B-E7EA-B69C-BC5ABD08F868}"/>
              </a:ext>
            </a:extLst>
          </p:cNvPr>
          <p:cNvSpPr txBox="1"/>
          <p:nvPr/>
        </p:nvSpPr>
        <p:spPr>
          <a:xfrm>
            <a:off x="8204200" y="1130672"/>
            <a:ext cx="19304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東邦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120B456-9D33-794A-24AD-53229C9F8EC1}"/>
              </a:ext>
            </a:extLst>
          </p:cNvPr>
          <p:cNvSpPr/>
          <p:nvPr/>
        </p:nvSpPr>
        <p:spPr>
          <a:xfrm>
            <a:off x="10134600" y="1092200"/>
            <a:ext cx="1930400" cy="5080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2C313E6-0349-CDD8-0F04-E3D2A3C23B7B}"/>
              </a:ext>
            </a:extLst>
          </p:cNvPr>
          <p:cNvSpPr txBox="1"/>
          <p:nvPr/>
        </p:nvSpPr>
        <p:spPr>
          <a:xfrm>
            <a:off x="10134600" y="1130672"/>
            <a:ext cx="19304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東海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2CB5AB4-EF32-577A-BFB3-E9AE8034BD66}"/>
              </a:ext>
            </a:extLst>
          </p:cNvPr>
          <p:cNvSpPr/>
          <p:nvPr/>
        </p:nvSpPr>
        <p:spPr>
          <a:xfrm>
            <a:off x="508000" y="1600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9E1AD6D-5D26-12EE-0378-3AC1DB9E7BA1}"/>
              </a:ext>
            </a:extLst>
          </p:cNvPr>
          <p:cNvSpPr txBox="1"/>
          <p:nvPr/>
        </p:nvSpPr>
        <p:spPr>
          <a:xfrm>
            <a:off x="609600" y="1646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偏差値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3059C76-87FB-DA0C-799D-37874560798F}"/>
              </a:ext>
            </a:extLst>
          </p:cNvPr>
          <p:cNvSpPr/>
          <p:nvPr/>
        </p:nvSpPr>
        <p:spPr>
          <a:xfrm>
            <a:off x="2413000" y="1600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237161D-0EE2-EC09-4A22-B22DCE6702B7}"/>
              </a:ext>
            </a:extLst>
          </p:cNvPr>
          <p:cNvSpPr txBox="1"/>
          <p:nvPr/>
        </p:nvSpPr>
        <p:spPr>
          <a:xfrm>
            <a:off x="2413000" y="1630977"/>
            <a:ext cx="1930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D35400"/>
                </a:solidFill>
                <a:latin typeface="Meiryo" panose="020B0604030504040204" pitchFamily="50" charset="-128"/>
              </a:rPr>
              <a:t>44-57</a:t>
            </a:r>
            <a:endParaRPr kumimoji="1" lang="ja-JP" altLang="en-US" sz="1400" b="1">
              <a:solidFill>
                <a:srgbClr val="D35400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9DE0BB2-3A3B-0BC3-D7E3-4027CD95E468}"/>
              </a:ext>
            </a:extLst>
          </p:cNvPr>
          <p:cNvSpPr/>
          <p:nvPr/>
        </p:nvSpPr>
        <p:spPr>
          <a:xfrm>
            <a:off x="4343400" y="1600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CC750D-AA94-B4F8-C629-362A10C1B82E}"/>
              </a:ext>
            </a:extLst>
          </p:cNvPr>
          <p:cNvSpPr txBox="1"/>
          <p:nvPr/>
        </p:nvSpPr>
        <p:spPr>
          <a:xfrm>
            <a:off x="4343400" y="1630977"/>
            <a:ext cx="1930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1F6F8C"/>
                </a:solidFill>
                <a:latin typeface="Meiryo" panose="020B0604030504040204" pitchFamily="50" charset="-128"/>
              </a:rPr>
              <a:t>49-55</a:t>
            </a:r>
            <a:endParaRPr kumimoji="1" lang="ja-JP" altLang="en-US" sz="1400" b="1">
              <a:solidFill>
                <a:srgbClr val="1F6F8C"/>
              </a:solidFill>
              <a:latin typeface="Meiryo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692E4A4-C8F7-340F-6F18-67B487633F9C}"/>
              </a:ext>
            </a:extLst>
          </p:cNvPr>
          <p:cNvSpPr/>
          <p:nvPr/>
        </p:nvSpPr>
        <p:spPr>
          <a:xfrm>
            <a:off x="6273800" y="1600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B9C2FE3-5D3D-DC0F-4A97-28C6C37B8FC6}"/>
              </a:ext>
            </a:extLst>
          </p:cNvPr>
          <p:cNvSpPr txBox="1"/>
          <p:nvPr/>
        </p:nvSpPr>
        <p:spPr>
          <a:xfrm>
            <a:off x="6273800" y="1630977"/>
            <a:ext cx="1930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8E44AD"/>
                </a:solidFill>
                <a:latin typeface="Meiryo" panose="020B0604030504040204" pitchFamily="50" charset="-128"/>
              </a:rPr>
              <a:t>45-65</a:t>
            </a:r>
            <a:endParaRPr kumimoji="1" lang="ja-JP" altLang="en-US" sz="1400" b="1">
              <a:solidFill>
                <a:srgbClr val="8E44AD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6BAACDD-1578-345B-1B50-3FF542379893}"/>
              </a:ext>
            </a:extLst>
          </p:cNvPr>
          <p:cNvSpPr/>
          <p:nvPr/>
        </p:nvSpPr>
        <p:spPr>
          <a:xfrm>
            <a:off x="8204200" y="1600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828C550-1AFA-60B1-DE68-08207BC05C6F}"/>
              </a:ext>
            </a:extLst>
          </p:cNvPr>
          <p:cNvSpPr txBox="1"/>
          <p:nvPr/>
        </p:nvSpPr>
        <p:spPr>
          <a:xfrm>
            <a:off x="8204200" y="1630977"/>
            <a:ext cx="1930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C0392B"/>
                </a:solidFill>
                <a:latin typeface="Meiryo" panose="020B0604030504040204" pitchFamily="50" charset="-128"/>
              </a:rPr>
              <a:t>52</a:t>
            </a:r>
            <a:endParaRPr kumimoji="1" lang="ja-JP" altLang="en-US" sz="1400" b="1">
              <a:solidFill>
                <a:srgbClr val="C0392B"/>
              </a:solidFill>
              <a:latin typeface="Meiryo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1885FB6-9EC9-8688-C594-7AC350FF8673}"/>
              </a:ext>
            </a:extLst>
          </p:cNvPr>
          <p:cNvSpPr/>
          <p:nvPr/>
        </p:nvSpPr>
        <p:spPr>
          <a:xfrm>
            <a:off x="10134600" y="1600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1E4ECFA-AF36-36CF-0DA3-A5C7F70FED1D}"/>
              </a:ext>
            </a:extLst>
          </p:cNvPr>
          <p:cNvSpPr txBox="1"/>
          <p:nvPr/>
        </p:nvSpPr>
        <p:spPr>
          <a:xfrm>
            <a:off x="10134600" y="1630977"/>
            <a:ext cx="1930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2E8B57"/>
                </a:solidFill>
                <a:latin typeface="Meiryo" panose="020B0604030504040204" pitchFamily="50" charset="-128"/>
              </a:rPr>
              <a:t>48-55</a:t>
            </a:r>
            <a:endParaRPr kumimoji="1" lang="ja-JP" altLang="en-US" sz="1400" b="1">
              <a:solidFill>
                <a:srgbClr val="2E8B57"/>
              </a:solidFill>
              <a:latin typeface="Meiryo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512A592-B6C4-C718-82D3-37DCEF01752E}"/>
              </a:ext>
            </a:extLst>
          </p:cNvPr>
          <p:cNvSpPr/>
          <p:nvPr/>
        </p:nvSpPr>
        <p:spPr>
          <a:xfrm>
            <a:off x="508000" y="2362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6094CBF-7CE8-BFBE-5749-4B2B0CB1F435}"/>
              </a:ext>
            </a:extLst>
          </p:cNvPr>
          <p:cNvSpPr txBox="1"/>
          <p:nvPr/>
        </p:nvSpPr>
        <p:spPr>
          <a:xfrm>
            <a:off x="609600" y="2408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食堂・昼食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89B8D09-93D9-37B4-ECF7-EFC4B6A08BA5}"/>
              </a:ext>
            </a:extLst>
          </p:cNvPr>
          <p:cNvSpPr/>
          <p:nvPr/>
        </p:nvSpPr>
        <p:spPr>
          <a:xfrm>
            <a:off x="2413000" y="2362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FE842BA-00D4-A738-5BB2-7C7147C8635D}"/>
              </a:ext>
            </a:extLst>
          </p:cNvPr>
          <p:cNvSpPr txBox="1"/>
          <p:nvPr/>
        </p:nvSpPr>
        <p:spPr>
          <a:xfrm>
            <a:off x="2463800" y="2416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さくら◎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801842A-0987-13FD-F84E-3EDF04656811}"/>
              </a:ext>
            </a:extLst>
          </p:cNvPr>
          <p:cNvSpPr/>
          <p:nvPr/>
        </p:nvSpPr>
        <p:spPr>
          <a:xfrm>
            <a:off x="4343400" y="2362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1140702-07A8-8F4A-9683-9EB0EAEDB14E}"/>
              </a:ext>
            </a:extLst>
          </p:cNvPr>
          <p:cNvSpPr txBox="1"/>
          <p:nvPr/>
        </p:nvSpPr>
        <p:spPr>
          <a:xfrm>
            <a:off x="4394200" y="2416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メリア◎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506C195-A3BF-5DB1-6A57-4391B8129B23}"/>
              </a:ext>
            </a:extLst>
          </p:cNvPr>
          <p:cNvSpPr/>
          <p:nvPr/>
        </p:nvSpPr>
        <p:spPr>
          <a:xfrm>
            <a:off x="6273800" y="2362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B711C67-37C7-CD3E-76FC-354E89C55C7B}"/>
              </a:ext>
            </a:extLst>
          </p:cNvPr>
          <p:cNvSpPr txBox="1"/>
          <p:nvPr/>
        </p:nvSpPr>
        <p:spPr>
          <a:xfrm>
            <a:off x="6324600" y="2416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ランチ室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5080D2A-90FC-6AAB-0446-5E45546C9400}"/>
              </a:ext>
            </a:extLst>
          </p:cNvPr>
          <p:cNvSpPr/>
          <p:nvPr/>
        </p:nvSpPr>
        <p:spPr>
          <a:xfrm>
            <a:off x="8204200" y="2362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6669B5E-866E-DF5F-8938-9B5C78AE1F4B}"/>
              </a:ext>
            </a:extLst>
          </p:cNvPr>
          <p:cNvSpPr txBox="1"/>
          <p:nvPr/>
        </p:nvSpPr>
        <p:spPr>
          <a:xfrm>
            <a:off x="8255000" y="2416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大学学食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0013E9B-A2C4-9172-0255-0D67B45267E6}"/>
              </a:ext>
            </a:extLst>
          </p:cNvPr>
          <p:cNvSpPr/>
          <p:nvPr/>
        </p:nvSpPr>
        <p:spPr>
          <a:xfrm>
            <a:off x="10134600" y="2362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3FB7DF8-5946-35A8-9656-6EAB03D47D44}"/>
              </a:ext>
            </a:extLst>
          </p:cNvPr>
          <p:cNvSpPr txBox="1"/>
          <p:nvPr/>
        </p:nvSpPr>
        <p:spPr>
          <a:xfrm>
            <a:off x="10185400" y="2416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大学学食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94AE2F7-267F-1353-AD1E-E2F19FA4A6A5}"/>
              </a:ext>
            </a:extLst>
          </p:cNvPr>
          <p:cNvSpPr/>
          <p:nvPr/>
        </p:nvSpPr>
        <p:spPr>
          <a:xfrm>
            <a:off x="508000" y="3124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584F7C3-061F-A7DA-67A1-48A698F61154}"/>
              </a:ext>
            </a:extLst>
          </p:cNvPr>
          <p:cNvSpPr txBox="1"/>
          <p:nvPr/>
        </p:nvSpPr>
        <p:spPr>
          <a:xfrm>
            <a:off x="609600" y="3170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評判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4609030-C9C4-8083-261C-2EFBD984EDFC}"/>
              </a:ext>
            </a:extLst>
          </p:cNvPr>
          <p:cNvSpPr/>
          <p:nvPr/>
        </p:nvSpPr>
        <p:spPr>
          <a:xfrm>
            <a:off x="2413000" y="3124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5D664C-9D52-DC20-D0F9-800F16140124}"/>
              </a:ext>
            </a:extLst>
          </p:cNvPr>
          <p:cNvSpPr txBox="1"/>
          <p:nvPr/>
        </p:nvSpPr>
        <p:spPr>
          <a:xfrm>
            <a:off x="2463800" y="3178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3.2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BB21143-ACEE-C1B8-E71A-7F4FA980DAB2}"/>
              </a:ext>
            </a:extLst>
          </p:cNvPr>
          <p:cNvSpPr/>
          <p:nvPr/>
        </p:nvSpPr>
        <p:spPr>
          <a:xfrm>
            <a:off x="4343400" y="3124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58CE637-6F71-C629-8F8D-166CDA596A62}"/>
              </a:ext>
            </a:extLst>
          </p:cNvPr>
          <p:cNvSpPr txBox="1"/>
          <p:nvPr/>
        </p:nvSpPr>
        <p:spPr>
          <a:xfrm>
            <a:off x="4394200" y="3178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-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AEFA33DD-4445-E458-1BD4-8208629989B5}"/>
              </a:ext>
            </a:extLst>
          </p:cNvPr>
          <p:cNvSpPr/>
          <p:nvPr/>
        </p:nvSpPr>
        <p:spPr>
          <a:xfrm>
            <a:off x="6273800" y="3124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824BB79-5896-1A0B-808B-DF7DF3F14375}"/>
              </a:ext>
            </a:extLst>
          </p:cNvPr>
          <p:cNvSpPr txBox="1"/>
          <p:nvPr/>
        </p:nvSpPr>
        <p:spPr>
          <a:xfrm>
            <a:off x="6324600" y="3178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3.3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6DC3947-FDFE-EFD1-5810-A0E05607D7C9}"/>
              </a:ext>
            </a:extLst>
          </p:cNvPr>
          <p:cNvSpPr/>
          <p:nvPr/>
        </p:nvSpPr>
        <p:spPr>
          <a:xfrm>
            <a:off x="8204200" y="3124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1BB2A5B-9BF2-789C-3D1E-AFC2BB5729B8}"/>
              </a:ext>
            </a:extLst>
          </p:cNvPr>
          <p:cNvSpPr txBox="1"/>
          <p:nvPr/>
        </p:nvSpPr>
        <p:spPr>
          <a:xfrm>
            <a:off x="8255000" y="3178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2.9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9317D87-BEA9-D4BC-5122-2C7E125A06B4}"/>
              </a:ext>
            </a:extLst>
          </p:cNvPr>
          <p:cNvSpPr/>
          <p:nvPr/>
        </p:nvSpPr>
        <p:spPr>
          <a:xfrm>
            <a:off x="10134600" y="3124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5330200-5D55-6376-9341-CE931822B02D}"/>
              </a:ext>
            </a:extLst>
          </p:cNvPr>
          <p:cNvSpPr txBox="1"/>
          <p:nvPr/>
        </p:nvSpPr>
        <p:spPr>
          <a:xfrm>
            <a:off x="10185400" y="3178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-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45AE413C-83A5-7812-A1BC-F8B0BA84DE76}"/>
              </a:ext>
            </a:extLst>
          </p:cNvPr>
          <p:cNvSpPr/>
          <p:nvPr/>
        </p:nvSpPr>
        <p:spPr>
          <a:xfrm>
            <a:off x="508000" y="3886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06DDF87-66C7-D364-9C06-D9AD45A497E1}"/>
              </a:ext>
            </a:extLst>
          </p:cNvPr>
          <p:cNvSpPr txBox="1"/>
          <p:nvPr/>
        </p:nvSpPr>
        <p:spPr>
          <a:xfrm>
            <a:off x="609600" y="3932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通学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82FF272-524E-DED0-9DD2-AA85D401633C}"/>
              </a:ext>
            </a:extLst>
          </p:cNvPr>
          <p:cNvSpPr/>
          <p:nvPr/>
        </p:nvSpPr>
        <p:spPr>
          <a:xfrm>
            <a:off x="2413000" y="3886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489DBB80-1FF6-CE79-E9EB-6D518759705B}"/>
              </a:ext>
            </a:extLst>
          </p:cNvPr>
          <p:cNvSpPr txBox="1"/>
          <p:nvPr/>
        </p:nvSpPr>
        <p:spPr>
          <a:xfrm>
            <a:off x="2463800" y="3940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◎千種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F93E3BD5-0CEC-B1E0-A0DB-8DDB1E0F6FD5}"/>
              </a:ext>
            </a:extLst>
          </p:cNvPr>
          <p:cNvSpPr/>
          <p:nvPr/>
        </p:nvSpPr>
        <p:spPr>
          <a:xfrm>
            <a:off x="4343400" y="3886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4EFDEB2-E9F5-0CAA-44BF-D167D15857E1}"/>
              </a:ext>
            </a:extLst>
          </p:cNvPr>
          <p:cNvSpPr txBox="1"/>
          <p:nvPr/>
        </p:nvSpPr>
        <p:spPr>
          <a:xfrm>
            <a:off x="4394200" y="3940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◎瑞穂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CF3A371D-36A8-2128-8536-7F1103EFAF96}"/>
              </a:ext>
            </a:extLst>
          </p:cNvPr>
          <p:cNvSpPr/>
          <p:nvPr/>
        </p:nvSpPr>
        <p:spPr>
          <a:xfrm>
            <a:off x="6273800" y="3886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03110438-9E98-C5D3-CABF-0AD2758E547A}"/>
              </a:ext>
            </a:extLst>
          </p:cNvPr>
          <p:cNvSpPr txBox="1"/>
          <p:nvPr/>
        </p:nvSpPr>
        <p:spPr>
          <a:xfrm>
            <a:off x="6324600" y="3940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◎砂田橋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806D196A-457E-C1F9-FF1B-A5DA1BDAE359}"/>
              </a:ext>
            </a:extLst>
          </p:cNvPr>
          <p:cNvSpPr/>
          <p:nvPr/>
        </p:nvSpPr>
        <p:spPr>
          <a:xfrm>
            <a:off x="8204200" y="3886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9FC29173-F075-96F3-A569-1E2F26F10C4E}"/>
              </a:ext>
            </a:extLst>
          </p:cNvPr>
          <p:cNvSpPr txBox="1"/>
          <p:nvPr/>
        </p:nvSpPr>
        <p:spPr>
          <a:xfrm>
            <a:off x="8255000" y="3940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○名東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5D7265D-7F83-77E5-D6A1-96B21D46C6EB}"/>
              </a:ext>
            </a:extLst>
          </p:cNvPr>
          <p:cNvSpPr/>
          <p:nvPr/>
        </p:nvSpPr>
        <p:spPr>
          <a:xfrm>
            <a:off x="10134600" y="3886200"/>
            <a:ext cx="19304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DD45052A-E04D-5AEE-8BE4-9AD034EB7652}"/>
              </a:ext>
            </a:extLst>
          </p:cNvPr>
          <p:cNvSpPr txBox="1"/>
          <p:nvPr/>
        </p:nvSpPr>
        <p:spPr>
          <a:xfrm>
            <a:off x="10185400" y="3940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△天白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3BF5EF5-F9D2-F064-28EB-49F4C2E4E3F9}"/>
              </a:ext>
            </a:extLst>
          </p:cNvPr>
          <p:cNvSpPr/>
          <p:nvPr/>
        </p:nvSpPr>
        <p:spPr>
          <a:xfrm>
            <a:off x="508000" y="4648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5E41091F-761E-7FE1-8E71-DAF80EC06731}"/>
              </a:ext>
            </a:extLst>
          </p:cNvPr>
          <p:cNvSpPr txBox="1"/>
          <p:nvPr/>
        </p:nvSpPr>
        <p:spPr>
          <a:xfrm>
            <a:off x="609600" y="4694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特色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E2CDA951-9828-2C53-64C3-90EF878CD5D2}"/>
              </a:ext>
            </a:extLst>
          </p:cNvPr>
          <p:cNvSpPr/>
          <p:nvPr/>
        </p:nvSpPr>
        <p:spPr>
          <a:xfrm>
            <a:off x="2413000" y="4648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ACD9284F-9959-D61B-00DE-FF23231A3B9E}"/>
              </a:ext>
            </a:extLst>
          </p:cNvPr>
          <p:cNvSpPr txBox="1"/>
          <p:nvPr/>
        </p:nvSpPr>
        <p:spPr>
          <a:xfrm>
            <a:off x="2463800" y="4702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探究・バド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135C011-FF0F-5A17-2DF6-C700B5DC1C18}"/>
              </a:ext>
            </a:extLst>
          </p:cNvPr>
          <p:cNvSpPr/>
          <p:nvPr/>
        </p:nvSpPr>
        <p:spPr>
          <a:xfrm>
            <a:off x="4343400" y="4648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DF3BB5F-5A3A-208B-76F1-C3F9EAB94D00}"/>
              </a:ext>
            </a:extLst>
          </p:cNvPr>
          <p:cNvSpPr txBox="1"/>
          <p:nvPr/>
        </p:nvSpPr>
        <p:spPr>
          <a:xfrm>
            <a:off x="4394200" y="4702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制服◎・商業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83EE319D-F30B-03B4-2362-D2D8FFF00ECB}"/>
              </a:ext>
            </a:extLst>
          </p:cNvPr>
          <p:cNvSpPr/>
          <p:nvPr/>
        </p:nvSpPr>
        <p:spPr>
          <a:xfrm>
            <a:off x="6273800" y="4648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883EA75-532E-4D58-2672-9AEB7492F497}"/>
              </a:ext>
            </a:extLst>
          </p:cNvPr>
          <p:cNvSpPr txBox="1"/>
          <p:nvPr/>
        </p:nvSpPr>
        <p:spPr>
          <a:xfrm>
            <a:off x="6324600" y="4702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部活強豪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2D902C6E-2D1E-8DBB-2649-073037ACF2A5}"/>
              </a:ext>
            </a:extLst>
          </p:cNvPr>
          <p:cNvSpPr/>
          <p:nvPr/>
        </p:nvSpPr>
        <p:spPr>
          <a:xfrm>
            <a:off x="8204200" y="4648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AE7FF625-8916-76A6-23B5-B80627A8FEFB}"/>
              </a:ext>
            </a:extLst>
          </p:cNvPr>
          <p:cNvSpPr txBox="1"/>
          <p:nvPr/>
        </p:nvSpPr>
        <p:spPr>
          <a:xfrm>
            <a:off x="8255000" y="4702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世界探究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256C0D96-2C81-C92C-56C3-75635D345080}"/>
              </a:ext>
            </a:extLst>
          </p:cNvPr>
          <p:cNvSpPr/>
          <p:nvPr/>
        </p:nvSpPr>
        <p:spPr>
          <a:xfrm>
            <a:off x="10134600" y="4648200"/>
            <a:ext cx="19304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F1FF063A-E01B-1B05-5A20-5BC5E5AA3B57}"/>
              </a:ext>
            </a:extLst>
          </p:cNvPr>
          <p:cNvSpPr txBox="1"/>
          <p:nvPr/>
        </p:nvSpPr>
        <p:spPr>
          <a:xfrm>
            <a:off x="10185400" y="4702061"/>
            <a:ext cx="18288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留学・進学</a:t>
            </a:r>
          </a:p>
        </p:txBody>
      </p:sp>
    </p:spTree>
    <p:extLst>
      <p:ext uri="{BB962C8B-B14F-4D97-AF65-F5344CB8AC3E}">
        <p14:creationId xmlns:p14="http://schemas.microsoft.com/office/powerpoint/2010/main" val="3649967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8A1E75-604F-8AEB-5B3D-8D8766E37EAD}"/>
              </a:ext>
            </a:extLst>
          </p:cNvPr>
          <p:cNvSpPr txBox="1"/>
          <p:nvPr/>
        </p:nvSpPr>
        <p:spPr>
          <a:xfrm>
            <a:off x="508000" y="457200"/>
            <a:ext cx="11176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3000" b="1">
                <a:solidFill>
                  <a:srgbClr val="FFFFFF"/>
                </a:solidFill>
                <a:latin typeface="Meiryo" panose="020B0604030504040204" pitchFamily="50" charset="-128"/>
              </a:rPr>
              <a:t>次にやること（おすすめの進め方）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B691F61-DD3B-4E89-08F4-E65453232B13}"/>
              </a:ext>
            </a:extLst>
          </p:cNvPr>
          <p:cNvSpPr/>
          <p:nvPr/>
        </p:nvSpPr>
        <p:spPr>
          <a:xfrm>
            <a:off x="508000" y="13208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7900FE8A-1411-F072-E860-D596F01A6DC1}"/>
              </a:ext>
            </a:extLst>
          </p:cNvPr>
          <p:cNvSpPr/>
          <p:nvPr/>
        </p:nvSpPr>
        <p:spPr>
          <a:xfrm>
            <a:off x="736600" y="15240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7C03CB-DC8D-806A-4625-2DB6F61DD5B0}"/>
              </a:ext>
            </a:extLst>
          </p:cNvPr>
          <p:cNvSpPr txBox="1"/>
          <p:nvPr/>
        </p:nvSpPr>
        <p:spPr>
          <a:xfrm>
            <a:off x="736600" y="15086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C42B92-2C53-6EBB-6E31-FB68B6919273}"/>
              </a:ext>
            </a:extLst>
          </p:cNvPr>
          <p:cNvSpPr txBox="1"/>
          <p:nvPr/>
        </p:nvSpPr>
        <p:spPr>
          <a:xfrm>
            <a:off x="1473200" y="14605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説明会・オープンキャンパスに行く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071ABB-B314-5024-F55D-8BC7C3F482CD}"/>
              </a:ext>
            </a:extLst>
          </p:cNvPr>
          <p:cNvSpPr txBox="1"/>
          <p:nvPr/>
        </p:nvSpPr>
        <p:spPr>
          <a:xfrm>
            <a:off x="1473200" y="18415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この資料の日程を参考に予約。雰囲気・先生・生徒を確認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9808462-CCA2-2720-BCAE-1A22E383AEC8}"/>
              </a:ext>
            </a:extLst>
          </p:cNvPr>
          <p:cNvSpPr/>
          <p:nvPr/>
        </p:nvSpPr>
        <p:spPr>
          <a:xfrm>
            <a:off x="508000" y="23876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5F11B4B-943E-7BC7-FF13-EEE561710E29}"/>
              </a:ext>
            </a:extLst>
          </p:cNvPr>
          <p:cNvSpPr/>
          <p:nvPr/>
        </p:nvSpPr>
        <p:spPr>
          <a:xfrm>
            <a:off x="736600" y="25908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3D4123-D82A-0855-AEFD-2088B0DECB88}"/>
              </a:ext>
            </a:extLst>
          </p:cNvPr>
          <p:cNvSpPr txBox="1"/>
          <p:nvPr/>
        </p:nvSpPr>
        <p:spPr>
          <a:xfrm>
            <a:off x="736600" y="25754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4879003-0A20-988D-67C2-21642E14A003}"/>
              </a:ext>
            </a:extLst>
          </p:cNvPr>
          <p:cNvSpPr txBox="1"/>
          <p:nvPr/>
        </p:nvSpPr>
        <p:spPr>
          <a:xfrm>
            <a:off x="1473200" y="25273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文化祭・部活・食堂を見に行く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7B4E7A5-64E0-4B0A-8184-7E7574EF1A3B}"/>
              </a:ext>
            </a:extLst>
          </p:cNvPr>
          <p:cNvSpPr txBox="1"/>
          <p:nvPr/>
        </p:nvSpPr>
        <p:spPr>
          <a:xfrm>
            <a:off x="1473200" y="29083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学校の素顔が見える。食堂はできれば実食して確かめる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D9DAB45-6BBC-272E-2290-3DEF5B307472}"/>
              </a:ext>
            </a:extLst>
          </p:cNvPr>
          <p:cNvSpPr/>
          <p:nvPr/>
        </p:nvSpPr>
        <p:spPr>
          <a:xfrm>
            <a:off x="508000" y="34544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5CF2179-45AA-076B-318B-6A44F689A519}"/>
              </a:ext>
            </a:extLst>
          </p:cNvPr>
          <p:cNvSpPr/>
          <p:nvPr/>
        </p:nvSpPr>
        <p:spPr>
          <a:xfrm>
            <a:off x="736600" y="36576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DE46134-9B7C-AF78-D397-D96F5AE09AF5}"/>
              </a:ext>
            </a:extLst>
          </p:cNvPr>
          <p:cNvSpPr txBox="1"/>
          <p:nvPr/>
        </p:nvSpPr>
        <p:spPr>
          <a:xfrm>
            <a:off x="736600" y="36422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3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B46F90-46F2-3D46-239F-E59A83BBF987}"/>
              </a:ext>
            </a:extLst>
          </p:cNvPr>
          <p:cNvSpPr txBox="1"/>
          <p:nvPr/>
        </p:nvSpPr>
        <p:spPr>
          <a:xfrm>
            <a:off x="1473200" y="35941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通学を実際に試す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092B15F-7CEB-7556-B745-0BD4DE81F1BE}"/>
              </a:ext>
            </a:extLst>
          </p:cNvPr>
          <p:cNvSpPr txBox="1"/>
          <p:nvPr/>
        </p:nvSpPr>
        <p:spPr>
          <a:xfrm>
            <a:off x="1473200" y="39751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自宅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北区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から朝に。黒川・上飯田・バス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の乗換を体感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DDD9991-6263-9D1E-1D12-92E4D3AEF0B2}"/>
              </a:ext>
            </a:extLst>
          </p:cNvPr>
          <p:cNvSpPr/>
          <p:nvPr/>
        </p:nvSpPr>
        <p:spPr>
          <a:xfrm>
            <a:off x="508000" y="45212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A471E61F-E4B8-BDD0-AAA8-D386605BF4C7}"/>
              </a:ext>
            </a:extLst>
          </p:cNvPr>
          <p:cNvSpPr/>
          <p:nvPr/>
        </p:nvSpPr>
        <p:spPr>
          <a:xfrm>
            <a:off x="736600" y="47244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92A9D17-AF52-8717-C00A-05E81D81F691}"/>
              </a:ext>
            </a:extLst>
          </p:cNvPr>
          <p:cNvSpPr txBox="1"/>
          <p:nvPr/>
        </p:nvSpPr>
        <p:spPr>
          <a:xfrm>
            <a:off x="736600" y="47090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4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E025716-362D-048F-FB82-EA27821B4BCF}"/>
              </a:ext>
            </a:extLst>
          </p:cNvPr>
          <p:cNvSpPr txBox="1"/>
          <p:nvPr/>
        </p:nvSpPr>
        <p:spPr>
          <a:xfrm>
            <a:off x="1473200" y="46609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学費・特待・推薦を公式で確認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46C4819-6C78-A9F0-3D11-E86FF4BE3046}"/>
              </a:ext>
            </a:extLst>
          </p:cNvPr>
          <p:cNvSpPr txBox="1"/>
          <p:nvPr/>
        </p:nvSpPr>
        <p:spPr>
          <a:xfrm>
            <a:off x="1473200" y="50419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私立は費用差が大きい。特待生・授業料補助・推薦基準を要チェック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B1D478F-34ED-4829-E6F3-B9C703007011}"/>
              </a:ext>
            </a:extLst>
          </p:cNvPr>
          <p:cNvSpPr txBox="1"/>
          <p:nvPr/>
        </p:nvSpPr>
        <p:spPr>
          <a:xfrm>
            <a:off x="508000" y="5918200"/>
            <a:ext cx="11176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五郎より：まずは通いやすい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市邨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』『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高蔵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』『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名電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へ。食堂の実食もおすすめ。費用面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特待・補助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も一緒に確認しましょう。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352471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2763</Words>
  <Application>Microsoft Office PowerPoint</Application>
  <PresentationFormat>ユーザー設定</PresentationFormat>
  <Paragraphs>316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Meiryo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shiro yamamoto</dc:creator>
  <cp:lastModifiedBy>shiro yamamoto</cp:lastModifiedBy>
  <cp:revision>1</cp:revision>
  <dcterms:created xsi:type="dcterms:W3CDTF">2026-06-28T06:01:39Z</dcterms:created>
  <dcterms:modified xsi:type="dcterms:W3CDTF">2026-06-28T06:01:39Z</dcterms:modified>
</cp:coreProperties>
</file>